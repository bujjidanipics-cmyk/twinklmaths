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18"/>
  </p:notesMasterIdLst>
  <p:sldIdLst>
    <p:sldId id="260" r:id="rId2"/>
    <p:sldId id="261" r:id="rId3"/>
    <p:sldId id="268" r:id="rId4"/>
    <p:sldId id="270" r:id="rId5"/>
    <p:sldId id="271" r:id="rId6"/>
    <p:sldId id="272" r:id="rId7"/>
    <p:sldId id="273" r:id="rId8"/>
    <p:sldId id="275" r:id="rId9"/>
    <p:sldId id="276" r:id="rId10"/>
    <p:sldId id="277" r:id="rId11"/>
    <p:sldId id="278" r:id="rId12"/>
    <p:sldId id="279" r:id="rId13"/>
    <p:sldId id="280" r:id="rId14"/>
    <p:sldId id="282" r:id="rId15"/>
    <p:sldId id="281" r:id="rId16"/>
    <p:sldId id="269" r:id="rId17"/>
  </p:sldIdLst>
  <p:sldSz cx="9144000" cy="6858000" type="screen4x3"/>
  <p:notesSz cx="6858000" cy="9144000"/>
  <p:embeddedFontLst>
    <p:embeddedFont>
      <p:font typeface="Twinkl Light" pitchFamily="2" charset="0"/>
      <p:regular r:id="rId19"/>
    </p:embeddedFont>
    <p:embeddedFont>
      <p:font typeface="Clear Sans" panose="020B0503030202020304" pitchFamily="34" charset="0"/>
      <p:regular r:id="rId20"/>
      <p:bold r:id="rId21"/>
      <p:italic r:id="rId22"/>
      <p:boldItalic r:id="rId23"/>
    </p:embeddedFont>
    <p:embeddedFont>
      <p:font typeface="Clear Sans Medium" panose="020B0603030202020304" pitchFamily="34" charset="0"/>
      <p:regular r:id="rId24"/>
      <p:italic r:id="rId25"/>
    </p:embeddedFont>
    <p:embeddedFont>
      <p:font typeface="Sassoon Infant Rg" panose="02000503030000020003" pitchFamily="50" charset="0"/>
      <p:regular r:id="rId26"/>
      <p:bold r:id="rId27"/>
    </p:embeddedFont>
    <p:embeddedFont>
      <p:font typeface="Twinkl SemiBold" pitchFamily="2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lear Sans Light" panose="020B0303030202020304" pitchFamily="3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8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4D15"/>
    <a:srgbClr val="B2BD45"/>
    <a:srgbClr val="949E38"/>
    <a:srgbClr val="BCA845"/>
    <a:srgbClr val="D34513"/>
    <a:srgbClr val="639FCE"/>
    <a:srgbClr val="87BD31"/>
    <a:srgbClr val="4D533B"/>
    <a:srgbClr val="4095A3"/>
    <a:srgbClr val="B2D3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506" y="108"/>
      </p:cViewPr>
      <p:guideLst>
        <p:guide pos="58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544AD-5AD8-424C-9184-AE7CEE06F1AC}" type="datetimeFigureOut">
              <a:rPr lang="en-GB" smtClean="0"/>
              <a:t>28/11/2018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5D35D-E792-41E1-B498-39BBA43D40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6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283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 bwMode="auto">
          <a:xfrm>
            <a:off x="479425" y="728663"/>
            <a:ext cx="8196263" cy="1787525"/>
          </a:xfrm>
          <a:prstGeom prst="roundRect">
            <a:avLst>
              <a:gd name="adj" fmla="val 0"/>
            </a:avLst>
          </a:prstGeom>
          <a:solidFill>
            <a:srgbClr val="FFF9E7">
              <a:alpha val="95000"/>
            </a:srgb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solidFill>
                  <a:prstClr val="white"/>
                </a:solidFill>
                <a:latin typeface="Twinkl Light" pitchFamily="2" charset="0"/>
              </a:rPr>
              <a:t> </a:t>
            </a:r>
          </a:p>
        </p:txBody>
      </p:sp>
      <p:sp>
        <p:nvSpPr>
          <p:cNvPr id="3" name="Rounded Rectangle 2"/>
          <p:cNvSpPr/>
          <p:nvPr userDrawn="1"/>
        </p:nvSpPr>
        <p:spPr bwMode="auto">
          <a:xfrm>
            <a:off x="479425" y="2806700"/>
            <a:ext cx="8196263" cy="3324225"/>
          </a:xfrm>
          <a:prstGeom prst="roundRect">
            <a:avLst>
              <a:gd name="adj" fmla="val 0"/>
            </a:avLst>
          </a:prstGeom>
          <a:solidFill>
            <a:srgbClr val="FFF9E7">
              <a:alpha val="95000"/>
            </a:srgb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solidFill>
                  <a:prstClr val="white"/>
                </a:solidFill>
                <a:latin typeface="Twinkl Light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319567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4803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68313" y="457200"/>
            <a:ext cx="8207375" cy="5940425"/>
          </a:xfrm>
          <a:prstGeom prst="roundRect">
            <a:avLst>
              <a:gd name="adj" fmla="val 0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solidFill>
                  <a:prstClr val="white"/>
                </a:solidFill>
                <a:latin typeface="Twinkl Light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15206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295" userDrawn="1">
          <p15:clr>
            <a:srgbClr val="A4A3A4"/>
          </p15:clr>
        </p15:guide>
        <p15:guide id="2" pos="431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5329" userDrawn="1">
          <p15:clr>
            <a:srgbClr val="A4A3A4"/>
          </p15:clr>
        </p15:guide>
        <p15:guide id="6" orient="horz" pos="414" userDrawn="1">
          <p15:clr>
            <a:srgbClr val="A4A3A4"/>
          </p15:clr>
        </p15:guide>
        <p15:guide id="7" orient="horz" pos="3906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  <p15:guide id="9" pos="5397" userDrawn="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767" y="6196125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5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26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  <p:sldLayoutId id="2147483675" r:id="rId3"/>
    <p:sldLayoutId id="2147483677" r:id="rId4"/>
    <p:sldLayoutId id="2147483676" r:id="rId5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 kern="1200">
          <a:solidFill>
            <a:srgbClr val="6F8183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6F8183"/>
          </a:solidFill>
          <a:latin typeface="Clear Sans" panose="020B05030302020203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6F8183"/>
          </a:solidFill>
          <a:latin typeface="Clear Sans" panose="020B05030302020203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6F8183"/>
          </a:solidFill>
          <a:latin typeface="Clear Sans" panose="020B05030302020203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6F8183"/>
          </a:solidFill>
          <a:latin typeface="Clear Sans" panose="020B05030302020203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6F8183"/>
          </a:solidFill>
          <a:latin typeface="Clear Sans" panose="020B05030302020203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6F8183"/>
          </a:solidFill>
          <a:latin typeface="Clear Sans" panose="020B05030302020203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6F8183"/>
          </a:solidFill>
          <a:latin typeface="Clear Sans" panose="020B05030302020203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6F8183"/>
          </a:solidFill>
          <a:latin typeface="Clear Sans" panose="020B05030302020203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Sassoon Infant Rg" panose="02000503030000020003" pitchFamily="50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Sassoon Infant Rg" panose="02000503030000020003" pitchFamily="50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Sassoon Infant Rg" panose="02000503030000020003" pitchFamily="50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Sassoon Infant Rg" panose="02000503030000020003" pitchFamily="50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Sassoon Infant Rg" panose="02000503030000020003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78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042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  <p15:guide id="7" pos="295" userDrawn="1">
          <p15:clr>
            <a:srgbClr val="A4A3A4"/>
          </p15:clr>
        </p15:guide>
        <p15:guide id="8" pos="431" userDrawn="1">
          <p15:clr>
            <a:srgbClr val="A4A3A4"/>
          </p15:clr>
        </p15:guide>
        <p15:guide id="9" pos="5465" userDrawn="1">
          <p15:clr>
            <a:srgbClr val="A4A3A4"/>
          </p15:clr>
        </p15:guide>
        <p15:guide id="10" pos="5329" userDrawn="1">
          <p15:clr>
            <a:srgbClr val="A4A3A4"/>
          </p15:clr>
        </p15:guide>
        <p15:guide id="11" pos="5397" userDrawn="1">
          <p15:clr>
            <a:srgbClr val="A4A3A4"/>
          </p15:clr>
        </p15:guide>
        <p15:guide id="12" orient="horz" pos="346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3075" y="690664"/>
            <a:ext cx="8196263" cy="1815999"/>
          </a:xfrm>
          <a:prstGeom prst="rect">
            <a:avLst/>
          </a:prstGeom>
          <a:solidFill>
            <a:srgbClr val="E84D15">
              <a:alpha val="90000"/>
            </a:srgbClr>
          </a:solidFill>
          <a:ln w="38100">
            <a:solidFill>
              <a:srgbClr val="D345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>
              <a:solidFill>
                <a:prstClr val="white"/>
              </a:solidFill>
              <a:latin typeface="Twinkl Light" pitchFamily="2" charset="0"/>
            </a:endParaRPr>
          </a:p>
        </p:txBody>
      </p:sp>
      <p:sp>
        <p:nvSpPr>
          <p:cNvPr id="7" name="Title 7"/>
          <p:cNvSpPr>
            <a:spLocks/>
          </p:cNvSpPr>
          <p:nvPr/>
        </p:nvSpPr>
        <p:spPr bwMode="auto">
          <a:xfrm>
            <a:off x="698432" y="796975"/>
            <a:ext cx="7761356" cy="160337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400" dirty="0">
                <a:solidFill>
                  <a:prstClr val="white"/>
                </a:solidFill>
                <a:latin typeface="+mn-lt"/>
                <a:cs typeface="Clear Sans Light" panose="020B0303030202020304" pitchFamily="34" charset="0"/>
              </a:rPr>
              <a:t>Converting between Fractions, Decimals and Percentages</a:t>
            </a:r>
            <a:br>
              <a:rPr lang="en-GB" altLang="en-US" sz="4800" b="1" dirty="0">
                <a:solidFill>
                  <a:prstClr val="white"/>
                </a:solidFill>
                <a:latin typeface="Twinkl Light" pitchFamily="2" charset="0"/>
                <a:cs typeface="Clear Sans Medium" panose="020B0603030202020304" pitchFamily="34" charset="0"/>
              </a:rPr>
            </a:br>
            <a:r>
              <a:rPr lang="en-GB" altLang="en-US" sz="4000" b="1">
                <a:solidFill>
                  <a:prstClr val="white"/>
                </a:solidFill>
                <a:latin typeface="+mj-lt"/>
                <a:cs typeface="Clear Sans Medium" panose="020B0603030202020304" pitchFamily="34" charset="0"/>
              </a:rPr>
              <a:t>Lesson 4: </a:t>
            </a:r>
            <a:r>
              <a:rPr lang="en-GB" altLang="en-US" sz="4000" b="1" dirty="0">
                <a:solidFill>
                  <a:prstClr val="white"/>
                </a:solidFill>
                <a:latin typeface="+mj-lt"/>
                <a:cs typeface="Clear Sans Medium" panose="020B0603030202020304" pitchFamily="34" charset="0"/>
              </a:rPr>
              <a:t>Converting Percentages and Decimals to Fractions</a:t>
            </a:r>
          </a:p>
        </p:txBody>
      </p:sp>
    </p:spTree>
    <p:extLst>
      <p:ext uri="{BB962C8B-B14F-4D97-AF65-F5344CB8AC3E}">
        <p14:creationId xmlns:p14="http://schemas.microsoft.com/office/powerpoint/2010/main" val="361106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15"/>
          <p:cNvSpPr txBox="1">
            <a:spLocks/>
          </p:cNvSpPr>
          <p:nvPr/>
        </p:nvSpPr>
        <p:spPr bwMode="auto">
          <a:xfrm>
            <a:off x="684213" y="3569335"/>
            <a:ext cx="7775575" cy="1004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dirty="0">
                <a:solidFill>
                  <a:srgbClr val="1C1C1C"/>
                </a:solidFill>
                <a:latin typeface="Twinkl Light" pitchFamily="2" charset="0"/>
              </a:rPr>
              <a:t>To convert a percentage to a fraction.</a:t>
            </a:r>
          </a:p>
          <a:p>
            <a:pPr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dirty="0">
                <a:solidFill>
                  <a:srgbClr val="1C1C1C"/>
                </a:solidFill>
                <a:latin typeface="Twinkl Light" pitchFamily="2" charset="0"/>
              </a:rPr>
              <a:t>To be able to write a fraction in its simplest terms.</a:t>
            </a:r>
          </a:p>
          <a:p>
            <a:pPr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en-US" dirty="0">
                <a:solidFill>
                  <a:srgbClr val="1C1C1C"/>
                </a:solidFill>
                <a:latin typeface="Twinkl Light" pitchFamily="2" charset="0"/>
              </a:rPr>
              <a:t>To convert a decimal to a fraction.</a:t>
            </a:r>
          </a:p>
        </p:txBody>
      </p:sp>
      <p:sp>
        <p:nvSpPr>
          <p:cNvPr id="9219" name="Content Placeholder 15"/>
          <p:cNvSpPr txBox="1">
            <a:spLocks/>
          </p:cNvSpPr>
          <p:nvPr/>
        </p:nvSpPr>
        <p:spPr bwMode="auto">
          <a:xfrm>
            <a:off x="684212" y="1507172"/>
            <a:ext cx="777557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9pPr>
          </a:lstStyle>
          <a:p>
            <a:pPr fontAlgn="base">
              <a:spcBef>
                <a:spcPts val="100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1C1C1C"/>
                </a:solidFill>
                <a:latin typeface="+mn-lt"/>
              </a:rPr>
              <a:t>To develop an understanding of how to convert percentages and decimals </a:t>
            </a:r>
            <a:br>
              <a:rPr lang="en-GB" altLang="en-US" dirty="0">
                <a:solidFill>
                  <a:srgbClr val="1C1C1C"/>
                </a:solidFill>
                <a:latin typeface="+mn-lt"/>
              </a:rPr>
            </a:br>
            <a:r>
              <a:rPr lang="en-GB" altLang="en-US" dirty="0">
                <a:solidFill>
                  <a:srgbClr val="1C1C1C"/>
                </a:solidFill>
                <a:latin typeface="+mn-lt"/>
              </a:rPr>
              <a:t>to fractions. </a:t>
            </a:r>
          </a:p>
        </p:txBody>
      </p:sp>
      <p:sp>
        <p:nvSpPr>
          <p:cNvPr id="11" name="Content Placeholder 15"/>
          <p:cNvSpPr txBox="1">
            <a:spLocks/>
          </p:cNvSpPr>
          <p:nvPr/>
        </p:nvSpPr>
        <p:spPr>
          <a:xfrm>
            <a:off x="479425" y="728663"/>
            <a:ext cx="8196263" cy="696912"/>
          </a:xfrm>
          <a:prstGeom prst="rect">
            <a:avLst/>
          </a:prstGeom>
          <a:noFill/>
          <a:ln w="25400">
            <a:noFill/>
          </a:ln>
        </p:spPr>
        <p:txBody>
          <a:bodyPr lIns="252000" tIns="216000" rIns="252000" bIns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</a:rPr>
              <a:t>Learning Objective</a:t>
            </a:r>
          </a:p>
        </p:txBody>
      </p:sp>
      <p:sp>
        <p:nvSpPr>
          <p:cNvPr id="12" name="Content Placeholder 15"/>
          <p:cNvSpPr txBox="1">
            <a:spLocks/>
          </p:cNvSpPr>
          <p:nvPr/>
        </p:nvSpPr>
        <p:spPr>
          <a:xfrm>
            <a:off x="479425" y="2789238"/>
            <a:ext cx="8196263" cy="698500"/>
          </a:xfrm>
          <a:prstGeom prst="rect">
            <a:avLst/>
          </a:prstGeom>
          <a:noFill/>
          <a:ln w="25400">
            <a:noFill/>
          </a:ln>
        </p:spPr>
        <p:txBody>
          <a:bodyPr lIns="252000" tIns="216000" rIns="252000" bIns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</a:rPr>
              <a:t>Success Criteria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529499" y="2061170"/>
            <a:ext cx="293028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Twinkl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winkl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winkl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winkl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winkl Light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inkl Light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inkl Light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inkl Light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winkl Light" pitchFamily="2" charset="0"/>
              </a:defRPr>
            </a:lvl9pPr>
          </a:lstStyle>
          <a:p>
            <a:pPr eaLnBrk="1" hangingPunct="1"/>
            <a:r>
              <a:rPr lang="en-GB" altLang="en-US" sz="1400" dirty="0">
                <a:solidFill>
                  <a:srgbClr val="E84D15"/>
                </a:solidFill>
                <a:latin typeface="+mj-lt"/>
              </a:rPr>
              <a:t>Targeting Assessment Objective: A01</a:t>
            </a:r>
          </a:p>
        </p:txBody>
      </p:sp>
    </p:spTree>
    <p:extLst>
      <p:ext uri="{BB962C8B-B14F-4D97-AF65-F5344CB8AC3E}">
        <p14:creationId xmlns:p14="http://schemas.microsoft.com/office/powerpoint/2010/main" val="377965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6884" y="1492524"/>
            <a:ext cx="317472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dirty="0"/>
              <a:t>Find the highest common factor of each pair of numbers: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Quick Maths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7886" y="2231472"/>
            <a:ext cx="179892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24 and 28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16 and 40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12 and 20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10 and 55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18 and 72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770" y="1384183"/>
            <a:ext cx="3510283" cy="3087150"/>
          </a:xfrm>
          <a:prstGeom prst="rect">
            <a:avLst/>
          </a:prstGeom>
          <a:noFill/>
          <a:ln w="28575">
            <a:solidFill>
              <a:srgbClr val="E84D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974672" y="1492524"/>
            <a:ext cx="317472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dirty="0"/>
              <a:t>Calculate the answers to the following questions: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5674" y="2231472"/>
            <a:ext cx="179892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pt-BR" dirty="0"/>
              <a:t>456 ÷ 10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pt-BR" dirty="0"/>
              <a:t>788 ÷ 100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pt-BR" dirty="0"/>
              <a:t>12.3 ÷ 10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pt-BR" dirty="0"/>
              <a:t>72.08 ÷ 100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pt-BR" dirty="0"/>
              <a:t>0.52 ÷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6558" y="1384183"/>
            <a:ext cx="3510283" cy="308715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68769" y="4840448"/>
            <a:ext cx="3510283" cy="1174460"/>
          </a:xfrm>
          <a:prstGeom prst="rect">
            <a:avLst/>
          </a:prstGeom>
          <a:noFill/>
          <a:ln w="28575">
            <a:solidFill>
              <a:srgbClr val="B2BD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86884" y="5003790"/>
            <a:ext cx="31747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Extension </a:t>
            </a:r>
          </a:p>
          <a:p>
            <a:r>
              <a:rPr lang="en-GB" dirty="0"/>
              <a:t>If 292 is the answer, what could the question be?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20" y="4324353"/>
            <a:ext cx="3816991" cy="22700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36815" y="2231472"/>
            <a:ext cx="83384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>
                <a:solidFill>
                  <a:srgbClr val="E84D15"/>
                </a:solidFill>
                <a:latin typeface="+mj-lt"/>
              </a:rPr>
              <a:t>4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rgbClr val="E84D15"/>
                </a:solidFill>
                <a:latin typeface="+mj-lt"/>
              </a:rPr>
              <a:t>8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rgbClr val="E84D15"/>
                </a:solidFill>
                <a:latin typeface="+mj-lt"/>
              </a:rPr>
              <a:t>4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rgbClr val="E84D15"/>
                </a:solidFill>
                <a:latin typeface="+mj-lt"/>
              </a:rPr>
              <a:t>5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rgbClr val="E84D15"/>
                </a:solidFill>
                <a:latin typeface="+mj-lt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1344" y="2231471"/>
            <a:ext cx="122805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>
                <a:solidFill>
                  <a:schemeClr val="accent3"/>
                </a:solidFill>
                <a:latin typeface="+mj-lt"/>
              </a:rPr>
              <a:t>= 45.6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chemeClr val="accent3"/>
                </a:solidFill>
                <a:latin typeface="+mj-lt"/>
              </a:rPr>
              <a:t>= 7.88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chemeClr val="accent3"/>
                </a:solidFill>
                <a:latin typeface="+mj-lt"/>
              </a:rPr>
              <a:t>= 1.23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chemeClr val="accent3"/>
                </a:solidFill>
                <a:latin typeface="+mj-lt"/>
              </a:rPr>
              <a:t>= 0.7208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chemeClr val="accent3"/>
                </a:solidFill>
                <a:latin typeface="+mj-lt"/>
              </a:rPr>
              <a:t>= 0.0052</a:t>
            </a:r>
          </a:p>
        </p:txBody>
      </p:sp>
    </p:spTree>
    <p:extLst>
      <p:ext uri="{BB962C8B-B14F-4D97-AF65-F5344CB8AC3E}">
        <p14:creationId xmlns:p14="http://schemas.microsoft.com/office/powerpoint/2010/main" val="238114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1492524"/>
            <a:ext cx="7775575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dirty="0"/>
              <a:t>To convert a percentage to a fraction in its simplest form, we firstly need to write it as a fraction of 100. We use 100 as our denominator because ‘per cent’ translates to ‘per 100’.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Converting Percentages to Fractions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4213" y="2499690"/>
            <a:ext cx="470151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Write 34% as a fraction in its simplest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213" y="2952858"/>
            <a:ext cx="79914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buFont typeface="+mj-lt"/>
              <a:buAutoNum type="arabicPeriod"/>
            </a:pPr>
            <a:r>
              <a:rPr lang="en-GB" dirty="0"/>
              <a:t>As our percentage is a </a:t>
            </a:r>
            <a:r>
              <a:rPr lang="en-GB" dirty="0">
                <a:latin typeface="+mj-lt"/>
              </a:rPr>
              <a:t>whole number</a:t>
            </a:r>
            <a:r>
              <a:rPr lang="en-GB" dirty="0"/>
              <a:t>, we can write it as a fraction of 100: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213" y="3934370"/>
            <a:ext cx="777557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buFont typeface="+mj-lt"/>
              <a:buAutoNum type="arabicPeriod" startAt="2"/>
            </a:pPr>
            <a:r>
              <a:rPr lang="en-GB" dirty="0"/>
              <a:t>However, our task is to write our answer in its </a:t>
            </a:r>
            <a:r>
              <a:rPr lang="en-GB" dirty="0">
                <a:latin typeface="+mj-lt"/>
              </a:rPr>
              <a:t>simplest form</a:t>
            </a:r>
            <a:r>
              <a:rPr lang="en-GB" dirty="0"/>
              <a:t>. We can do this by finding the highest common factor of 34 and 100: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439" y="4664050"/>
            <a:ext cx="518752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E84D15"/>
                </a:solidFill>
                <a:latin typeface="+mj-lt"/>
              </a:rPr>
              <a:t>The highest common factor of 34 and 100 is 2. 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921815" y="3405539"/>
            <a:ext cx="392636" cy="393954"/>
            <a:chOff x="737833" y="2478562"/>
            <a:chExt cx="363799" cy="393954"/>
          </a:xfrm>
        </p:grpSpPr>
        <p:sp>
          <p:nvSpPr>
            <p:cNvPr id="10" name="Rectangle 9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34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921815" y="5116731"/>
            <a:ext cx="392636" cy="393954"/>
            <a:chOff x="737833" y="2478562"/>
            <a:chExt cx="363799" cy="393954"/>
          </a:xfrm>
        </p:grpSpPr>
        <p:sp>
          <p:nvSpPr>
            <p:cNvPr id="14" name="Rectangle 13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34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1487599" y="5036709"/>
            <a:ext cx="55456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÷ 2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7599" y="5238448"/>
            <a:ext cx="55456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÷ 2 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007870" y="5175208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007870" y="5375317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3057049" y="5116731"/>
            <a:ext cx="392636" cy="393954"/>
            <a:chOff x="694329" y="2478562"/>
            <a:chExt cx="448323" cy="393954"/>
          </a:xfrm>
        </p:grpSpPr>
        <p:sp>
          <p:nvSpPr>
            <p:cNvPr id="23" name="Rectangle 22"/>
            <p:cNvSpPr/>
            <p:nvPr/>
          </p:nvSpPr>
          <p:spPr>
            <a:xfrm>
              <a:off x="694329" y="2478562"/>
              <a:ext cx="448323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17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50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5297447" y="2458482"/>
            <a:ext cx="554561" cy="393954"/>
            <a:chOff x="5256781" y="2458482"/>
            <a:chExt cx="554561" cy="393954"/>
          </a:xfrm>
        </p:grpSpPr>
        <p:grpSp>
          <p:nvGrpSpPr>
            <p:cNvPr id="25" name="Group 24"/>
            <p:cNvGrpSpPr/>
            <p:nvPr/>
          </p:nvGrpSpPr>
          <p:grpSpPr>
            <a:xfrm>
              <a:off x="5439231" y="2458482"/>
              <a:ext cx="318611" cy="393954"/>
              <a:chOff x="737833" y="2478562"/>
              <a:chExt cx="363799" cy="393954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737833" y="2478562"/>
                <a:ext cx="363799" cy="3939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E84D15"/>
                    </a:solidFill>
                    <a:latin typeface="+mj-lt"/>
                  </a:rPr>
                  <a:t>17</a:t>
                </a:r>
                <a:br>
                  <a:rPr lang="en-US" sz="1600" dirty="0">
                    <a:solidFill>
                      <a:srgbClr val="E84D15"/>
                    </a:solidFill>
                    <a:latin typeface="+mj-lt"/>
                  </a:rPr>
                </a:br>
                <a:r>
                  <a:rPr lang="en-US" sz="1600" dirty="0">
                    <a:solidFill>
                      <a:srgbClr val="E84D15"/>
                    </a:solidFill>
                    <a:latin typeface="+mj-lt"/>
                  </a:rPr>
                  <a:t>50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E84D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Rectangle 27"/>
            <p:cNvSpPr/>
            <p:nvPr/>
          </p:nvSpPr>
          <p:spPr>
            <a:xfrm>
              <a:off x="5256781" y="2509890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E84D15"/>
                  </a:solidFill>
                  <a:latin typeface="+mj-lt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076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7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1492524"/>
            <a:ext cx="77755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dirty="0"/>
              <a:t>Things can be a little trickier if the percentage includes a decimal. 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Converting Percentages to Fractions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4213" y="1966290"/>
            <a:ext cx="470151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Write 12.5% as a fraction in its simplest form 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213" y="2450256"/>
            <a:ext cx="4793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buFont typeface="+mj-lt"/>
              <a:buAutoNum type="arabicPeriod"/>
            </a:pPr>
            <a:r>
              <a:rPr lang="en-GB" dirty="0"/>
              <a:t>Start by writing the fraction out of 100.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4213" y="2934222"/>
            <a:ext cx="470152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buFont typeface="+mj-lt"/>
              <a:buAutoNum type="arabicPeriod" startAt="2"/>
            </a:pPr>
            <a:r>
              <a:rPr lang="en-GB" dirty="0"/>
              <a:t>We don’t use decimals in proper fractions so we need to ‘get rid’ of the decimal.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389" y="5407000"/>
            <a:ext cx="590761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E84D15"/>
                </a:solidFill>
                <a:latin typeface="+mj-lt"/>
              </a:rPr>
              <a:t>The highest common factor of 125 and 1000 is 125. 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136663" y="2418990"/>
            <a:ext cx="473562" cy="393954"/>
            <a:chOff x="737833" y="2478562"/>
            <a:chExt cx="363799" cy="393954"/>
          </a:xfrm>
        </p:grpSpPr>
        <p:sp>
          <p:nvSpPr>
            <p:cNvPr id="10" name="Rectangle 9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12.5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1554274" y="5770134"/>
            <a:ext cx="7355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÷ 125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274" y="5981398"/>
            <a:ext cx="7355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÷ 125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207895" y="5918158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207895" y="6118267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3209449" y="5859681"/>
            <a:ext cx="295751" cy="393954"/>
            <a:chOff x="567137" y="2478562"/>
            <a:chExt cx="662520" cy="393954"/>
          </a:xfrm>
        </p:grpSpPr>
        <p:sp>
          <p:nvSpPr>
            <p:cNvPr id="23" name="Rectangle 22"/>
            <p:cNvSpPr/>
            <p:nvPr/>
          </p:nvSpPr>
          <p:spPr>
            <a:xfrm>
              <a:off x="567137" y="2478562"/>
              <a:ext cx="662520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8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5435533" y="1925082"/>
            <a:ext cx="554561" cy="393954"/>
            <a:chOff x="5371081" y="2458482"/>
            <a:chExt cx="554561" cy="393954"/>
          </a:xfrm>
        </p:grpSpPr>
        <p:grpSp>
          <p:nvGrpSpPr>
            <p:cNvPr id="25" name="Group 24"/>
            <p:cNvGrpSpPr/>
            <p:nvPr/>
          </p:nvGrpSpPr>
          <p:grpSpPr>
            <a:xfrm>
              <a:off x="5515431" y="2458482"/>
              <a:ext cx="266244" cy="393954"/>
              <a:chOff x="664898" y="2478562"/>
              <a:chExt cx="509669" cy="393954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664898" y="2478562"/>
                <a:ext cx="509669" cy="3939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chemeClr val="accent2"/>
                    </a:solidFill>
                    <a:latin typeface="+mj-lt"/>
                  </a:rPr>
                  <a:t>1</a:t>
                </a:r>
                <a:br>
                  <a:rPr lang="en-US" sz="1600" dirty="0">
                    <a:solidFill>
                      <a:schemeClr val="accent2"/>
                    </a:solidFill>
                    <a:latin typeface="+mj-lt"/>
                  </a:rPr>
                </a:br>
                <a:r>
                  <a:rPr lang="en-US" sz="1600" dirty="0">
                    <a:solidFill>
                      <a:schemeClr val="accent2"/>
                    </a:solidFill>
                    <a:latin typeface="+mj-lt"/>
                  </a:rPr>
                  <a:t>8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E84D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Rectangle 27"/>
            <p:cNvSpPr/>
            <p:nvPr/>
          </p:nvSpPr>
          <p:spPr>
            <a:xfrm>
              <a:off x="5371081" y="2509890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  <a:latin typeface="+mj-lt"/>
                </a:rPr>
                <a:t>=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930752" y="3549828"/>
            <a:ext cx="7060723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E84D15"/>
                </a:solidFill>
                <a:latin typeface="+mj-lt"/>
              </a:rPr>
              <a:t>We can multiply 12.5 by 10 so we no longer have the decimal point. However, we must do the same to the denominator.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0822" y="4126835"/>
            <a:ext cx="55456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× 10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00822" y="4328574"/>
            <a:ext cx="55456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× 10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021093" y="4265334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021093" y="4465443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3108372" y="4206857"/>
            <a:ext cx="615903" cy="393954"/>
            <a:chOff x="737833" y="2478562"/>
            <a:chExt cx="363799" cy="393954"/>
          </a:xfrm>
        </p:grpSpPr>
        <p:sp>
          <p:nvSpPr>
            <p:cNvPr id="38" name="Rectangle 37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125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1000</a:t>
              </a:r>
            </a:p>
          </p:txBody>
        </p:sp>
        <p:cxnSp>
          <p:nvCxnSpPr>
            <p:cNvPr id="39" name="Straight Connector 38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881352" y="4179612"/>
            <a:ext cx="473562" cy="393954"/>
            <a:chOff x="737833" y="2478562"/>
            <a:chExt cx="363799" cy="393954"/>
          </a:xfrm>
        </p:grpSpPr>
        <p:sp>
          <p:nvSpPr>
            <p:cNvPr id="41" name="Rectangle 40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12.5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42" name="Straight Connector 41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/>
          <p:cNvSpPr/>
          <p:nvPr/>
        </p:nvSpPr>
        <p:spPr>
          <a:xfrm>
            <a:off x="684212" y="4762322"/>
            <a:ext cx="777557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GB" dirty="0"/>
              <a:t>Like before, we must write our answer in its simplest form. We can do this by finding the highest common factor of 125 and 1000. 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852646" y="5859681"/>
            <a:ext cx="615903" cy="393954"/>
            <a:chOff x="737833" y="2478562"/>
            <a:chExt cx="363799" cy="393954"/>
          </a:xfrm>
        </p:grpSpPr>
        <p:sp>
          <p:nvSpPr>
            <p:cNvPr id="45" name="Rectangle 44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125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1000</a:t>
              </a:r>
            </a:p>
          </p:txBody>
        </p:sp>
        <p:cxnSp>
          <p:nvCxnSpPr>
            <p:cNvPr id="46" name="Straight Connector 45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376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5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7" grpId="0"/>
      <p:bldP spid="18" grpId="0"/>
      <p:bldP spid="29" grpId="0"/>
      <p:bldP spid="33" grpId="0"/>
      <p:bldP spid="34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1492524"/>
            <a:ext cx="777557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dirty="0"/>
              <a:t>Convert each percentage to a fraction.</a:t>
            </a:r>
          </a:p>
          <a:p>
            <a:r>
              <a:rPr lang="en-US" dirty="0"/>
              <a:t>Write each answer in its simplest form.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Converting Percentages to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9313" y="2184591"/>
            <a:ext cx="179892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45%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64%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5%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17.5%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2.5%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2629192" y="2203641"/>
            <a:ext cx="604852" cy="396006"/>
            <a:chOff x="2629192" y="2203641"/>
            <a:chExt cx="604852" cy="396006"/>
          </a:xfrm>
        </p:grpSpPr>
        <p:grpSp>
          <p:nvGrpSpPr>
            <p:cNvPr id="6" name="Group 5"/>
            <p:cNvGrpSpPr/>
            <p:nvPr/>
          </p:nvGrpSpPr>
          <p:grpSpPr>
            <a:xfrm>
              <a:off x="2811641" y="2203641"/>
              <a:ext cx="422403" cy="396006"/>
              <a:chOff x="664898" y="2478562"/>
              <a:chExt cx="509669" cy="396006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664898" y="2478562"/>
                <a:ext cx="509669" cy="39600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9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20</a:t>
                </a:r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B2BD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/>
            <p:cNvSpPr/>
            <p:nvPr/>
          </p:nvSpPr>
          <p:spPr>
            <a:xfrm>
              <a:off x="2629192" y="2255049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B2BD45"/>
                  </a:solidFill>
                  <a:latin typeface="+mj-lt"/>
                </a:rPr>
                <a:t>= 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105338" y="2202615"/>
            <a:ext cx="473562" cy="393954"/>
            <a:chOff x="737833" y="2478562"/>
            <a:chExt cx="363799" cy="393954"/>
          </a:xfrm>
        </p:grpSpPr>
        <p:sp>
          <p:nvSpPr>
            <p:cNvPr id="11" name="Rectangle 10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45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2634098" y="3036072"/>
            <a:ext cx="604852" cy="396006"/>
            <a:chOff x="2634098" y="3036072"/>
            <a:chExt cx="604852" cy="396006"/>
          </a:xfrm>
        </p:grpSpPr>
        <p:grpSp>
          <p:nvGrpSpPr>
            <p:cNvPr id="19" name="Group 18"/>
            <p:cNvGrpSpPr/>
            <p:nvPr/>
          </p:nvGrpSpPr>
          <p:grpSpPr>
            <a:xfrm>
              <a:off x="2816547" y="3036072"/>
              <a:ext cx="422403" cy="396006"/>
              <a:chOff x="664898" y="2478562"/>
              <a:chExt cx="509669" cy="396006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664898" y="2478562"/>
                <a:ext cx="509669" cy="39600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16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25</a:t>
                </a:r>
              </a:p>
            </p:txBody>
          </p:sp>
          <p:cxnSp>
            <p:nvCxnSpPr>
              <p:cNvPr id="21" name="Straight Connector 20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B2BD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Rectangle 21"/>
            <p:cNvSpPr/>
            <p:nvPr/>
          </p:nvSpPr>
          <p:spPr>
            <a:xfrm>
              <a:off x="2634098" y="3087480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B2BD45"/>
                  </a:solidFill>
                  <a:latin typeface="+mj-lt"/>
                </a:rPr>
                <a:t>= 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110244" y="3035046"/>
            <a:ext cx="473562" cy="393954"/>
            <a:chOff x="737833" y="2478562"/>
            <a:chExt cx="363799" cy="393954"/>
          </a:xfrm>
        </p:grpSpPr>
        <p:sp>
          <p:nvSpPr>
            <p:cNvPr id="24" name="Rectangle 23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64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2634098" y="3870015"/>
            <a:ext cx="604852" cy="393954"/>
            <a:chOff x="2634098" y="3870015"/>
            <a:chExt cx="604852" cy="393954"/>
          </a:xfrm>
        </p:grpSpPr>
        <p:grpSp>
          <p:nvGrpSpPr>
            <p:cNvPr id="26" name="Group 25"/>
            <p:cNvGrpSpPr/>
            <p:nvPr/>
          </p:nvGrpSpPr>
          <p:grpSpPr>
            <a:xfrm>
              <a:off x="2816547" y="3870015"/>
              <a:ext cx="422403" cy="393954"/>
              <a:chOff x="664898" y="2478562"/>
              <a:chExt cx="509669" cy="393954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664898" y="2478562"/>
                <a:ext cx="509669" cy="3939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1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20</a:t>
                </a:r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B2BD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Rectangle 28"/>
            <p:cNvSpPr/>
            <p:nvPr/>
          </p:nvSpPr>
          <p:spPr>
            <a:xfrm>
              <a:off x="2634098" y="3921423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B2BD45"/>
                  </a:solidFill>
                  <a:latin typeface="+mj-lt"/>
                </a:rPr>
                <a:t>=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110244" y="3868989"/>
            <a:ext cx="473562" cy="393954"/>
            <a:chOff x="737833" y="2478562"/>
            <a:chExt cx="363799" cy="393954"/>
          </a:xfrm>
        </p:grpSpPr>
        <p:sp>
          <p:nvSpPr>
            <p:cNvPr id="31" name="Rectangle 30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2757923" y="4755366"/>
            <a:ext cx="604852" cy="393954"/>
            <a:chOff x="2757923" y="4755366"/>
            <a:chExt cx="604852" cy="393954"/>
          </a:xfrm>
        </p:grpSpPr>
        <p:grpSp>
          <p:nvGrpSpPr>
            <p:cNvPr id="33" name="Group 32"/>
            <p:cNvGrpSpPr/>
            <p:nvPr/>
          </p:nvGrpSpPr>
          <p:grpSpPr>
            <a:xfrm>
              <a:off x="2940372" y="4755366"/>
              <a:ext cx="422403" cy="393954"/>
              <a:chOff x="664898" y="2478562"/>
              <a:chExt cx="509669" cy="393954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664898" y="2478562"/>
                <a:ext cx="509669" cy="3939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7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40</a:t>
                </a:r>
              </a:p>
            </p:txBody>
          </p:sp>
          <p:cxnSp>
            <p:nvCxnSpPr>
              <p:cNvPr id="35" name="Straight Connector 34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B2BD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Rectangle 35"/>
            <p:cNvSpPr/>
            <p:nvPr/>
          </p:nvSpPr>
          <p:spPr>
            <a:xfrm>
              <a:off x="2757923" y="4806774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B2BD45"/>
                  </a:solidFill>
                  <a:latin typeface="+mj-lt"/>
                </a:rPr>
                <a:t>= 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085975" y="4754340"/>
            <a:ext cx="609892" cy="393954"/>
            <a:chOff x="737833" y="2478562"/>
            <a:chExt cx="363799" cy="393954"/>
          </a:xfrm>
        </p:grpSpPr>
        <p:sp>
          <p:nvSpPr>
            <p:cNvPr id="38" name="Rectangle 37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175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1000</a:t>
              </a:r>
            </a:p>
          </p:txBody>
        </p:sp>
        <p:cxnSp>
          <p:nvCxnSpPr>
            <p:cNvPr id="39" name="Straight Connector 38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2757923" y="5601207"/>
            <a:ext cx="604852" cy="393954"/>
            <a:chOff x="2757923" y="5601207"/>
            <a:chExt cx="604852" cy="393954"/>
          </a:xfrm>
        </p:grpSpPr>
        <p:grpSp>
          <p:nvGrpSpPr>
            <p:cNvPr id="40" name="Group 39"/>
            <p:cNvGrpSpPr/>
            <p:nvPr/>
          </p:nvGrpSpPr>
          <p:grpSpPr>
            <a:xfrm>
              <a:off x="2940372" y="5601207"/>
              <a:ext cx="422403" cy="393954"/>
              <a:chOff x="664898" y="2478562"/>
              <a:chExt cx="509669" cy="393954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664898" y="2478562"/>
                <a:ext cx="509669" cy="3939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1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40</a:t>
                </a:r>
              </a:p>
            </p:txBody>
          </p:sp>
          <p:cxnSp>
            <p:nvCxnSpPr>
              <p:cNvPr id="42" name="Straight Connector 41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B2BD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Rectangle 42"/>
            <p:cNvSpPr/>
            <p:nvPr/>
          </p:nvSpPr>
          <p:spPr>
            <a:xfrm>
              <a:off x="2757923" y="5652615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B2BD45"/>
                  </a:solidFill>
                  <a:latin typeface="+mj-lt"/>
                </a:rPr>
                <a:t>=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085975" y="5600181"/>
            <a:ext cx="609892" cy="393954"/>
            <a:chOff x="737833" y="2478562"/>
            <a:chExt cx="363799" cy="393954"/>
          </a:xfrm>
        </p:grpSpPr>
        <p:sp>
          <p:nvSpPr>
            <p:cNvPr id="45" name="Rectangle 44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25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1000</a:t>
              </a:r>
            </a:p>
          </p:txBody>
        </p:sp>
        <p:cxnSp>
          <p:nvCxnSpPr>
            <p:cNvPr id="46" name="Straight Connector 45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" name="Picture 5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528" y="2686049"/>
            <a:ext cx="300126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5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F.D.P. Grid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7" b="2612"/>
          <a:stretch/>
        </p:blipFill>
        <p:spPr>
          <a:xfrm>
            <a:off x="703572" y="1501846"/>
            <a:ext cx="7756216" cy="36194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48284">
            <a:off x="1445599" y="4174477"/>
            <a:ext cx="6252803" cy="2807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2512" y="3876676"/>
            <a:ext cx="1619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+mn-lt"/>
              </a:rPr>
              <a:t>Multiply by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2236" y="3462254"/>
            <a:ext cx="1619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+mn-lt"/>
              </a:rPr>
              <a:t>Divide by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168325" y="3446632"/>
            <a:ext cx="1744985" cy="401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400" dirty="0"/>
              <a:t>Divide numerator by denominator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9339" y="3817111"/>
            <a:ext cx="1744983" cy="476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1100" dirty="0"/>
              <a:t>Divide numerator by denominator then multiply by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9844" y="2985520"/>
            <a:ext cx="1784033" cy="476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GB" sz="1100" dirty="0">
                <a:solidFill>
                  <a:srgbClr val="E84D15"/>
                </a:solidFill>
              </a:rPr>
              <a:t>Place percentage over </a:t>
            </a:r>
          </a:p>
          <a:p>
            <a:pPr algn="ctr">
              <a:lnSpc>
                <a:spcPct val="75000"/>
              </a:lnSpc>
            </a:pPr>
            <a:r>
              <a:rPr lang="en-GB" sz="1100" dirty="0">
                <a:solidFill>
                  <a:srgbClr val="E84D15"/>
                </a:solidFill>
              </a:rPr>
              <a:t>100 (or 1000)</a:t>
            </a:r>
          </a:p>
          <a:p>
            <a:pPr algn="ctr">
              <a:lnSpc>
                <a:spcPct val="75000"/>
              </a:lnSpc>
            </a:pPr>
            <a:r>
              <a:rPr lang="en-GB" sz="1100" dirty="0">
                <a:solidFill>
                  <a:srgbClr val="E84D15"/>
                </a:solidFill>
              </a:rPr>
              <a:t>and simplify</a:t>
            </a:r>
          </a:p>
        </p:txBody>
      </p:sp>
    </p:spTree>
    <p:extLst>
      <p:ext uri="{BB962C8B-B14F-4D97-AF65-F5344CB8AC3E}">
        <p14:creationId xmlns:p14="http://schemas.microsoft.com/office/powerpoint/2010/main" val="103869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1443972"/>
            <a:ext cx="77755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dirty="0"/>
              <a:t>To convert a decimal to a fraction, we start by writing it out of 1. 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Converting Decimals to Fractions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4213" y="1872018"/>
            <a:ext cx="470151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Write 0.15 as a fraction in its simplest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213" y="2354026"/>
            <a:ext cx="79914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6700" indent="-266700">
              <a:buFont typeface="+mj-lt"/>
              <a:buAutoNum type="arabicPeriod"/>
            </a:pPr>
            <a:r>
              <a:rPr lang="en-GB" dirty="0"/>
              <a:t>Start by writing down the decimal as a ‘fraction’ of 1: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4212" y="2835587"/>
            <a:ext cx="7571025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buFont typeface="+mj-lt"/>
              <a:buAutoNum type="arabicPeriod" startAt="2"/>
            </a:pPr>
            <a:r>
              <a:rPr lang="en-GB" dirty="0"/>
              <a:t>As we have two decimal places, we multiply both the numerator and the denominator by 100 (if there was just 1 digit after the decimal point, we would multiply it by 10 and if there were 3 digits, we would multiply by 1000).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431075" y="2340024"/>
            <a:ext cx="503125" cy="393954"/>
            <a:chOff x="737833" y="2478562"/>
            <a:chExt cx="363799" cy="393954"/>
          </a:xfrm>
        </p:grpSpPr>
        <p:sp>
          <p:nvSpPr>
            <p:cNvPr id="10" name="Rectangle 9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0.15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5214765" y="1838430"/>
            <a:ext cx="554561" cy="393954"/>
            <a:chOff x="5256781" y="2458482"/>
            <a:chExt cx="554561" cy="393954"/>
          </a:xfrm>
        </p:grpSpPr>
        <p:grpSp>
          <p:nvGrpSpPr>
            <p:cNvPr id="25" name="Group 24"/>
            <p:cNvGrpSpPr/>
            <p:nvPr/>
          </p:nvGrpSpPr>
          <p:grpSpPr>
            <a:xfrm>
              <a:off x="5439231" y="2458482"/>
              <a:ext cx="318611" cy="393954"/>
              <a:chOff x="737833" y="2478562"/>
              <a:chExt cx="363799" cy="393954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737833" y="2478562"/>
                <a:ext cx="363799" cy="3939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chemeClr val="accent2"/>
                    </a:solidFill>
                    <a:latin typeface="+mj-lt"/>
                  </a:rPr>
                  <a:t>3</a:t>
                </a:r>
                <a:br>
                  <a:rPr lang="en-US" sz="1600" dirty="0">
                    <a:solidFill>
                      <a:schemeClr val="accent2"/>
                    </a:solidFill>
                    <a:latin typeface="+mj-lt"/>
                  </a:rPr>
                </a:br>
                <a:r>
                  <a:rPr lang="en-US" sz="1600" dirty="0">
                    <a:solidFill>
                      <a:schemeClr val="accent2"/>
                    </a:solidFill>
                    <a:latin typeface="+mj-lt"/>
                  </a:rPr>
                  <a:t>20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E84D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Rectangle 27"/>
            <p:cNvSpPr/>
            <p:nvPr/>
          </p:nvSpPr>
          <p:spPr>
            <a:xfrm>
              <a:off x="5256781" y="2509890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  <a:latin typeface="+mj-lt"/>
                </a:rPr>
                <a:t>=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1500822" y="4050829"/>
            <a:ext cx="74672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× 100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0822" y="4252568"/>
            <a:ext cx="74672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× 100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226197" y="4189328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226197" y="4389437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3296383" y="4130851"/>
            <a:ext cx="523586" cy="393954"/>
            <a:chOff x="724901" y="2478562"/>
            <a:chExt cx="396126" cy="393954"/>
          </a:xfrm>
        </p:grpSpPr>
        <p:sp>
          <p:nvSpPr>
            <p:cNvPr id="35" name="Rectangle 34"/>
            <p:cNvSpPr/>
            <p:nvPr/>
          </p:nvSpPr>
          <p:spPr>
            <a:xfrm>
              <a:off x="724901" y="2478562"/>
              <a:ext cx="396126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36" name="Straight Connector 35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887154" y="4102691"/>
            <a:ext cx="503125" cy="393954"/>
            <a:chOff x="737833" y="2478562"/>
            <a:chExt cx="363799" cy="393954"/>
          </a:xfrm>
        </p:grpSpPr>
        <p:sp>
          <p:nvSpPr>
            <p:cNvPr id="41" name="Rectangle 40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0.15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</a:t>
              </a:r>
            </a:p>
          </p:txBody>
        </p:sp>
        <p:cxnSp>
          <p:nvCxnSpPr>
            <p:cNvPr id="42" name="Straight Connector 41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/>
          <p:cNvSpPr/>
          <p:nvPr/>
        </p:nvSpPr>
        <p:spPr>
          <a:xfrm>
            <a:off x="684211" y="4706223"/>
            <a:ext cx="757102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5113" indent="-265113">
              <a:buFont typeface="+mj-lt"/>
              <a:buAutoNum type="arabicPeriod" startAt="3"/>
            </a:pPr>
            <a:r>
              <a:rPr lang="en-GB" dirty="0"/>
              <a:t>Like before, we must write our answer in its simplest form. We can do this by finding the highest common factor of 15 and 100.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389" y="5369638"/>
            <a:ext cx="590761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E84D15"/>
                </a:solidFill>
                <a:latin typeface="+mj-lt"/>
              </a:rPr>
              <a:t>The highest common factor of 15 and 100 is 5.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34630" y="5732772"/>
            <a:ext cx="7355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÷ 5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34630" y="5944036"/>
            <a:ext cx="7355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÷ 5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1925877" y="5880796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1925877" y="6080905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2901794" y="5822319"/>
            <a:ext cx="516520" cy="393954"/>
            <a:chOff x="589061" y="2478562"/>
            <a:chExt cx="662520" cy="393954"/>
          </a:xfrm>
        </p:grpSpPr>
        <p:sp>
          <p:nvSpPr>
            <p:cNvPr id="50" name="Rectangle 49"/>
            <p:cNvSpPr/>
            <p:nvPr/>
          </p:nvSpPr>
          <p:spPr>
            <a:xfrm>
              <a:off x="589061" y="2478562"/>
              <a:ext cx="662520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3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20</a:t>
              </a:r>
            </a:p>
          </p:txBody>
        </p:sp>
        <p:cxnSp>
          <p:nvCxnSpPr>
            <p:cNvPr id="51" name="Straight Connector 50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878284" y="5822319"/>
            <a:ext cx="464411" cy="393954"/>
            <a:chOff x="737833" y="2478562"/>
            <a:chExt cx="363799" cy="393954"/>
          </a:xfrm>
        </p:grpSpPr>
        <p:sp>
          <p:nvSpPr>
            <p:cNvPr id="53" name="Rectangle 52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54" name="Straight Connector 53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 54"/>
          <p:cNvSpPr/>
          <p:nvPr/>
        </p:nvSpPr>
        <p:spPr>
          <a:xfrm>
            <a:off x="3930511" y="4143144"/>
            <a:ext cx="32913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/>
              <a:t>This is now a proper fraction.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7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5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0" grpId="0"/>
      <p:bldP spid="31" grpId="0"/>
      <p:bldP spid="43" grpId="0"/>
      <p:bldP spid="44" grpId="0"/>
      <p:bldP spid="45" grpId="0"/>
      <p:bldP spid="46" grpId="0"/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2305" y="1443972"/>
            <a:ext cx="77755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dirty="0"/>
              <a:t>Let’s try another example: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Converting Decimals to Fractions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4213" y="1896294"/>
            <a:ext cx="470151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Write 0.375 as a fraction in its simplest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213" y="2354026"/>
            <a:ext cx="799147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6700" indent="-266700">
              <a:buFont typeface="+mj-lt"/>
              <a:buAutoNum type="arabicPeriod"/>
            </a:pPr>
            <a:r>
              <a:rPr lang="en-GB" dirty="0"/>
              <a:t>Start by writing down the decimal as a ‘fraction’ of 1: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84212" y="2892231"/>
            <a:ext cx="757102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8288" indent="-268288">
              <a:buFont typeface="+mj-lt"/>
              <a:buAutoNum type="arabicPeriod" startAt="2"/>
            </a:pPr>
            <a:r>
              <a:rPr lang="en-GB" dirty="0"/>
              <a:t>Multiply both the numerator and the denominator by 1000 (because there are 3 digits after the decimal point).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431075" y="2340024"/>
            <a:ext cx="706100" cy="393954"/>
            <a:chOff x="737833" y="2478562"/>
            <a:chExt cx="363799" cy="393954"/>
          </a:xfrm>
        </p:grpSpPr>
        <p:sp>
          <p:nvSpPr>
            <p:cNvPr id="10" name="Rectangle 9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0.375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/>
          <p:cNvGrpSpPr/>
          <p:nvPr/>
        </p:nvGrpSpPr>
        <p:grpSpPr>
          <a:xfrm>
            <a:off x="5417065" y="1870798"/>
            <a:ext cx="554561" cy="393954"/>
            <a:chOff x="5384697" y="1846522"/>
            <a:chExt cx="554561" cy="393954"/>
          </a:xfrm>
        </p:grpSpPr>
        <p:grpSp>
          <p:nvGrpSpPr>
            <p:cNvPr id="25" name="Group 24"/>
            <p:cNvGrpSpPr/>
            <p:nvPr/>
          </p:nvGrpSpPr>
          <p:grpSpPr>
            <a:xfrm>
              <a:off x="5559054" y="1846522"/>
              <a:ext cx="234843" cy="393954"/>
              <a:chOff x="646984" y="2478562"/>
              <a:chExt cx="527333" cy="393954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646984" y="2478562"/>
                <a:ext cx="527333" cy="3939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chemeClr val="accent2"/>
                    </a:solidFill>
                    <a:latin typeface="+mj-lt"/>
                  </a:rPr>
                  <a:t>3</a:t>
                </a:r>
                <a:br>
                  <a:rPr lang="en-US" sz="1600" dirty="0">
                    <a:solidFill>
                      <a:schemeClr val="accent2"/>
                    </a:solidFill>
                    <a:latin typeface="+mj-lt"/>
                  </a:rPr>
                </a:br>
                <a:r>
                  <a:rPr lang="en-US" sz="1600" dirty="0">
                    <a:solidFill>
                      <a:schemeClr val="accent2"/>
                    </a:solidFill>
                    <a:latin typeface="+mj-lt"/>
                  </a:rPr>
                  <a:t>8</a:t>
                </a: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E84D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Rectangle 27"/>
            <p:cNvSpPr/>
            <p:nvPr/>
          </p:nvSpPr>
          <p:spPr>
            <a:xfrm>
              <a:off x="5384697" y="1889838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  <a:latin typeface="+mj-lt"/>
                </a:rPr>
                <a:t>=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1601514" y="3532941"/>
            <a:ext cx="74672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× 1000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01514" y="3734680"/>
            <a:ext cx="74672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× 1000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480637" y="3671440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480637" y="3871549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/>
          <p:cNvGrpSpPr/>
          <p:nvPr/>
        </p:nvGrpSpPr>
        <p:grpSpPr>
          <a:xfrm>
            <a:off x="3550823" y="3612963"/>
            <a:ext cx="634128" cy="393954"/>
            <a:chOff x="724901" y="2478562"/>
            <a:chExt cx="396126" cy="393954"/>
          </a:xfrm>
        </p:grpSpPr>
        <p:sp>
          <p:nvSpPr>
            <p:cNvPr id="35" name="Rectangle 34"/>
            <p:cNvSpPr/>
            <p:nvPr/>
          </p:nvSpPr>
          <p:spPr>
            <a:xfrm>
              <a:off x="724901" y="2478562"/>
              <a:ext cx="396126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375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1000</a:t>
              </a:r>
            </a:p>
          </p:txBody>
        </p:sp>
        <p:cxnSp>
          <p:nvCxnSpPr>
            <p:cNvPr id="36" name="Straight Connector 35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862878" y="3584803"/>
            <a:ext cx="675388" cy="393954"/>
            <a:chOff x="737833" y="2478562"/>
            <a:chExt cx="363799" cy="393954"/>
          </a:xfrm>
        </p:grpSpPr>
        <p:sp>
          <p:nvSpPr>
            <p:cNvPr id="41" name="Rectangle 40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0.375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</a:t>
              </a:r>
            </a:p>
          </p:txBody>
        </p:sp>
        <p:cxnSp>
          <p:nvCxnSpPr>
            <p:cNvPr id="42" name="Straight Connector 41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/>
          <p:cNvSpPr/>
          <p:nvPr/>
        </p:nvSpPr>
        <p:spPr>
          <a:xfrm>
            <a:off x="684211" y="4212611"/>
            <a:ext cx="757102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65113" indent="-265113">
              <a:buFont typeface="+mj-lt"/>
              <a:buAutoNum type="arabicPeriod" startAt="3"/>
            </a:pPr>
            <a:r>
              <a:rPr lang="en-GB" dirty="0"/>
              <a:t>Like before, we must write our answer in its simplest form. We can do this by finding the highest common factor of 375 and 1000.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389" y="4876026"/>
            <a:ext cx="590761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E84D15"/>
                </a:solidFill>
                <a:latin typeface="+mj-lt"/>
              </a:rPr>
              <a:t>The highest common factor of 375 and 1000 is 125.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12654" y="5239160"/>
            <a:ext cx="7355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÷ 125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12654" y="5450424"/>
            <a:ext cx="7355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>
                <a:solidFill>
                  <a:srgbClr val="B2BD45"/>
                </a:solidFill>
                <a:latin typeface="+mj-lt"/>
              </a:rPr>
              <a:t>÷ 125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2314293" y="5387184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2314293" y="5587293"/>
            <a:ext cx="959644" cy="0"/>
          </a:xfrm>
          <a:prstGeom prst="straightConnector1">
            <a:avLst/>
          </a:prstGeom>
          <a:ln w="19050" cap="rnd">
            <a:solidFill>
              <a:srgbClr val="B2BD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3354946" y="5328707"/>
            <a:ext cx="260613" cy="393954"/>
            <a:chOff x="589061" y="2478562"/>
            <a:chExt cx="662520" cy="393954"/>
          </a:xfrm>
        </p:grpSpPr>
        <p:sp>
          <p:nvSpPr>
            <p:cNvPr id="50" name="Rectangle 49"/>
            <p:cNvSpPr/>
            <p:nvPr/>
          </p:nvSpPr>
          <p:spPr>
            <a:xfrm>
              <a:off x="589061" y="2478562"/>
              <a:ext cx="662520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3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8</a:t>
              </a:r>
            </a:p>
          </p:txBody>
        </p:sp>
        <p:cxnSp>
          <p:nvCxnSpPr>
            <p:cNvPr id="51" name="Straight Connector 50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837820" y="5328707"/>
            <a:ext cx="723230" cy="393954"/>
            <a:chOff x="719989" y="2478562"/>
            <a:chExt cx="398663" cy="393954"/>
          </a:xfrm>
        </p:grpSpPr>
        <p:sp>
          <p:nvSpPr>
            <p:cNvPr id="53" name="Rectangle 52"/>
            <p:cNvSpPr/>
            <p:nvPr/>
          </p:nvSpPr>
          <p:spPr>
            <a:xfrm>
              <a:off x="719989" y="2478562"/>
              <a:ext cx="398663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375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1000</a:t>
              </a:r>
            </a:p>
          </p:txBody>
        </p:sp>
        <p:cxnSp>
          <p:nvCxnSpPr>
            <p:cNvPr id="54" name="Straight Connector 53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 54"/>
          <p:cNvSpPr/>
          <p:nvPr/>
        </p:nvSpPr>
        <p:spPr>
          <a:xfrm>
            <a:off x="4273963" y="3625256"/>
            <a:ext cx="3291365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GB" dirty="0"/>
              <a:t>This is now a proper fraction.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1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5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0" grpId="0"/>
      <p:bldP spid="31" grpId="0"/>
      <p:bldP spid="43" grpId="0"/>
      <p:bldP spid="44" grpId="0"/>
      <p:bldP spid="45" grpId="0"/>
      <p:bldP spid="46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1492524"/>
            <a:ext cx="777557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dirty="0"/>
              <a:t>Convert each percentage to a fraction.</a:t>
            </a:r>
          </a:p>
          <a:p>
            <a:r>
              <a:rPr lang="en-US" dirty="0"/>
              <a:t>Write each answer in its simplest form.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Converting Decimals to Fractions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9313" y="2184591"/>
            <a:ext cx="179892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0.55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0.78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0.4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0.02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0.235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2629192" y="2203641"/>
            <a:ext cx="604852" cy="396006"/>
            <a:chOff x="2629192" y="2203641"/>
            <a:chExt cx="604852" cy="396006"/>
          </a:xfrm>
        </p:grpSpPr>
        <p:grpSp>
          <p:nvGrpSpPr>
            <p:cNvPr id="6" name="Group 5"/>
            <p:cNvGrpSpPr/>
            <p:nvPr/>
          </p:nvGrpSpPr>
          <p:grpSpPr>
            <a:xfrm>
              <a:off x="2811641" y="2203641"/>
              <a:ext cx="422403" cy="396006"/>
              <a:chOff x="664898" y="2478562"/>
              <a:chExt cx="509669" cy="396006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664898" y="2478562"/>
                <a:ext cx="509669" cy="39600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11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20</a:t>
                </a:r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B2BD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/>
            <p:cNvSpPr/>
            <p:nvPr/>
          </p:nvSpPr>
          <p:spPr>
            <a:xfrm>
              <a:off x="2629192" y="2255049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B2BD45"/>
                  </a:solidFill>
                  <a:latin typeface="+mj-lt"/>
                </a:rPr>
                <a:t>= 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105338" y="2202615"/>
            <a:ext cx="473562" cy="393954"/>
            <a:chOff x="737833" y="2478562"/>
            <a:chExt cx="363799" cy="393954"/>
          </a:xfrm>
        </p:grpSpPr>
        <p:sp>
          <p:nvSpPr>
            <p:cNvPr id="11" name="Rectangle 10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55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2634098" y="3036072"/>
            <a:ext cx="604852" cy="396006"/>
            <a:chOff x="2634098" y="3036072"/>
            <a:chExt cx="604852" cy="396006"/>
          </a:xfrm>
        </p:grpSpPr>
        <p:grpSp>
          <p:nvGrpSpPr>
            <p:cNvPr id="19" name="Group 18"/>
            <p:cNvGrpSpPr/>
            <p:nvPr/>
          </p:nvGrpSpPr>
          <p:grpSpPr>
            <a:xfrm>
              <a:off x="2816547" y="3036072"/>
              <a:ext cx="422403" cy="396006"/>
              <a:chOff x="664898" y="2478562"/>
              <a:chExt cx="509669" cy="396006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664898" y="2478562"/>
                <a:ext cx="509669" cy="39600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39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50</a:t>
                </a:r>
              </a:p>
            </p:txBody>
          </p:sp>
          <p:cxnSp>
            <p:nvCxnSpPr>
              <p:cNvPr id="21" name="Straight Connector 20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B2BD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Rectangle 21"/>
            <p:cNvSpPr/>
            <p:nvPr/>
          </p:nvSpPr>
          <p:spPr>
            <a:xfrm>
              <a:off x="2634098" y="3087480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B2BD45"/>
                  </a:solidFill>
                  <a:latin typeface="+mj-lt"/>
                </a:rPr>
                <a:t>= 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110244" y="3035046"/>
            <a:ext cx="473562" cy="393954"/>
            <a:chOff x="737833" y="2478562"/>
            <a:chExt cx="363799" cy="393954"/>
          </a:xfrm>
        </p:grpSpPr>
        <p:sp>
          <p:nvSpPr>
            <p:cNvPr id="24" name="Rectangle 23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78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25" name="Straight Connector 24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2634098" y="3870015"/>
            <a:ext cx="554561" cy="393954"/>
            <a:chOff x="2634098" y="3870015"/>
            <a:chExt cx="554561" cy="393954"/>
          </a:xfrm>
        </p:grpSpPr>
        <p:grpSp>
          <p:nvGrpSpPr>
            <p:cNvPr id="26" name="Group 25"/>
            <p:cNvGrpSpPr/>
            <p:nvPr/>
          </p:nvGrpSpPr>
          <p:grpSpPr>
            <a:xfrm>
              <a:off x="2816548" y="3870015"/>
              <a:ext cx="313170" cy="393954"/>
              <a:chOff x="664899" y="2478562"/>
              <a:chExt cx="377869" cy="393954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664899" y="2478562"/>
                <a:ext cx="377869" cy="3939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2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5</a:t>
                </a:r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 flipV="1">
                <a:off x="779611" y="2656489"/>
                <a:ext cx="149406" cy="1683"/>
              </a:xfrm>
              <a:prstGeom prst="line">
                <a:avLst/>
              </a:prstGeom>
              <a:ln w="19050" cap="rnd">
                <a:solidFill>
                  <a:srgbClr val="B2BD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Rectangle 28"/>
            <p:cNvSpPr/>
            <p:nvPr/>
          </p:nvSpPr>
          <p:spPr>
            <a:xfrm>
              <a:off x="2634098" y="3921423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B2BD45"/>
                  </a:solidFill>
                  <a:latin typeface="+mj-lt"/>
                </a:rPr>
                <a:t>= 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110244" y="3868989"/>
            <a:ext cx="473562" cy="393954"/>
            <a:chOff x="737833" y="2478562"/>
            <a:chExt cx="363799" cy="393954"/>
          </a:xfrm>
        </p:grpSpPr>
        <p:sp>
          <p:nvSpPr>
            <p:cNvPr id="31" name="Rectangle 30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40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2630923" y="4755366"/>
            <a:ext cx="604852" cy="393954"/>
            <a:chOff x="2757923" y="4755366"/>
            <a:chExt cx="604852" cy="393954"/>
          </a:xfrm>
        </p:grpSpPr>
        <p:grpSp>
          <p:nvGrpSpPr>
            <p:cNvPr id="33" name="Group 32"/>
            <p:cNvGrpSpPr/>
            <p:nvPr/>
          </p:nvGrpSpPr>
          <p:grpSpPr>
            <a:xfrm>
              <a:off x="2940372" y="4755366"/>
              <a:ext cx="422403" cy="393954"/>
              <a:chOff x="664898" y="2478562"/>
              <a:chExt cx="509669" cy="393954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664898" y="2478562"/>
                <a:ext cx="509669" cy="3939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1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50</a:t>
                </a:r>
              </a:p>
            </p:txBody>
          </p:sp>
          <p:cxnSp>
            <p:nvCxnSpPr>
              <p:cNvPr id="35" name="Straight Connector 34"/>
              <p:cNvCxnSpPr/>
              <p:nvPr/>
            </p:nvCxnSpPr>
            <p:spPr>
              <a:xfrm flipV="1">
                <a:off x="791103" y="2657515"/>
                <a:ext cx="257584" cy="655"/>
              </a:xfrm>
              <a:prstGeom prst="line">
                <a:avLst/>
              </a:prstGeom>
              <a:ln w="19050" cap="rnd">
                <a:solidFill>
                  <a:srgbClr val="B2BD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Rectangle 35"/>
            <p:cNvSpPr/>
            <p:nvPr/>
          </p:nvSpPr>
          <p:spPr>
            <a:xfrm>
              <a:off x="2757923" y="4806774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B2BD45"/>
                  </a:solidFill>
                  <a:latin typeface="+mj-lt"/>
                </a:rPr>
                <a:t>= 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120133" y="4748296"/>
            <a:ext cx="424006" cy="393954"/>
            <a:chOff x="737833" y="2478562"/>
            <a:chExt cx="363799" cy="393954"/>
          </a:xfrm>
        </p:grpSpPr>
        <p:sp>
          <p:nvSpPr>
            <p:cNvPr id="38" name="Rectangle 37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2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</a:t>
              </a:r>
            </a:p>
          </p:txBody>
        </p:sp>
        <p:cxnSp>
          <p:nvCxnSpPr>
            <p:cNvPr id="39" name="Straight Connector 38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2757923" y="5601207"/>
            <a:ext cx="753627" cy="393954"/>
            <a:chOff x="2757923" y="5601207"/>
            <a:chExt cx="753627" cy="393954"/>
          </a:xfrm>
        </p:grpSpPr>
        <p:grpSp>
          <p:nvGrpSpPr>
            <p:cNvPr id="40" name="Group 39"/>
            <p:cNvGrpSpPr/>
            <p:nvPr/>
          </p:nvGrpSpPr>
          <p:grpSpPr>
            <a:xfrm>
              <a:off x="2902272" y="5601207"/>
              <a:ext cx="609278" cy="393954"/>
              <a:chOff x="618926" y="2478562"/>
              <a:chExt cx="735151" cy="393954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618926" y="2478562"/>
                <a:ext cx="735151" cy="393954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47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sz="1600" dirty="0">
                    <a:solidFill>
                      <a:srgbClr val="B2BD45"/>
                    </a:solidFill>
                    <a:latin typeface="+mj-lt"/>
                  </a:rPr>
                  <a:t>200</a:t>
                </a:r>
              </a:p>
            </p:txBody>
          </p:sp>
          <p:cxnSp>
            <p:nvCxnSpPr>
              <p:cNvPr id="42" name="Straight Connector 41"/>
              <p:cNvCxnSpPr/>
              <p:nvPr/>
            </p:nvCxnSpPr>
            <p:spPr>
              <a:xfrm flipV="1">
                <a:off x="791103" y="2657167"/>
                <a:ext cx="371542" cy="1004"/>
              </a:xfrm>
              <a:prstGeom prst="line">
                <a:avLst/>
              </a:prstGeom>
              <a:ln w="19050" cap="rnd">
                <a:solidFill>
                  <a:srgbClr val="B2BD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Rectangle 42"/>
            <p:cNvSpPr/>
            <p:nvPr/>
          </p:nvSpPr>
          <p:spPr>
            <a:xfrm>
              <a:off x="2757923" y="5652615"/>
              <a:ext cx="554561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GB" dirty="0">
                  <a:solidFill>
                    <a:srgbClr val="B2BD45"/>
                  </a:solidFill>
                  <a:latin typeface="+mj-lt"/>
                </a:rPr>
                <a:t>= 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085975" y="5600181"/>
            <a:ext cx="609892" cy="393954"/>
            <a:chOff x="737833" y="2478562"/>
            <a:chExt cx="363799" cy="393954"/>
          </a:xfrm>
        </p:grpSpPr>
        <p:sp>
          <p:nvSpPr>
            <p:cNvPr id="45" name="Rectangle 44"/>
            <p:cNvSpPr/>
            <p:nvPr/>
          </p:nvSpPr>
          <p:spPr>
            <a:xfrm>
              <a:off x="737833" y="2478562"/>
              <a:ext cx="363799" cy="39395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235</a:t>
              </a:r>
              <a:br>
                <a:rPr lang="en-US" sz="1600" dirty="0">
                  <a:solidFill>
                    <a:srgbClr val="E84D15"/>
                  </a:solidFill>
                  <a:latin typeface="+mj-lt"/>
                </a:rPr>
              </a:br>
              <a:r>
                <a:rPr lang="en-US" sz="1600" dirty="0">
                  <a:solidFill>
                    <a:srgbClr val="E84D15"/>
                  </a:solidFill>
                  <a:latin typeface="+mj-lt"/>
                </a:rPr>
                <a:t>1000</a:t>
              </a:r>
            </a:p>
          </p:txBody>
        </p:sp>
        <p:cxnSp>
          <p:nvCxnSpPr>
            <p:cNvPr id="46" name="Straight Connector 45"/>
            <p:cNvCxnSpPr/>
            <p:nvPr/>
          </p:nvCxnSpPr>
          <p:spPr>
            <a:xfrm flipV="1">
              <a:off x="791103" y="2657515"/>
              <a:ext cx="257584" cy="655"/>
            </a:xfrm>
            <a:prstGeom prst="line">
              <a:avLst/>
            </a:prstGeom>
            <a:ln w="19050" cap="rnd">
              <a:solidFill>
                <a:srgbClr val="E84D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" name="Picture 5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528" y="2686049"/>
            <a:ext cx="300126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5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F.D.P. Grid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7" b="2612"/>
          <a:stretch/>
        </p:blipFill>
        <p:spPr>
          <a:xfrm>
            <a:off x="703572" y="1501846"/>
            <a:ext cx="7756216" cy="36194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19058">
            <a:off x="1445599" y="4174477"/>
            <a:ext cx="6252803" cy="2807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2512" y="3876676"/>
            <a:ext cx="1619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+mn-lt"/>
              </a:rPr>
              <a:t>Multiply by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2236" y="3462254"/>
            <a:ext cx="1619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latin typeface="+mn-lt"/>
              </a:rPr>
              <a:t>Divide by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168325" y="3446632"/>
            <a:ext cx="1744985" cy="401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400" dirty="0"/>
              <a:t>Divide numerator by denominator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9339" y="3817111"/>
            <a:ext cx="1744983" cy="476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1100" dirty="0"/>
              <a:t>Divide numerator by denominator then multiply by 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89844" y="2985520"/>
            <a:ext cx="1784033" cy="476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GB" sz="1100" dirty="0"/>
              <a:t>Place percentage over </a:t>
            </a:r>
          </a:p>
          <a:p>
            <a:pPr algn="ctr">
              <a:lnSpc>
                <a:spcPct val="75000"/>
              </a:lnSpc>
            </a:pPr>
            <a:r>
              <a:rPr lang="en-GB" sz="1100" dirty="0"/>
              <a:t>100 (or 1000)</a:t>
            </a:r>
          </a:p>
          <a:p>
            <a:pPr algn="ctr">
              <a:lnSpc>
                <a:spcPct val="75000"/>
              </a:lnSpc>
            </a:pPr>
            <a:r>
              <a:rPr lang="en-GB" sz="1100" dirty="0"/>
              <a:t>and simplify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80120" y="2985520"/>
            <a:ext cx="1784033" cy="476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GB" sz="1100" dirty="0">
                <a:solidFill>
                  <a:srgbClr val="E84D15"/>
                </a:solidFill>
              </a:rPr>
              <a:t>Place fraction over 1, multiply by 10, 100 or 1000 and simplify</a:t>
            </a:r>
          </a:p>
        </p:txBody>
      </p:sp>
    </p:spTree>
    <p:extLst>
      <p:ext uri="{BB962C8B-B14F-4D97-AF65-F5344CB8AC3E}">
        <p14:creationId xmlns:p14="http://schemas.microsoft.com/office/powerpoint/2010/main" val="194452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Your Turn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291"/>
          <a:stretch/>
        </p:blipFill>
        <p:spPr>
          <a:xfrm>
            <a:off x="3611487" y="1613800"/>
            <a:ext cx="4848301" cy="34090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" t="59806" r="50183" b="20647"/>
          <a:stretch/>
        </p:blipFill>
        <p:spPr>
          <a:xfrm>
            <a:off x="772863" y="4611947"/>
            <a:ext cx="2343705" cy="13405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87" t="20550" r="1190" b="59903"/>
          <a:stretch/>
        </p:blipFill>
        <p:spPr>
          <a:xfrm>
            <a:off x="1102384" y="3065015"/>
            <a:ext cx="2352583" cy="13405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20609" r="50208" b="59844"/>
          <a:stretch/>
        </p:blipFill>
        <p:spPr>
          <a:xfrm>
            <a:off x="649044" y="1566908"/>
            <a:ext cx="2334828" cy="134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754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Pyramid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213" y="1422186"/>
            <a:ext cx="7168085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/>
              <a:t>The pyramid challenge is designed to be completed in groups.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The timer will be set; it is your challenge to complete as much of the pyramid, </a:t>
            </a:r>
            <a:r>
              <a:rPr lang="en-GB" dirty="0">
                <a:solidFill>
                  <a:srgbClr val="E84D15"/>
                </a:solidFill>
                <a:latin typeface="+mj-lt"/>
              </a:rPr>
              <a:t>as a group</a:t>
            </a:r>
            <a:r>
              <a:rPr lang="en-GB" dirty="0"/>
              <a:t>, as possible. Accuracy and speed is key.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298" y="544248"/>
            <a:ext cx="723986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631" y="2565499"/>
            <a:ext cx="5142157" cy="363527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684214" y="2574675"/>
            <a:ext cx="2328618" cy="26468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Think about how you can divide the pyramid up into sections so you can complete it quicker.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Remember: </a:t>
            </a:r>
            <a:r>
              <a:rPr lang="en-GB" dirty="0">
                <a:solidFill>
                  <a:srgbClr val="E84D15"/>
                </a:solidFill>
                <a:latin typeface="+mj-lt"/>
              </a:rPr>
              <a:t>every</a:t>
            </a:r>
            <a:r>
              <a:rPr lang="en-GB" dirty="0"/>
              <a:t> member of your group </a:t>
            </a:r>
            <a:r>
              <a:rPr lang="en-GB" dirty="0">
                <a:solidFill>
                  <a:srgbClr val="E84D15"/>
                </a:solidFill>
                <a:latin typeface="+mj-lt"/>
              </a:rPr>
              <a:t>must</a:t>
            </a:r>
            <a:r>
              <a:rPr lang="en-GB" dirty="0"/>
              <a:t> be doing something.</a:t>
            </a:r>
          </a:p>
        </p:txBody>
      </p:sp>
    </p:spTree>
    <p:extLst>
      <p:ext uri="{BB962C8B-B14F-4D97-AF65-F5344CB8AC3E}">
        <p14:creationId xmlns:p14="http://schemas.microsoft.com/office/powerpoint/2010/main" val="3804705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-Point Star 1"/>
          <p:cNvSpPr/>
          <p:nvPr/>
        </p:nvSpPr>
        <p:spPr>
          <a:xfrm>
            <a:off x="2733797" y="1658725"/>
            <a:ext cx="3676405" cy="3676405"/>
          </a:xfrm>
          <a:prstGeom prst="star5">
            <a:avLst/>
          </a:prstGeom>
          <a:solidFill>
            <a:schemeClr val="bg1"/>
          </a:solidFill>
          <a:ln w="44450">
            <a:solidFill>
              <a:srgbClr val="E84D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Oval 2"/>
          <p:cNvSpPr/>
          <p:nvPr/>
        </p:nvSpPr>
        <p:spPr>
          <a:xfrm>
            <a:off x="4425461" y="1512186"/>
            <a:ext cx="293077" cy="293077"/>
          </a:xfrm>
          <a:prstGeom prst="ellipse">
            <a:avLst/>
          </a:prstGeom>
          <a:solidFill>
            <a:srgbClr val="B2BD45"/>
          </a:solidFill>
          <a:ln w="44450">
            <a:solidFill>
              <a:srgbClr val="949E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6693724" y="2531784"/>
            <a:ext cx="680093" cy="680093"/>
          </a:xfrm>
          <a:prstGeom prst="ellipse">
            <a:avLst/>
          </a:prstGeom>
          <a:solidFill>
            <a:srgbClr val="E84D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+mj-lt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5654919" y="5520435"/>
            <a:ext cx="680093" cy="680093"/>
          </a:xfrm>
          <a:prstGeom prst="ellipse">
            <a:avLst/>
          </a:prstGeom>
          <a:solidFill>
            <a:srgbClr val="E84D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+mj-lt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2733797" y="5520434"/>
            <a:ext cx="680093" cy="680093"/>
          </a:xfrm>
          <a:prstGeom prst="ellipse">
            <a:avLst/>
          </a:prstGeom>
          <a:solidFill>
            <a:srgbClr val="E84D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+mj-lt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1770182" y="2531784"/>
            <a:ext cx="680093" cy="680093"/>
          </a:xfrm>
          <a:prstGeom prst="ellipse">
            <a:avLst/>
          </a:prstGeom>
          <a:solidFill>
            <a:srgbClr val="E84D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+mj-lt"/>
              </a:rPr>
              <a:t>4</a:t>
            </a:r>
          </a:p>
        </p:txBody>
      </p:sp>
      <p:sp>
        <p:nvSpPr>
          <p:cNvPr id="8" name="Oval 7"/>
          <p:cNvSpPr/>
          <p:nvPr/>
        </p:nvSpPr>
        <p:spPr>
          <a:xfrm>
            <a:off x="4231952" y="676275"/>
            <a:ext cx="680093" cy="680093"/>
          </a:xfrm>
          <a:prstGeom prst="ellipse">
            <a:avLst/>
          </a:prstGeom>
          <a:solidFill>
            <a:srgbClr val="E84D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latin typeface="+mj-lt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788" y="831655"/>
            <a:ext cx="1619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accent2"/>
                </a:solidFill>
                <a:latin typeface="+mj-lt"/>
              </a:rPr>
              <a:t>  5 minutes…</a:t>
            </a:r>
          </a:p>
        </p:txBody>
      </p:sp>
      <p:sp>
        <p:nvSpPr>
          <p:cNvPr id="10" name="Oval 9"/>
          <p:cNvSpPr/>
          <p:nvPr/>
        </p:nvSpPr>
        <p:spPr>
          <a:xfrm>
            <a:off x="4238790" y="3369850"/>
            <a:ext cx="680093" cy="680093"/>
          </a:xfrm>
          <a:prstGeom prst="ellipse">
            <a:avLst/>
          </a:prstGeom>
          <a:solidFill>
            <a:srgbClr val="B2B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>
                <a:latin typeface="+mj-lt"/>
              </a:rPr>
              <a:t>GO!</a:t>
            </a:r>
          </a:p>
        </p:txBody>
      </p:sp>
      <p:sp>
        <p:nvSpPr>
          <p:cNvPr id="13" name="Oval 12"/>
          <p:cNvSpPr/>
          <p:nvPr/>
        </p:nvSpPr>
        <p:spPr>
          <a:xfrm>
            <a:off x="4089400" y="3230150"/>
            <a:ext cx="965200" cy="965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>
                <a:latin typeface="+mj-lt"/>
              </a:rPr>
              <a:t>STOP!</a:t>
            </a:r>
          </a:p>
        </p:txBody>
      </p:sp>
    </p:spTree>
    <p:extLst>
      <p:ext uri="{BB962C8B-B14F-4D97-AF65-F5344CB8AC3E}">
        <p14:creationId xmlns:p14="http://schemas.microsoft.com/office/powerpoint/2010/main" val="264240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4 1.85185E-6 L 0.04688 0.20509 L 0.20087 0.20671 L 0.07778 0.33148 L 0.12378 0.53333 L -0.00052 0.4118 L -0.12344 0.53333 L -0.07743 0.32986 L -0.20035 0.20509 L -0.04913 0.20671 L -0.00174 1.85185E-6 Z " pathEditMode="relative" rAng="0" ptsTypes="AAAAAAAAAAA">
                                      <p:cBhvr>
                                        <p:cTn id="6" dur="3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2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544248"/>
            <a:ext cx="7775575" cy="772107"/>
          </a:xfrm>
          <a:prstGeom prst="rect">
            <a:avLst/>
          </a:prstGeom>
        </p:spPr>
        <p:txBody>
          <a:bodyPr wrap="square" lIns="0" tIns="108000" rIns="0" bIns="108000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GB" sz="3600" dirty="0">
                <a:solidFill>
                  <a:srgbClr val="E84D15"/>
                </a:solidFill>
                <a:latin typeface="+mj-lt"/>
                <a:cs typeface="Clear Sans Light" panose="020B0303030202020304" pitchFamily="34" charset="0"/>
              </a:rPr>
              <a:t>Sticky Note Finish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213" y="1492524"/>
            <a:ext cx="7775575" cy="11387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/>
              <a:t>On your sticky note, write down… </a:t>
            </a:r>
          </a:p>
          <a:p>
            <a:pPr marL="265113" indent="-2651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one thing you have learnt today.</a:t>
            </a:r>
          </a:p>
          <a:p>
            <a:pPr marL="265113" indent="-265113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one thing you would like to revisit.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516" y="1424999"/>
            <a:ext cx="2404706" cy="24654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07285">
            <a:off x="4402832" y="3483410"/>
            <a:ext cx="4511977" cy="5111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07" y="3429000"/>
            <a:ext cx="445841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78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8387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winkl">
      <a:dk1>
        <a:srgbClr val="1C1C1C"/>
      </a:dk1>
      <a:lt1>
        <a:sysClr val="window" lastClr="FFFFFF"/>
      </a:lt1>
      <a:dk2>
        <a:srgbClr val="0C0C0C"/>
      </a:dk2>
      <a:lt2>
        <a:srgbClr val="DCD8DC"/>
      </a:lt2>
      <a:accent1>
        <a:srgbClr val="E52733"/>
      </a:accent1>
      <a:accent2>
        <a:srgbClr val="E94E14"/>
      </a:accent2>
      <a:accent3>
        <a:srgbClr val="F9B000"/>
      </a:accent3>
      <a:accent4>
        <a:srgbClr val="86BD34"/>
      </a:accent4>
      <a:accent5>
        <a:srgbClr val="003F7D"/>
      </a:accent5>
      <a:accent6>
        <a:srgbClr val="65186A"/>
      </a:accent6>
      <a:hlink>
        <a:srgbClr val="6D6D6D"/>
      </a:hlink>
      <a:folHlink>
        <a:srgbClr val="B8B8B8"/>
      </a:folHlink>
    </a:clrScheme>
    <a:fontScheme name="Twinkl">
      <a:majorFont>
        <a:latin typeface="Twinkl SemiBold"/>
        <a:ea typeface=""/>
        <a:cs typeface=""/>
      </a:majorFont>
      <a:minorFont>
        <a:latin typeface="Twinkl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condary PowerPoint Template.pptx" id="{AF249FDE-57ED-4FF3-8294-728CE951F11A}" vid="{B1E5F097-3794-4E48-AD24-1A0702FD1C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</TotalTime>
  <Words>941</Words>
  <Application>Microsoft Office PowerPoint</Application>
  <PresentationFormat>On-screen Show (4:3)</PresentationFormat>
  <Paragraphs>202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Twinkl Light</vt:lpstr>
      <vt:lpstr>Clear Sans</vt:lpstr>
      <vt:lpstr>Clear Sans Medium</vt:lpstr>
      <vt:lpstr>Arial</vt:lpstr>
      <vt:lpstr>Sassoon Infant Rg</vt:lpstr>
      <vt:lpstr>Twinkl SemiBold</vt:lpstr>
      <vt:lpstr>Calibri</vt:lpstr>
      <vt:lpstr>Clear Sans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Jacqui Ford</dc:creator>
  <cp:lastModifiedBy>Maddison Wells</cp:lastModifiedBy>
  <cp:revision>23</cp:revision>
  <dcterms:created xsi:type="dcterms:W3CDTF">2018-06-27T08:05:21Z</dcterms:created>
  <dcterms:modified xsi:type="dcterms:W3CDTF">2018-11-28T01:56:23Z</dcterms:modified>
</cp:coreProperties>
</file>