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85" r:id="rId2"/>
    <p:sldId id="264" r:id="rId3"/>
    <p:sldId id="286" r:id="rId4"/>
    <p:sldId id="287" r:id="rId5"/>
    <p:sldId id="267" r:id="rId6"/>
  </p:sldIdLst>
  <p:sldSz cx="9144000" cy="6858000" type="screen4x3"/>
  <p:notesSz cx="6858000" cy="9144000"/>
  <p:embeddedFontLst>
    <p:embeddedFont>
      <p:font typeface="Twinkl" pitchFamily="2" charset="0"/>
      <p:regular r:id="rId9"/>
      <p:bold r:id="rId10"/>
    </p:embeddedFont>
    <p:embeddedFont>
      <p:font typeface="Sassoon Infant Rg" panose="02000503030000020003" pitchFamily="50" charset="0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4" pos="340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5420" userDrawn="1">
          <p15:clr>
            <a:srgbClr val="A4A3A4"/>
          </p15:clr>
        </p15:guide>
        <p15:guide id="7" orient="horz" pos="346" userDrawn="1">
          <p15:clr>
            <a:srgbClr val="A4A3A4"/>
          </p15:clr>
        </p15:guide>
        <p15:guide id="8" pos="476" userDrawn="1">
          <p15:clr>
            <a:srgbClr val="A4A3A4"/>
          </p15:clr>
        </p15:guide>
        <p15:guide id="9" orient="horz" pos="482" userDrawn="1">
          <p15:clr>
            <a:srgbClr val="A4A3A4"/>
          </p15:clr>
        </p15:guide>
        <p15:guide id="10" orient="horz" pos="3838" userDrawn="1">
          <p15:clr>
            <a:srgbClr val="A4A3A4"/>
          </p15:clr>
        </p15:guide>
        <p15:guide id="11" pos="52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6FB"/>
    <a:srgbClr val="ACDDFC"/>
    <a:srgbClr val="80C1EB"/>
    <a:srgbClr val="18A0DB"/>
    <a:srgbClr val="FFFFFF"/>
    <a:srgbClr val="4AA1D9"/>
    <a:srgbClr val="21A6F9"/>
    <a:srgbClr val="1C1C1C"/>
    <a:srgbClr val="2898A8"/>
    <a:srgbClr val="FEFB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722" y="108"/>
      </p:cViewPr>
      <p:guideLst>
        <p:guide orient="horz" pos="2160"/>
        <p:guide pos="2880"/>
        <p:guide pos="340"/>
        <p:guide orient="horz" pos="3974"/>
        <p:guide pos="5420"/>
        <p:guide orient="horz" pos="346"/>
        <p:guide pos="476"/>
        <p:guide orient="horz" pos="482"/>
        <p:guide orient="horz" pos="3838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26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4F151-63AC-41CE-96F5-7702E930870C}" type="datetimeFigureOut">
              <a:rPr lang="en-GB" smtClean="0"/>
              <a:t>21/09/2016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B846-B279-40AC-BFF5-DBC4013370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9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2C5D1-7818-41B5-ABAD-5E4B38A5388F}" type="datetimeFigureOut">
              <a:rPr lang="en-GB" smtClean="0"/>
              <a:t>21/09/2016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1341-850D-40E1-BB3D-87946DC9B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  <p:sp>
        <p:nvSpPr>
          <p:cNvPr id="4" name="TextBox 19"/>
          <p:cNvSpPr txBox="1">
            <a:spLocks noChangeArrowheads="1"/>
          </p:cNvSpPr>
          <p:nvPr userDrawn="1"/>
        </p:nvSpPr>
        <p:spPr bwMode="auto">
          <a:xfrm>
            <a:off x="0" y="834184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4000" b="1" dirty="0">
                <a:solidFill>
                  <a:schemeClr val="bg1"/>
                </a:solidFill>
                <a:latin typeface="Twinkl" pitchFamily="2" charset="0"/>
              </a:rPr>
              <a:t>Rounding</a:t>
            </a:r>
            <a:r>
              <a:rPr lang="en-GB" altLang="en-US" sz="4000" b="1" baseline="0" dirty="0">
                <a:solidFill>
                  <a:schemeClr val="bg1"/>
                </a:solidFill>
                <a:latin typeface="Twinkl" pitchFamily="2" charset="0"/>
              </a:rPr>
              <a:t> to the Nearest</a:t>
            </a:r>
            <a:endParaRPr lang="en-GB" altLang="en-US" sz="4000" b="1" dirty="0">
              <a:solidFill>
                <a:schemeClr val="bg1"/>
              </a:solidFill>
              <a:latin typeface="Twinkl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4" y="1346069"/>
            <a:ext cx="9144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3378" y="6046972"/>
            <a:ext cx="706069" cy="44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4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497" y="5734211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7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6" name="Rounded Rectangle 1"/>
          <p:cNvSpPr/>
          <p:nvPr userDrawn="1"/>
        </p:nvSpPr>
        <p:spPr>
          <a:xfrm>
            <a:off x="755650" y="728663"/>
            <a:ext cx="7632700" cy="668337"/>
          </a:xfrm>
          <a:prstGeom prst="roundRect">
            <a:avLst>
              <a:gd name="adj" fmla="val 11817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" name="Rounded Rectangle 3"/>
          <p:cNvSpPr/>
          <p:nvPr userDrawn="1"/>
        </p:nvSpPr>
        <p:spPr>
          <a:xfrm>
            <a:off x="755650" y="1650999"/>
            <a:ext cx="7632700" cy="1075575"/>
          </a:xfrm>
          <a:prstGeom prst="roundRect">
            <a:avLst>
              <a:gd name="adj" fmla="val 7180"/>
            </a:avLst>
          </a:prstGeom>
          <a:solidFill>
            <a:srgbClr val="CEEAB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8" name="Rounded Rectangle 1"/>
          <p:cNvSpPr/>
          <p:nvPr userDrawn="1"/>
        </p:nvSpPr>
        <p:spPr>
          <a:xfrm>
            <a:off x="755650" y="2980574"/>
            <a:ext cx="7632700" cy="3129282"/>
          </a:xfrm>
          <a:prstGeom prst="roundRect">
            <a:avLst>
              <a:gd name="adj" fmla="val 315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7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 bwMode="auto">
          <a:xfrm>
            <a:off x="503239" y="2930434"/>
            <a:ext cx="8137524" cy="3414803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Rounded Rectangle 7"/>
          <p:cNvSpPr/>
          <p:nvPr userDrawn="1"/>
        </p:nvSpPr>
        <p:spPr bwMode="auto">
          <a:xfrm>
            <a:off x="503239" y="512763"/>
            <a:ext cx="8137524" cy="2193019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071286"/>
            <a:ext cx="7886700" cy="540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winkl" pitchFamily="50" charset="0"/>
              </a:rPr>
              <a:t>Success Criteria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28648" y="734785"/>
            <a:ext cx="7886700" cy="540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winkl" pitchFamily="50" charset="0"/>
              </a:rPr>
              <a:t>Aim</a:t>
            </a:r>
          </a:p>
        </p:txBody>
      </p:sp>
      <p:sp>
        <p:nvSpPr>
          <p:cNvPr id="11" name="Content Placeholder 15"/>
          <p:cNvSpPr>
            <a:spLocks noGrp="1"/>
          </p:cNvSpPr>
          <p:nvPr>
            <p:ph idx="1"/>
          </p:nvPr>
        </p:nvSpPr>
        <p:spPr>
          <a:xfrm>
            <a:off x="628650" y="1127760"/>
            <a:ext cx="7886700" cy="1409700"/>
          </a:xfrm>
        </p:spPr>
        <p:txBody>
          <a:bodyPr>
            <a:normAutofit fontScale="92500" lnSpcReduction="10000"/>
          </a:bodyPr>
          <a:lstStyle>
            <a:lvl1pPr>
              <a:defRPr>
                <a:latin typeface="Twinkl" pitchFamily="50" charset="0"/>
              </a:defRPr>
            </a:lvl1pPr>
            <a:lvl2pPr>
              <a:defRPr/>
            </a:lvl2pPr>
          </a:lstStyle>
          <a:p>
            <a:r>
              <a:rPr lang="en-GB" dirty="0"/>
              <a:t>Statement 1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  <a:p>
            <a:r>
              <a:rPr lang="en-GB" dirty="0"/>
              <a:t>Statement 2</a:t>
            </a:r>
          </a:p>
          <a:p>
            <a:pPr lvl="1"/>
            <a:r>
              <a:rPr lang="en-GB" dirty="0"/>
              <a:t>Sub statement</a:t>
            </a:r>
          </a:p>
        </p:txBody>
      </p:sp>
      <p:sp>
        <p:nvSpPr>
          <p:cNvPr id="12" name="Content Placeholder 15"/>
          <p:cNvSpPr txBox="1">
            <a:spLocks/>
          </p:cNvSpPr>
          <p:nvPr userDrawn="1"/>
        </p:nvSpPr>
        <p:spPr>
          <a:xfrm>
            <a:off x="628650" y="3466803"/>
            <a:ext cx="7886700" cy="1409700"/>
          </a:xfrm>
          <a:prstGeom prst="rect">
            <a:avLst/>
          </a:prstGeom>
          <a:noFill/>
          <a:ln w="25400">
            <a:noFill/>
          </a:ln>
        </p:spPr>
        <p:txBody>
          <a:bodyPr vert="horz" lIns="180000" tIns="252000" rIns="252000" bIns="18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Twinkl" pitchFamily="50" charset="0"/>
              </a:rPr>
              <a:t>Statement 1 Lorem ipsum </a:t>
            </a:r>
            <a:r>
              <a:rPr lang="en-GB" dirty="0" err="1">
                <a:latin typeface="Twinkl" pitchFamily="50" charset="0"/>
              </a:rPr>
              <a:t>dolor</a:t>
            </a:r>
            <a:r>
              <a:rPr lang="en-GB" dirty="0">
                <a:latin typeface="Twinkl" pitchFamily="50" charset="0"/>
              </a:rPr>
              <a:t> sit </a:t>
            </a:r>
            <a:r>
              <a:rPr lang="en-GB" dirty="0" err="1">
                <a:latin typeface="Twinkl" pitchFamily="50" charset="0"/>
              </a:rPr>
              <a:t>amet</a:t>
            </a:r>
            <a:r>
              <a:rPr lang="en-GB" dirty="0">
                <a:latin typeface="Twinkl" pitchFamily="50" charset="0"/>
              </a:rPr>
              <a:t>, </a:t>
            </a:r>
            <a:r>
              <a:rPr lang="en-GB" dirty="0" err="1">
                <a:latin typeface="Twinkl" pitchFamily="50" charset="0"/>
              </a:rPr>
              <a:t>consectetur</a:t>
            </a:r>
            <a:r>
              <a:rPr lang="en-GB" dirty="0">
                <a:latin typeface="Twinkl" pitchFamily="50" charset="0"/>
              </a:rPr>
              <a:t> </a:t>
            </a:r>
            <a:r>
              <a:rPr lang="en-GB" dirty="0" err="1">
                <a:latin typeface="Twinkl" pitchFamily="50" charset="0"/>
              </a:rPr>
              <a:t>adipiscing</a:t>
            </a:r>
            <a:r>
              <a:rPr lang="en-GB" dirty="0">
                <a:latin typeface="Twinkl" pitchFamily="50" charset="0"/>
              </a:rPr>
              <a:t> </a:t>
            </a:r>
            <a:r>
              <a:rPr lang="en-GB" dirty="0" err="1">
                <a:latin typeface="Twinkl" pitchFamily="50" charset="0"/>
              </a:rPr>
              <a:t>elit</a:t>
            </a:r>
            <a:r>
              <a:rPr lang="en-GB" dirty="0">
                <a:latin typeface="Twinkl" pitchFamily="50" charset="0"/>
              </a:rPr>
              <a:t>.</a:t>
            </a:r>
          </a:p>
          <a:p>
            <a:r>
              <a:rPr lang="en-GB" dirty="0">
                <a:latin typeface="Twinkl" pitchFamily="50" charset="0"/>
              </a:rPr>
              <a:t>Statement 2</a:t>
            </a:r>
          </a:p>
          <a:p>
            <a:pPr lvl="1"/>
            <a:r>
              <a:rPr lang="en-GB" dirty="0">
                <a:latin typeface="Twinkl" pitchFamily="50" charset="0"/>
              </a:rPr>
              <a:t>Sub statement</a:t>
            </a:r>
          </a:p>
        </p:txBody>
      </p:sp>
    </p:spTree>
    <p:extLst>
      <p:ext uri="{BB962C8B-B14F-4D97-AF65-F5344CB8AC3E}">
        <p14:creationId xmlns:p14="http://schemas.microsoft.com/office/powerpoint/2010/main" val="225752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65436" y="3403525"/>
            <a:ext cx="706069" cy="44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7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A0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745" y="695325"/>
            <a:ext cx="8164510" cy="1150938"/>
          </a:xfrm>
          <a:prstGeom prst="roundRect">
            <a:avLst>
              <a:gd name="adj" fmla="val 9641"/>
            </a:avLst>
          </a:prstGeom>
          <a:noFill/>
          <a:ln w="25400">
            <a:noFill/>
          </a:ln>
        </p:spPr>
        <p:txBody>
          <a:bodyPr vert="horz" lIns="252000" tIns="252000" rIns="252000" bIns="252000" rtlCol="0" anchor="ctr" anchorCtr="1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745" y="1957386"/>
            <a:ext cx="8164510" cy="4387851"/>
          </a:xfrm>
          <a:prstGeom prst="roundRect">
            <a:avLst>
              <a:gd name="adj" fmla="val 2585"/>
            </a:avLst>
          </a:prstGeom>
          <a:noFill/>
          <a:ln w="25400">
            <a:noFill/>
          </a:ln>
        </p:spPr>
        <p:txBody>
          <a:bodyPr vert="horz" lIns="252000" tIns="252000" rIns="252000" bIns="2520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8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2" r:id="rId3"/>
    <p:sldLayoutId id="2147483663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C1C1C"/>
          </a:solidFill>
          <a:latin typeface="Twinkl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9"/>
          <p:cNvSpPr txBox="1">
            <a:spLocks noChangeArrowheads="1"/>
          </p:cNvSpPr>
          <p:nvPr/>
        </p:nvSpPr>
        <p:spPr bwMode="auto">
          <a:xfrm>
            <a:off x="0" y="1565552"/>
            <a:ext cx="9144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7200" b="1" dirty="0">
                <a:solidFill>
                  <a:schemeClr val="bg1"/>
                </a:solidFill>
                <a:latin typeface="Twinkl" pitchFamily="2" charset="0"/>
              </a:rPr>
              <a:t>10, 100 and 1000</a:t>
            </a:r>
          </a:p>
        </p:txBody>
      </p:sp>
    </p:spTree>
    <p:extLst>
      <p:ext uri="{BB962C8B-B14F-4D97-AF65-F5344CB8AC3E}">
        <p14:creationId xmlns:p14="http://schemas.microsoft.com/office/powerpoint/2010/main" val="119893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755650" y="877888"/>
            <a:ext cx="7632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 dirty="0">
                <a:solidFill>
                  <a:schemeClr val="tx1"/>
                </a:solidFill>
                <a:latin typeface="Twinkl" pitchFamily="2" charset="0"/>
              </a:rPr>
              <a:t>Learning Objective: To solve word problems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55650" y="1709092"/>
            <a:ext cx="7632700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Twinkl" pitchFamily="2" charset="0"/>
              </a:rPr>
              <a:t>A family travels 225 miles in a car.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chemeClr val="tx1"/>
                </a:solidFill>
                <a:latin typeface="Twinkl" pitchFamily="2" charset="0"/>
              </a:rPr>
              <a:t>How far do they travel to the nearest 10 and nearest 100 miles?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64707" y="3367175"/>
            <a:ext cx="38163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+mn-lt"/>
              </a:rPr>
              <a:t>225 miles rounded to the nearest 10 is </a:t>
            </a:r>
            <a:r>
              <a:rPr lang="en-GB" altLang="en-US" b="1" dirty="0">
                <a:solidFill>
                  <a:schemeClr val="tx1"/>
                </a:solidFill>
                <a:latin typeface="+mn-lt"/>
              </a:rPr>
              <a:t>230 miles.</a:t>
            </a:r>
          </a:p>
        </p:txBody>
      </p:sp>
      <p:pic>
        <p:nvPicPr>
          <p:cNvPr id="10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708" y="3787091"/>
            <a:ext cx="3436937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64707" y="4119650"/>
            <a:ext cx="38163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+mn-lt"/>
              </a:rPr>
              <a:t>225 miles rounded to the nearest 100 is </a:t>
            </a:r>
            <a:r>
              <a:rPr lang="en-GB" altLang="en-US" b="1" dirty="0">
                <a:solidFill>
                  <a:schemeClr val="tx1"/>
                </a:solidFill>
                <a:latin typeface="+mn-lt"/>
              </a:rPr>
              <a:t>200 miles.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64707" y="4870537"/>
            <a:ext cx="38163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+mn-lt"/>
              </a:rPr>
              <a:t>Which one would you use if you told a friend how far you travelled?</a:t>
            </a:r>
            <a:endParaRPr lang="en-GB" alt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62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755650" y="877888"/>
            <a:ext cx="7632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 dirty="0">
                <a:solidFill>
                  <a:schemeClr val="tx1"/>
                </a:solidFill>
                <a:latin typeface="Twinkl" pitchFamily="2" charset="0"/>
              </a:rPr>
              <a:t>Learning Objective: To solve word problems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755650" y="1709092"/>
            <a:ext cx="7632700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Twinkl" pitchFamily="2" charset="0"/>
              </a:rPr>
              <a:t>A delivery driver travels 75 miles each day.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chemeClr val="tx1"/>
                </a:solidFill>
                <a:latin typeface="Twinkl" pitchFamily="2" charset="0"/>
              </a:rPr>
              <a:t>How far will the driver travel in 5 days, to the nearest 10 and 100 miles?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165440" y="3799834"/>
            <a:ext cx="413127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+mn-lt"/>
              </a:rPr>
              <a:t>75 x 5 = </a:t>
            </a:r>
            <a:r>
              <a:rPr lang="en-GB" altLang="en-US" b="1" dirty="0">
                <a:solidFill>
                  <a:schemeClr val="tx1"/>
                </a:solidFill>
                <a:latin typeface="+mn-lt"/>
              </a:rPr>
              <a:t>375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165440" y="4403084"/>
            <a:ext cx="41312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+mn-lt"/>
              </a:rPr>
              <a:t>375 rounded to the nearest 10 is </a:t>
            </a:r>
            <a:r>
              <a:rPr lang="en-GB" altLang="en-US" b="1" dirty="0">
                <a:solidFill>
                  <a:schemeClr val="tx1"/>
                </a:solidFill>
                <a:latin typeface="+mn-lt"/>
              </a:rPr>
              <a:t>380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165439" y="5004747"/>
            <a:ext cx="4280781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+mn-lt"/>
              </a:rPr>
              <a:t>375 rounded to the nearest 100 is </a:t>
            </a:r>
            <a:r>
              <a:rPr lang="en-GB" altLang="en-US" b="1" dirty="0">
                <a:solidFill>
                  <a:schemeClr val="tx1"/>
                </a:solidFill>
                <a:latin typeface="+mn-lt"/>
              </a:rPr>
              <a:t>400</a:t>
            </a:r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85" y="3874904"/>
            <a:ext cx="3002108" cy="1390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597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755650" y="877888"/>
            <a:ext cx="7632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 dirty="0">
                <a:solidFill>
                  <a:schemeClr val="tx1"/>
                </a:solidFill>
                <a:latin typeface="Twinkl" pitchFamily="2" charset="0"/>
              </a:rPr>
              <a:t>Learning Objective: To solve word problems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755650" y="1709092"/>
            <a:ext cx="7632700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Twinkl" pitchFamily="2" charset="0"/>
              </a:rPr>
              <a:t>An ice cream van sells 334 lollies and 127 cones in a day.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chemeClr val="tx1"/>
                </a:solidFill>
                <a:latin typeface="Twinkl" pitchFamily="2" charset="0"/>
              </a:rPr>
              <a:t>How many lollies and cones were sold altogether, to the nearest 10 and 100?</a:t>
            </a:r>
          </a:p>
        </p:txBody>
      </p:sp>
      <p:sp>
        <p:nvSpPr>
          <p:cNvPr id="21" name="Rounded Rectangle 21"/>
          <p:cNvSpPr/>
          <p:nvPr/>
        </p:nvSpPr>
        <p:spPr bwMode="auto">
          <a:xfrm>
            <a:off x="2548156" y="3538814"/>
            <a:ext cx="2208213" cy="4603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7" name="Rounded Rectangle 5"/>
          <p:cNvSpPr/>
          <p:nvPr/>
        </p:nvSpPr>
        <p:spPr bwMode="auto">
          <a:xfrm>
            <a:off x="987644" y="3538814"/>
            <a:ext cx="1398587" cy="2128838"/>
          </a:xfrm>
          <a:prstGeom prst="roundRect">
            <a:avLst>
              <a:gd name="adj" fmla="val 587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8" name="TextBox 4"/>
          <p:cNvSpPr txBox="1">
            <a:spLocks noChangeArrowheads="1"/>
          </p:cNvSpPr>
          <p:nvPr/>
        </p:nvSpPr>
        <p:spPr bwMode="auto">
          <a:xfrm>
            <a:off x="1211349" y="3726220"/>
            <a:ext cx="943398" cy="175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Sassoon Infant Rg" panose="02000503030000020003" pitchFamily="50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+mn-lt"/>
              </a:rPr>
              <a:t>   334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 dirty="0">
                <a:solidFill>
                  <a:schemeClr val="tx1"/>
                </a:solidFill>
                <a:latin typeface="+mn-lt"/>
              </a:rPr>
              <a:t>+ </a:t>
            </a:r>
            <a:r>
              <a:rPr lang="en-GB" altLang="en-US" dirty="0">
                <a:solidFill>
                  <a:schemeClr val="tx1"/>
                </a:solidFill>
                <a:latin typeface="+mn-lt"/>
              </a:rPr>
              <a:t>127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+mn-lt"/>
              </a:rPr>
              <a:t>   </a:t>
            </a:r>
            <a:r>
              <a:rPr lang="en-GB" altLang="en-US" b="1" dirty="0">
                <a:solidFill>
                  <a:schemeClr val="tx1"/>
                </a:solidFill>
                <a:latin typeface="+mn-lt"/>
              </a:rPr>
              <a:t>461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+mn-lt"/>
              </a:rPr>
              <a:t>     1  </a:t>
            </a: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1122581" y="4992964"/>
            <a:ext cx="11382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 bwMode="auto">
          <a:xfrm>
            <a:off x="1106706" y="4473852"/>
            <a:ext cx="11366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81" y="3443564"/>
            <a:ext cx="31115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ounded Rectangle 22"/>
          <p:cNvSpPr/>
          <p:nvPr/>
        </p:nvSpPr>
        <p:spPr bwMode="auto">
          <a:xfrm>
            <a:off x="2548156" y="4167464"/>
            <a:ext cx="2206625" cy="6667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5"/>
          <p:cNvSpPr/>
          <p:nvPr/>
        </p:nvSpPr>
        <p:spPr bwMode="auto">
          <a:xfrm>
            <a:off x="2548156" y="5002489"/>
            <a:ext cx="2206625" cy="665163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32" name="Group 31"/>
          <p:cNvGrpSpPr/>
          <p:nvPr/>
        </p:nvGrpSpPr>
        <p:grpSpPr>
          <a:xfrm>
            <a:off x="2502860" y="3584613"/>
            <a:ext cx="2872852" cy="2073480"/>
            <a:chOff x="2469304" y="3584613"/>
            <a:chExt cx="2872852" cy="2073480"/>
          </a:xfrm>
        </p:grpSpPr>
        <p:sp>
          <p:nvSpPr>
            <p:cNvPr id="33" name="TextBox 12"/>
            <p:cNvSpPr txBox="1">
              <a:spLocks noChangeArrowheads="1"/>
            </p:cNvSpPr>
            <p:nvPr/>
          </p:nvSpPr>
          <p:spPr bwMode="auto">
            <a:xfrm>
              <a:off x="2469304" y="3584613"/>
              <a:ext cx="2872852" cy="369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dirty="0">
                  <a:solidFill>
                    <a:schemeClr val="tx1"/>
                  </a:solidFill>
                  <a:latin typeface="+mn-lt"/>
                </a:rPr>
                <a:t>334 + 127 = </a:t>
              </a:r>
              <a:r>
                <a:rPr lang="en-GB" altLang="en-US" b="1" dirty="0">
                  <a:solidFill>
                    <a:schemeClr val="tx1"/>
                  </a:solidFill>
                  <a:latin typeface="+mn-lt"/>
                </a:rPr>
                <a:t>461</a:t>
              </a:r>
            </a:p>
          </p:txBody>
        </p:sp>
        <p:sp>
          <p:nvSpPr>
            <p:cNvPr id="34" name="TextBox 19"/>
            <p:cNvSpPr txBox="1">
              <a:spLocks noChangeArrowheads="1"/>
            </p:cNvSpPr>
            <p:nvPr/>
          </p:nvSpPr>
          <p:spPr bwMode="auto">
            <a:xfrm>
              <a:off x="2469304" y="4177047"/>
              <a:ext cx="2180495" cy="64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dirty="0">
                  <a:solidFill>
                    <a:schemeClr val="tx1"/>
                  </a:solidFill>
                  <a:latin typeface="+mn-lt"/>
                </a:rPr>
                <a:t>461 rounded to the nearest 10 is </a:t>
              </a:r>
              <a:r>
                <a:rPr lang="en-GB" altLang="en-US" b="1" dirty="0">
                  <a:solidFill>
                    <a:schemeClr val="tx1"/>
                  </a:solidFill>
                  <a:latin typeface="+mn-lt"/>
                </a:rPr>
                <a:t>460</a:t>
              </a:r>
            </a:p>
          </p:txBody>
        </p:sp>
        <p:sp>
          <p:nvSpPr>
            <p:cNvPr id="35" name="TextBox 20"/>
            <p:cNvSpPr txBox="1">
              <a:spLocks noChangeArrowheads="1"/>
            </p:cNvSpPr>
            <p:nvPr/>
          </p:nvSpPr>
          <p:spPr bwMode="auto">
            <a:xfrm>
              <a:off x="2469304" y="5012049"/>
              <a:ext cx="2224087" cy="6460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1C1C1C"/>
                  </a:solidFill>
                  <a:latin typeface="Sassoon Infant Rg" panose="02000503030000020003" pitchFamily="50" charset="0"/>
                  <a:ea typeface="Sassoon Infant Rg" panose="02000503030000020003" pitchFamily="50" charset="0"/>
                  <a:cs typeface="Sassoon Infant Rg" panose="02000503030000020003" pitchFamily="50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dirty="0">
                  <a:solidFill>
                    <a:schemeClr val="tx1"/>
                  </a:solidFill>
                  <a:latin typeface="+mn-lt"/>
                </a:rPr>
                <a:t>461 rounded to the nearest 100 is </a:t>
              </a:r>
              <a:r>
                <a:rPr lang="en-GB" altLang="en-US" b="1" dirty="0">
                  <a:solidFill>
                    <a:schemeClr val="tx1"/>
                  </a:solidFill>
                  <a:latin typeface="+mn-lt"/>
                </a:rPr>
                <a:t>500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0374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0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Custom 1">
      <a:majorFont>
        <a:latin typeface="Twinkl Sb"/>
        <a:ea typeface=""/>
        <a:cs typeface=""/>
      </a:majorFont>
      <a:minorFont>
        <a:latin typeface="Twink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1283</TotalTime>
  <Words>193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Twinkl</vt:lpstr>
      <vt:lpstr>Sassoon Infant Rg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Geography</dc:title>
  <dc:creator>Twinkl</dc:creator>
  <cp:lastModifiedBy>Twinkl LTD</cp:lastModifiedBy>
  <cp:revision>122</cp:revision>
  <dcterms:created xsi:type="dcterms:W3CDTF">2014-10-01T16:09:27Z</dcterms:created>
  <dcterms:modified xsi:type="dcterms:W3CDTF">2016-09-21T09:30:15Z</dcterms:modified>
</cp:coreProperties>
</file>