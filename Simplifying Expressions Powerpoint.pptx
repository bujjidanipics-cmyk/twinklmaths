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Nunito Sans" panose="00000500000000000000" pitchFamily="2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59">
          <p15:clr>
            <a:srgbClr val="A4A3A4"/>
          </p15:clr>
        </p15:guide>
        <p15:guide id="2" pos="2880">
          <p15:clr>
            <a:srgbClr val="A4A3A4"/>
          </p15:clr>
        </p15:guide>
        <p15:guide id="3" pos="5488">
          <p15:clr>
            <a:srgbClr val="A4A3A4"/>
          </p15:clr>
        </p15:guide>
        <p15:guide id="4" pos="295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4042">
          <p15:clr>
            <a:srgbClr val="A4A3A4"/>
          </p15:clr>
        </p15:guide>
        <p15:guide id="7">
          <p15:clr>
            <a:srgbClr val="A4A3A4"/>
          </p15:clr>
        </p15:guide>
        <p15:guide id="8" pos="5760">
          <p15:clr>
            <a:srgbClr val="A4A3A4"/>
          </p15:clr>
        </p15:guide>
        <p15:guide id="9" orient="horz">
          <p15:clr>
            <a:srgbClr val="A4A3A4"/>
          </p15:clr>
        </p15:guide>
        <p15:guide id="10" orient="horz" pos="4320">
          <p15:clr>
            <a:srgbClr val="A4A3A4"/>
          </p15:clr>
        </p15:guide>
        <p15:guide id="11" orient="horz" pos="686">
          <p15:clr>
            <a:srgbClr val="A4A3A4"/>
          </p15:clr>
        </p15:guide>
        <p15:guide id="12" orient="horz" pos="845">
          <p15:clr>
            <a:srgbClr val="A4A3A4"/>
          </p15:clr>
        </p15:guide>
        <p15:guide id="13" orient="horz" pos="278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3AnA+zp/yn1ZNSVEidAHyWOr8Y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nry Lim" initials="" lastIdx="6" clrIdx="0"/>
  <p:cmAuthor id="1" name="Jodi Garth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22" y="58"/>
      </p:cViewPr>
      <p:guideLst>
        <p:guide orient="horz" pos="459"/>
        <p:guide pos="2880"/>
        <p:guide pos="5488"/>
        <p:guide pos="295"/>
        <p:guide orient="horz" pos="2160"/>
        <p:guide orient="horz" pos="4042"/>
        <p:guide/>
        <p:guide pos="5760"/>
        <p:guide orient="horz"/>
        <p:guide orient="horz" pos="4320"/>
        <p:guide orient="horz" pos="686"/>
        <p:guide orient="horz" pos="845"/>
        <p:guide orient="horz"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">
  <p:cSld name="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% White">
  <p:cSld name="15% Whit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0" y="0"/>
            <a:ext cx="91379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% White">
  <p:cSld name="10% Whit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0" y="0"/>
            <a:ext cx="91379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% White">
  <p:cSld name="12% Whit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0" y="0"/>
            <a:ext cx="91379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% White">
  <p:cSld name="20% Whit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0" y="0"/>
            <a:ext cx="91379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% White">
  <p:cSld name="25% Whit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0" y="0"/>
            <a:ext cx="91379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5% White">
  <p:cSld name="35% Whit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0" y="0"/>
            <a:ext cx="91379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winkl.co.uk/resources/keystage3-ks3/keystage3-ks3-math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twinkl.co.uk/resources/keystage3-ks3/keystage3-ks3-math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/>
        </p:nvSpPr>
        <p:spPr>
          <a:xfrm>
            <a:off x="226494" y="891510"/>
            <a:ext cx="2547691" cy="1382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Simplifying Expressions</a:t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226494" y="533103"/>
            <a:ext cx="2547691" cy="35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Algebra</a:t>
            </a:r>
            <a:endParaRPr/>
          </a:p>
        </p:txBody>
      </p:sp>
      <p:sp>
        <p:nvSpPr>
          <p:cNvPr id="28" name="Google Shape;28;p1">
            <a:hlinkClick r:id="rId4"/>
          </p:cNvPr>
          <p:cNvSpPr/>
          <p:nvPr/>
        </p:nvSpPr>
        <p:spPr>
          <a:xfrm>
            <a:off x="1066030" y="6012210"/>
            <a:ext cx="1510301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479426" y="1013336"/>
            <a:ext cx="8196263" cy="1477937"/>
          </a:xfrm>
          <a:prstGeom prst="roundRect">
            <a:avLst>
              <a:gd name="adj" fmla="val 0"/>
            </a:avLst>
          </a:prstGeom>
          <a:solidFill>
            <a:srgbClr val="FFF9E7">
              <a:alpha val="9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79426" y="2819528"/>
            <a:ext cx="8196263" cy="2317389"/>
          </a:xfrm>
          <a:prstGeom prst="roundRect">
            <a:avLst>
              <a:gd name="adj" fmla="val 0"/>
            </a:avLst>
          </a:prstGeom>
          <a:solidFill>
            <a:srgbClr val="FFF9E7">
              <a:alpha val="9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684212" y="3663105"/>
            <a:ext cx="7775575" cy="1004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rPr>
              <a:t>To identify like terms in simple expressions.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rPr>
              <a:t>To simplify expressions containing more than one variable.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rPr>
              <a:t>To present a solution in its simplest terms. </a:t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479425" y="1878101"/>
            <a:ext cx="8196263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1C1C1C"/>
                </a:solidFill>
                <a:latin typeface="Open Sans"/>
                <a:ea typeface="Open Sans"/>
                <a:cs typeface="Open Sans"/>
                <a:sym typeface="Open Sans"/>
              </a:rPr>
              <a:t>To simplify expressions by collecting like terms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479427" y="1108147"/>
            <a:ext cx="8196263" cy="69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2000" tIns="216000" rIns="252000" bIns="180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6FAD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Learning Objective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479427" y="2947441"/>
            <a:ext cx="8196263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2000" tIns="216000" rIns="252000" bIns="180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6FAD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Success Criteria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Why Do I Need Algebra?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431800" y="1298622"/>
            <a:ext cx="828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Algebra has many uses. It is applied in the development of computer software and video games, as well as in the construction of buildings. </a:t>
            </a:r>
            <a:endParaRPr dirty="0"/>
          </a:p>
        </p:txBody>
      </p:sp>
      <p:pic>
        <p:nvPicPr>
          <p:cNvPr id="3" name="Picture 2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A9978E3C-121B-4CA9-87E0-4A205E0CF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635" y="2554880"/>
            <a:ext cx="5084730" cy="27938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Starting to Use Algebra</a:t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431800" y="2730500"/>
            <a:ext cx="8280400" cy="220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We want to find out the total cost of these shoes. </a:t>
            </a:r>
            <a:b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Each pair is the same price.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We could use the letter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to represent the cost of 1 pair. 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How many pairs have we got?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We have 3 pairs, so the total cost is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55" name="Google Shape;55;p4"/>
          <p:cNvSpPr/>
          <p:nvPr/>
        </p:nvSpPr>
        <p:spPr>
          <a:xfrm>
            <a:off x="2876550" y="5402133"/>
            <a:ext cx="3390900" cy="522287"/>
          </a:xfrm>
          <a:prstGeom prst="rect">
            <a:avLst/>
          </a:prstGeom>
          <a:noFill/>
          <a:ln w="12700" cap="flat" cmpd="sng">
            <a:solidFill>
              <a:srgbClr val="A46F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3</a:t>
            </a:r>
            <a:r>
              <a:rPr lang="en-GB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B4A2F5B2-184C-4852-9720-E21C6037F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1458692"/>
            <a:ext cx="2232742" cy="1171081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0B89BF45-238F-4B56-BD24-971B525AE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25" y="1458693"/>
            <a:ext cx="2232742" cy="1171081"/>
          </a:xfrm>
          <a:prstGeom prst="rect">
            <a:avLst/>
          </a:prstGeom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8740D4F7-3682-43F7-8CB2-E505741C9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458692"/>
            <a:ext cx="2232742" cy="11710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The Rules</a:t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431800" y="1298622"/>
            <a:ext cx="8280400" cy="337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Henry buys 4 apples. He then buys another 3 apples. </a:t>
            </a:r>
            <a:endParaRPr dirty="0"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</a:ext>
              </a:extLst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How much do they cost altogether? </a:t>
            </a:r>
            <a:endParaRPr dirty="0"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</a:ext>
              </a:extLst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</a:ext>
              </a:extLst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</a:ext>
                </a:extLst>
              </a:rPr>
              <a:t>Letters are used to represent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</a:ext>
                </a:extLst>
              </a:rPr>
              <a:t>variables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"/>
                  </a:ext>
                </a:extLst>
              </a:rPr>
              <a:t>; for this problem, we are going to let the letter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"/>
                  </a:ext>
                </a:extLst>
              </a:rPr>
              <a:t> stand for the cost of an apple. </a:t>
            </a:r>
            <a:endParaRPr dirty="0"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"/>
                </a:ext>
              </a:extLst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"/>
                </a:ext>
              </a:extLst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"/>
                  </a:ext>
                </a:extLst>
              </a:rPr>
              <a:t>The cost of 4 apples (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"/>
                  </a:ext>
                </a:extLst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</a:ext>
                </a:extLst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"/>
                  </a:ext>
                </a:extLst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9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0"/>
                  </a:ext>
                </a:extLst>
              </a:rPr>
              <a:t>) is 4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1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2"/>
                  </a:ext>
                </a:extLst>
              </a:rPr>
              <a:t>, and 3 apples (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3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4"/>
                  </a:ext>
                </a:extLst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5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6"/>
                  </a:ext>
                </a:extLst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7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8"/>
                  </a:ext>
                </a:extLst>
              </a:rPr>
              <a:t>) is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9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0"/>
                  </a:ext>
                </a:extLst>
              </a:rPr>
              <a:t>. Since Henry buys only apples, we only need the variable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1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2"/>
                  </a:ext>
                </a:extLst>
              </a:rPr>
              <a:t>.</a:t>
            </a:r>
            <a:endParaRPr dirty="0"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3"/>
                </a:ext>
              </a:extLst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4"/>
                </a:ext>
              </a:extLst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5"/>
                  </a:ext>
                </a:extLst>
              </a:rPr>
              <a:t>This is called collecting like terms, and allows us to use a simple calculation to find the solution: </a:t>
            </a:r>
            <a:endParaRPr dirty="0"/>
          </a:p>
        </p:txBody>
      </p:sp>
      <p:sp>
        <p:nvSpPr>
          <p:cNvPr id="62" name="Google Shape;62;p5"/>
          <p:cNvSpPr/>
          <p:nvPr/>
        </p:nvSpPr>
        <p:spPr>
          <a:xfrm>
            <a:off x="2876550" y="4859809"/>
            <a:ext cx="3390900" cy="522288"/>
          </a:xfrm>
          <a:prstGeom prst="rect">
            <a:avLst/>
          </a:prstGeom>
          <a:noFill/>
          <a:ln w="12700" cap="flat" cmpd="sng">
            <a:solidFill>
              <a:srgbClr val="A46F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28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lang="en-GB"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3</a:t>
            </a:r>
            <a:r>
              <a:rPr lang="en-GB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8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lang="en-GB"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GB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431799" y="5657490"/>
            <a:ext cx="8280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Open Sans"/>
              <a:buNone/>
            </a:pPr>
            <a:r>
              <a:rPr lang="en-GB" sz="14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Key Terms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Open Sans"/>
              <a:buNone/>
            </a:pPr>
            <a:r>
              <a:rPr lang="en-GB" sz="14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variable</a:t>
            </a:r>
            <a: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a number with an as-yet unknown value.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Open Sans"/>
              <a:buNone/>
            </a:pPr>
            <a:r>
              <a:rPr lang="en-GB" sz="14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like terms </a:t>
            </a:r>
            <a: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– terms that have the same variables raised to the same power.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Your Turn</a:t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431800" y="1298622"/>
            <a:ext cx="4140200" cy="38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6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 5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8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4245429" y="1303791"/>
            <a:ext cx="4466771" cy="389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= 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7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7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 5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-2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4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dirty="0"/>
          </a:p>
        </p:txBody>
      </p:sp>
      <p:sp>
        <p:nvSpPr>
          <p:cNvPr id="72" name="Google Shape;72;p6"/>
          <p:cNvSpPr/>
          <p:nvPr/>
        </p:nvSpPr>
        <p:spPr>
          <a:xfrm>
            <a:off x="752475" y="5554209"/>
            <a:ext cx="7639050" cy="585788"/>
          </a:xfrm>
          <a:prstGeom prst="rect">
            <a:avLst/>
          </a:prstGeom>
          <a:noFill/>
          <a:ln w="12700" cap="flat" cmpd="sng">
            <a:solidFill>
              <a:srgbClr val="A46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Tip: </a:t>
            </a: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we only have 1 of something, we simply write the letter: 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instead of 1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can subtract terms as well as add them.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The Rules</a:t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431800" y="1298622"/>
            <a:ext cx="8280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I want to work out the total cost of a number of apples and bananas.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431800" y="2329372"/>
            <a:ext cx="8280400" cy="453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Let’s begin by assigning a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variable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to each fruit. We’ll use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6"/>
                  </a:ext>
                </a:extLst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for the cost of an apple and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for the cost of a bunch of bananas. 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We now need to count up what we have: 5 apples and 3 bunches of bananas: </a:t>
            </a:r>
            <a:b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Collecting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like terms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gives us 5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and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So the total cost of the apples and bananas is 5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Remember: we do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not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know how much each apple or banana costs, so we can only collect the like terms to form an expression for the total cost.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endParaRPr sz="11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Equally, since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are different variables, we cannot simply add them together; 5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is the simplest form of the solution rather than 8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(this is multiplication rather than addition).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091BA-E50D-44F3-9682-0A2285433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655" y="1678585"/>
            <a:ext cx="796891" cy="6223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E876B4-B4A4-4E46-91CA-536980238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911" y="1678585"/>
            <a:ext cx="796891" cy="6223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C2AB58D-D8C2-450E-A110-EF44037B0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165" y="1678585"/>
            <a:ext cx="796891" cy="622397"/>
          </a:xfrm>
          <a:prstGeom prst="rect">
            <a:avLst/>
          </a:prstGeom>
        </p:spPr>
      </p:pic>
      <p:pic>
        <p:nvPicPr>
          <p:cNvPr id="4" name="Picture 3" descr="A picture containing tableware, dishware&#10;&#10;Description automatically generated">
            <a:extLst>
              <a:ext uri="{FF2B5EF4-FFF2-40B4-BE49-F238E27FC236}">
                <a16:creationId xmlns:a16="http://schemas.microsoft.com/office/drawing/2014/main" id="{067423CF-A697-444C-BF38-A28677358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00" y="1682129"/>
            <a:ext cx="562606" cy="615308"/>
          </a:xfrm>
          <a:prstGeom prst="rect">
            <a:avLst/>
          </a:prstGeom>
        </p:spPr>
      </p:pic>
      <p:pic>
        <p:nvPicPr>
          <p:cNvPr id="15" name="Picture 14" descr="A picture containing tableware, dishware&#10;&#10;Description automatically generated">
            <a:extLst>
              <a:ext uri="{FF2B5EF4-FFF2-40B4-BE49-F238E27FC236}">
                <a16:creationId xmlns:a16="http://schemas.microsoft.com/office/drawing/2014/main" id="{9E57549E-3A60-4332-8F61-486DDAFF7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4771" y="1682129"/>
            <a:ext cx="562606" cy="615308"/>
          </a:xfrm>
          <a:prstGeom prst="rect">
            <a:avLst/>
          </a:prstGeom>
        </p:spPr>
      </p:pic>
      <p:pic>
        <p:nvPicPr>
          <p:cNvPr id="16" name="Picture 15" descr="A picture containing tableware, dishware&#10;&#10;Description automatically generated">
            <a:extLst>
              <a:ext uri="{FF2B5EF4-FFF2-40B4-BE49-F238E27FC236}">
                <a16:creationId xmlns:a16="http://schemas.microsoft.com/office/drawing/2014/main" id="{5F6D2108-35BA-4D42-9AE4-CBEEE3DD1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7742" y="1682129"/>
            <a:ext cx="562606" cy="615308"/>
          </a:xfrm>
          <a:prstGeom prst="rect">
            <a:avLst/>
          </a:prstGeom>
        </p:spPr>
      </p:pic>
      <p:pic>
        <p:nvPicPr>
          <p:cNvPr id="23" name="Picture 22" descr="A picture containing tableware, dishware&#10;&#10;Description automatically generated">
            <a:extLst>
              <a:ext uri="{FF2B5EF4-FFF2-40B4-BE49-F238E27FC236}">
                <a16:creationId xmlns:a16="http://schemas.microsoft.com/office/drawing/2014/main" id="{B0716E52-26E1-4174-A2A4-16ABB6C36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713" y="1682129"/>
            <a:ext cx="562606" cy="615308"/>
          </a:xfrm>
          <a:prstGeom prst="rect">
            <a:avLst/>
          </a:prstGeom>
        </p:spPr>
      </p:pic>
      <p:pic>
        <p:nvPicPr>
          <p:cNvPr id="24" name="Picture 23" descr="A picture containing tableware, dishware&#10;&#10;Description automatically generated">
            <a:extLst>
              <a:ext uri="{FF2B5EF4-FFF2-40B4-BE49-F238E27FC236}">
                <a16:creationId xmlns:a16="http://schemas.microsoft.com/office/drawing/2014/main" id="{4C2E52E6-D15C-401C-8839-4D036C1DB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684" y="1682129"/>
            <a:ext cx="562606" cy="6153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Your Turn</a:t>
            </a:r>
            <a:endParaRPr/>
          </a:p>
        </p:txBody>
      </p:sp>
      <p:sp>
        <p:nvSpPr>
          <p:cNvPr id="93" name="Google Shape;93;p8"/>
          <p:cNvSpPr txBox="1"/>
          <p:nvPr/>
        </p:nvSpPr>
        <p:spPr>
          <a:xfrm>
            <a:off x="431800" y="1298622"/>
            <a:ext cx="4140200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8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4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lang="en-GB" sz="1800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8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9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5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3</a:t>
            </a:r>
            <a:r>
              <a:rPr lang="en-GB" sz="1800" b="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4245429" y="1298622"/>
            <a:ext cx="4466771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8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lang="en-GB" dirty="0">
              <a:ea typeface="Times New Roman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endParaRPr sz="18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5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4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+ 8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Expression Games</a:t>
            </a:r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431800" y="1298622"/>
            <a:ext cx="6696788" cy="261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Cut out the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7"/>
                  </a:ext>
                </a:extLst>
              </a:rPr>
              <a:t>Matching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8"/>
                  </a:ext>
                </a:extLst>
              </a:rPr>
              <a:t> Cards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9"/>
                  </a:ext>
                </a:extLst>
              </a:rPr>
              <a:t>. 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endParaRPr sz="14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You should have 16 cards.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b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Each card matches with another card. You should have a pair: one card is its partner expressed in its simplest form.</a:t>
            </a:r>
            <a:b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Collect the like terms to find the 8 pairs.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Answers</a:t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431800" y="1298622"/>
            <a:ext cx="8280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lvl="0">
              <a:buClr>
                <a:srgbClr val="262626"/>
              </a:buClr>
              <a:buSzPts val="1800"/>
            </a:pPr>
            <a:r>
              <a:rPr lang="en-GB" sz="1800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Cut out the </a:t>
            </a:r>
            <a:r>
              <a:rPr lang="en-GB" sz="1800" b="1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37"/>
                  </a:ext>
                </a:extLst>
              </a:rPr>
              <a:t>Matching</a:t>
            </a:r>
            <a:r>
              <a:rPr lang="en-GB" sz="1800" b="1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38"/>
                  </a:ext>
                </a:extLst>
              </a:rPr>
              <a:t> Cards</a:t>
            </a:r>
            <a:r>
              <a:rPr lang="en-GB" sz="1800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39"/>
                  </a:ext>
                </a:extLst>
              </a:rPr>
              <a:t>. </a:t>
            </a:r>
            <a:endParaRPr lang="en-GB" dirty="0"/>
          </a:p>
        </p:txBody>
      </p:sp>
      <p:sp>
        <p:nvSpPr>
          <p:cNvPr id="107" name="Google Shape;107;p10"/>
          <p:cNvSpPr txBox="1"/>
          <p:nvPr/>
        </p:nvSpPr>
        <p:spPr>
          <a:xfrm>
            <a:off x="431800" y="1742613"/>
            <a:ext cx="4140200" cy="41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+ 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3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+ 6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3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Times New Roman"/>
              <a:buNone/>
            </a:pP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+ 7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5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Times New Roman"/>
              <a:buNone/>
            </a:pPr>
            <a:endParaRPr sz="80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-4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3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6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3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i="1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+ 4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5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dirty="0"/>
          </a:p>
        </p:txBody>
      </p:sp>
      <p:sp>
        <p:nvSpPr>
          <p:cNvPr id="108" name="Google Shape;108;p10"/>
          <p:cNvSpPr txBox="1"/>
          <p:nvPr/>
        </p:nvSpPr>
        <p:spPr>
          <a:xfrm>
            <a:off x="4245429" y="1742613"/>
            <a:ext cx="4140200" cy="41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4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b="1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+ 4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b="1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11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b="1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12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4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b="1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4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+ 5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b="1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-7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Nunito Sans"/>
                <a:ea typeface="Nunito Sans"/>
                <a:cs typeface="Nunito Sans"/>
                <a:sym typeface="Nunito Sans"/>
              </a:rPr>
              <a:t>–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8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b="1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2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GB" dirty="0">
              <a:ea typeface="Times New Roma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endParaRPr sz="800" b="1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10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– 3</a:t>
            </a:r>
            <a:r>
              <a:rPr lang="en-GB" sz="1800" b="1" i="1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109" name="Google Shape;109;p10"/>
          <p:cNvSpPr/>
          <p:nvPr/>
        </p:nvSpPr>
        <p:spPr>
          <a:xfrm>
            <a:off x="366486" y="6124575"/>
            <a:ext cx="82804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Remember: </a:t>
            </a: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function in front of the variable is important. </a:t>
            </a:r>
            <a:b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we are subtracting the variable, we treat it as a negative number.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Memory Pairs</a:t>
            </a:r>
            <a:endParaRPr/>
          </a:p>
        </p:txBody>
      </p:sp>
      <p:sp>
        <p:nvSpPr>
          <p:cNvPr id="115" name="Google Shape;115;p11"/>
          <p:cNvSpPr txBox="1"/>
          <p:nvPr/>
        </p:nvSpPr>
        <p:spPr>
          <a:xfrm>
            <a:off x="431800" y="1298622"/>
            <a:ext cx="8280400" cy="4632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Shuffle one set of cards and place them face down on the table. You only need one set of cards between you. </a:t>
            </a:r>
            <a:b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With your partner, decide who will go first.</a:t>
            </a:r>
            <a:b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Player One turns over 2 cards.  </a:t>
            </a:r>
            <a:b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If they match, they claim that pair of cards.  </a:t>
            </a:r>
            <a:b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If they do not match, </a:t>
            </a:r>
            <a:r>
              <a:rPr lang="en-GB" sz="1800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turn them back</a:t>
            </a: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face down.</a:t>
            </a:r>
            <a:b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Player Two now has their turn.</a:t>
            </a:r>
            <a:b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Keep going until all the cards are claimed.  </a:t>
            </a:r>
            <a:br>
              <a:rPr lang="en-GB" sz="14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 dirty="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The winner is the person with the most pairs of cards.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2D Perimeters</a:t>
            </a:r>
            <a:endParaRPr/>
          </a:p>
        </p:txBody>
      </p:sp>
      <p:sp>
        <p:nvSpPr>
          <p:cNvPr id="121" name="Google Shape;121;p12"/>
          <p:cNvSpPr txBox="1"/>
          <p:nvPr/>
        </p:nvSpPr>
        <p:spPr>
          <a:xfrm>
            <a:off x="431800" y="1298622"/>
            <a:ext cx="8280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None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Give a fully simplified expression for the perimeter of each of the shapes.</a:t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1252538" y="2074352"/>
            <a:ext cx="1147762" cy="884237"/>
          </a:xfrm>
          <a:prstGeom prst="rect">
            <a:avLst/>
          </a:prstGeom>
          <a:solidFill>
            <a:srgbClr val="A46F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4222750" y="2012439"/>
            <a:ext cx="723900" cy="1160463"/>
          </a:xfrm>
          <a:prstGeom prst="rect">
            <a:avLst/>
          </a:prstGeom>
          <a:solidFill>
            <a:srgbClr val="6C9D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6351588" y="2215639"/>
            <a:ext cx="1914525" cy="376238"/>
          </a:xfrm>
          <a:prstGeom prst="rect">
            <a:avLst/>
          </a:prstGeom>
          <a:solidFill>
            <a:srgbClr val="EC6D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897313" y="3807902"/>
            <a:ext cx="1281112" cy="739775"/>
          </a:xfrm>
          <a:prstGeom prst="parallelogram">
            <a:avLst>
              <a:gd name="adj" fmla="val 25000"/>
            </a:avLst>
          </a:prstGeom>
          <a:solidFill>
            <a:srgbClr val="A46F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1085850" y="3742814"/>
            <a:ext cx="1347788" cy="709613"/>
          </a:xfrm>
          <a:prstGeom prst="trapezoid">
            <a:avLst>
              <a:gd name="adj" fmla="val 25000"/>
            </a:avLst>
          </a:prstGeom>
          <a:solidFill>
            <a:srgbClr val="EC6D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6503988" y="3339589"/>
            <a:ext cx="1155700" cy="1004888"/>
          </a:xfrm>
          <a:prstGeom prst="triangle">
            <a:avLst>
              <a:gd name="adj" fmla="val 50000"/>
            </a:avLst>
          </a:prstGeom>
          <a:solidFill>
            <a:srgbClr val="6C9D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1252538" y="5163627"/>
            <a:ext cx="1058862" cy="1014412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6C9D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6743700" y="5285864"/>
            <a:ext cx="1130300" cy="8001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A46F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3932238" y="5465252"/>
            <a:ext cx="1279525" cy="655637"/>
          </a:xfrm>
          <a:prstGeom prst="chevron">
            <a:avLst>
              <a:gd name="adj" fmla="val 50000"/>
            </a:avLst>
          </a:prstGeom>
          <a:solidFill>
            <a:srgbClr val="EC6D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1595438" y="1756852"/>
            <a:ext cx="461962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dirty="0"/>
          </a:p>
        </p:txBody>
      </p:sp>
      <p:sp>
        <p:nvSpPr>
          <p:cNvPr id="132" name="Google Shape;132;p12"/>
          <p:cNvSpPr txBox="1"/>
          <p:nvPr/>
        </p:nvSpPr>
        <p:spPr>
          <a:xfrm>
            <a:off x="1595438" y="2891914"/>
            <a:ext cx="461962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2400300" y="2312477"/>
            <a:ext cx="461963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34" name="Google Shape;134;p12"/>
          <p:cNvSpPr txBox="1"/>
          <p:nvPr/>
        </p:nvSpPr>
        <p:spPr>
          <a:xfrm>
            <a:off x="857250" y="2310889"/>
            <a:ext cx="460375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35" name="Google Shape;135;p12"/>
          <p:cNvSpPr txBox="1"/>
          <p:nvPr/>
        </p:nvSpPr>
        <p:spPr>
          <a:xfrm>
            <a:off x="3897313" y="2355339"/>
            <a:ext cx="461962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4883150" y="2355339"/>
            <a:ext cx="46196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4468813" y="3101464"/>
            <a:ext cx="230187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4454525" y="1707639"/>
            <a:ext cx="244475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>
            <a:off x="7086599" y="2595052"/>
            <a:ext cx="56197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140" name="Google Shape;140;p12"/>
          <p:cNvSpPr txBox="1"/>
          <p:nvPr/>
        </p:nvSpPr>
        <p:spPr>
          <a:xfrm>
            <a:off x="7086600" y="1904489"/>
            <a:ext cx="56197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141" name="Google Shape;141;p12"/>
          <p:cNvSpPr txBox="1"/>
          <p:nvPr/>
        </p:nvSpPr>
        <p:spPr>
          <a:xfrm>
            <a:off x="6094413" y="2215639"/>
            <a:ext cx="242887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8280401" y="2202939"/>
            <a:ext cx="257175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43" name="Google Shape;143;p12"/>
          <p:cNvSpPr txBox="1"/>
          <p:nvPr/>
        </p:nvSpPr>
        <p:spPr>
          <a:xfrm>
            <a:off x="4387850" y="3488814"/>
            <a:ext cx="420688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44" name="Google Shape;144;p12"/>
          <p:cNvSpPr txBox="1"/>
          <p:nvPr/>
        </p:nvSpPr>
        <p:spPr>
          <a:xfrm>
            <a:off x="4217988" y="4531802"/>
            <a:ext cx="51435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45" name="Google Shape;145;p12"/>
          <p:cNvSpPr txBox="1"/>
          <p:nvPr/>
        </p:nvSpPr>
        <p:spPr>
          <a:xfrm>
            <a:off x="5040313" y="4007927"/>
            <a:ext cx="51435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46" name="Google Shape;146;p12"/>
          <p:cNvSpPr txBox="1"/>
          <p:nvPr/>
        </p:nvSpPr>
        <p:spPr>
          <a:xfrm>
            <a:off x="3640138" y="3987289"/>
            <a:ext cx="51435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47" name="Google Shape;147;p12"/>
          <p:cNvSpPr txBox="1"/>
          <p:nvPr/>
        </p:nvSpPr>
        <p:spPr>
          <a:xfrm>
            <a:off x="1644650" y="6178039"/>
            <a:ext cx="42386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48" name="Google Shape;148;p12"/>
          <p:cNvSpPr txBox="1"/>
          <p:nvPr/>
        </p:nvSpPr>
        <p:spPr>
          <a:xfrm>
            <a:off x="995363" y="5714489"/>
            <a:ext cx="423862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49" name="Google Shape;149;p12"/>
          <p:cNvSpPr txBox="1"/>
          <p:nvPr/>
        </p:nvSpPr>
        <p:spPr>
          <a:xfrm>
            <a:off x="1978025" y="5083052"/>
            <a:ext cx="42545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50" name="Google Shape;150;p12"/>
          <p:cNvSpPr txBox="1"/>
          <p:nvPr/>
        </p:nvSpPr>
        <p:spPr>
          <a:xfrm>
            <a:off x="2143125" y="5679564"/>
            <a:ext cx="42386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51" name="Google Shape;151;p12"/>
          <p:cNvSpPr txBox="1"/>
          <p:nvPr/>
        </p:nvSpPr>
        <p:spPr>
          <a:xfrm>
            <a:off x="1331913" y="5083052"/>
            <a:ext cx="223837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52" name="Google Shape;152;p12"/>
          <p:cNvSpPr txBox="1"/>
          <p:nvPr/>
        </p:nvSpPr>
        <p:spPr>
          <a:xfrm>
            <a:off x="1546225" y="3441189"/>
            <a:ext cx="460375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53" name="Google Shape;153;p12"/>
          <p:cNvSpPr txBox="1"/>
          <p:nvPr/>
        </p:nvSpPr>
        <p:spPr>
          <a:xfrm>
            <a:off x="1579563" y="4403214"/>
            <a:ext cx="492125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54" name="Google Shape;154;p12"/>
          <p:cNvSpPr txBox="1"/>
          <p:nvPr/>
        </p:nvSpPr>
        <p:spPr>
          <a:xfrm>
            <a:off x="904875" y="3903152"/>
            <a:ext cx="425450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155" name="Google Shape;155;p12"/>
          <p:cNvSpPr txBox="1"/>
          <p:nvPr/>
        </p:nvSpPr>
        <p:spPr>
          <a:xfrm>
            <a:off x="2330450" y="3903152"/>
            <a:ext cx="423863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156" name="Google Shape;156;p12"/>
          <p:cNvSpPr txBox="1"/>
          <p:nvPr/>
        </p:nvSpPr>
        <p:spPr>
          <a:xfrm>
            <a:off x="6448425" y="3542789"/>
            <a:ext cx="423863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</p:txBody>
      </p:sp>
      <p:sp>
        <p:nvSpPr>
          <p:cNvPr id="157" name="Google Shape;157;p12"/>
          <p:cNvSpPr txBox="1"/>
          <p:nvPr/>
        </p:nvSpPr>
        <p:spPr>
          <a:xfrm>
            <a:off x="7291388" y="3549139"/>
            <a:ext cx="423862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</p:txBody>
      </p:sp>
      <p:sp>
        <p:nvSpPr>
          <p:cNvPr id="158" name="Google Shape;158;p12"/>
          <p:cNvSpPr txBox="1"/>
          <p:nvPr/>
        </p:nvSpPr>
        <p:spPr>
          <a:xfrm>
            <a:off x="6916738" y="4334952"/>
            <a:ext cx="423862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5002830" y="5333489"/>
            <a:ext cx="46196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60" name="Google Shape;160;p12"/>
          <p:cNvSpPr txBox="1"/>
          <p:nvPr/>
        </p:nvSpPr>
        <p:spPr>
          <a:xfrm>
            <a:off x="5002830" y="5863714"/>
            <a:ext cx="460375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61" name="Google Shape;161;p12"/>
          <p:cNvSpPr txBox="1"/>
          <p:nvPr/>
        </p:nvSpPr>
        <p:spPr>
          <a:xfrm>
            <a:off x="4214813" y="5141402"/>
            <a:ext cx="460375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4205288" y="6089139"/>
            <a:ext cx="461962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63" name="Google Shape;163;p12"/>
          <p:cNvSpPr txBox="1"/>
          <p:nvPr/>
        </p:nvSpPr>
        <p:spPr>
          <a:xfrm>
            <a:off x="3828256" y="5454139"/>
            <a:ext cx="460375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3829844" y="5728777"/>
            <a:ext cx="461962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165" name="Google Shape;165;p12"/>
          <p:cNvSpPr txBox="1"/>
          <p:nvPr/>
        </p:nvSpPr>
        <p:spPr>
          <a:xfrm>
            <a:off x="6950462" y="4958839"/>
            <a:ext cx="7207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600" b="0" i="1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–</a:t>
            </a:r>
            <a:r>
              <a:rPr lang="en-GB" sz="1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endParaRPr dirty="0"/>
          </a:p>
        </p:txBody>
      </p:sp>
      <p:sp>
        <p:nvSpPr>
          <p:cNvPr id="166" name="Google Shape;166;p12"/>
          <p:cNvSpPr txBox="1"/>
          <p:nvPr/>
        </p:nvSpPr>
        <p:spPr>
          <a:xfrm>
            <a:off x="6605976" y="5252527"/>
            <a:ext cx="67945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67" name="Google Shape;167;p12"/>
          <p:cNvSpPr txBox="1"/>
          <p:nvPr/>
        </p:nvSpPr>
        <p:spPr>
          <a:xfrm>
            <a:off x="7755749" y="5247764"/>
            <a:ext cx="67945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6598038" y="5706552"/>
            <a:ext cx="681038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69" name="Google Shape;169;p12"/>
          <p:cNvSpPr txBox="1"/>
          <p:nvPr/>
        </p:nvSpPr>
        <p:spPr>
          <a:xfrm>
            <a:off x="7767638" y="5706552"/>
            <a:ext cx="681037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79" name="Google Shape;179;p12"/>
          <p:cNvSpPr txBox="1"/>
          <p:nvPr/>
        </p:nvSpPr>
        <p:spPr>
          <a:xfrm>
            <a:off x="6955065" y="6103370"/>
            <a:ext cx="6980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6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–</a:t>
            </a:r>
            <a:r>
              <a:rPr lang="en-GB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B9B3E-D761-45BE-81B6-E40159C9D203}"/>
              </a:ext>
            </a:extLst>
          </p:cNvPr>
          <p:cNvSpPr txBox="1"/>
          <p:nvPr/>
        </p:nvSpPr>
        <p:spPr>
          <a:xfrm>
            <a:off x="875083" y="1662180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9E9514-2011-4FF0-8AC9-AC9E76D9F121}"/>
              </a:ext>
            </a:extLst>
          </p:cNvPr>
          <p:cNvSpPr txBox="1"/>
          <p:nvPr/>
        </p:nvSpPr>
        <p:spPr>
          <a:xfrm>
            <a:off x="3640138" y="1667536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8D9F65-F722-4267-B88E-F00B24ECCAFE}"/>
              </a:ext>
            </a:extLst>
          </p:cNvPr>
          <p:cNvSpPr txBox="1"/>
          <p:nvPr/>
        </p:nvSpPr>
        <p:spPr>
          <a:xfrm>
            <a:off x="6307137" y="1662779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2C0C0F-B64A-46C5-B30C-9DF307BFFDA6}"/>
              </a:ext>
            </a:extLst>
          </p:cNvPr>
          <p:cNvSpPr txBox="1"/>
          <p:nvPr/>
        </p:nvSpPr>
        <p:spPr>
          <a:xfrm>
            <a:off x="873624" y="3308828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81F606-C122-4E28-AC37-C050472DD521}"/>
              </a:ext>
            </a:extLst>
          </p:cNvPr>
          <p:cNvSpPr txBox="1"/>
          <p:nvPr/>
        </p:nvSpPr>
        <p:spPr>
          <a:xfrm>
            <a:off x="3638679" y="3314184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2D3E91-F201-4D79-99A4-AFF74D5E1CC4}"/>
              </a:ext>
            </a:extLst>
          </p:cNvPr>
          <p:cNvSpPr txBox="1"/>
          <p:nvPr/>
        </p:nvSpPr>
        <p:spPr>
          <a:xfrm>
            <a:off x="6305678" y="3309427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58E154-80D3-4F0E-B74A-0CC8F5AADE34}"/>
              </a:ext>
            </a:extLst>
          </p:cNvPr>
          <p:cNvSpPr txBox="1"/>
          <p:nvPr/>
        </p:nvSpPr>
        <p:spPr>
          <a:xfrm>
            <a:off x="875454" y="4895326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BD411D-61FF-4261-A1EC-6A2AB64CD5C4}"/>
              </a:ext>
            </a:extLst>
          </p:cNvPr>
          <p:cNvSpPr txBox="1"/>
          <p:nvPr/>
        </p:nvSpPr>
        <p:spPr>
          <a:xfrm>
            <a:off x="3640509" y="4900682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E92244-C8B5-4201-8B7F-3AD28A936510}"/>
              </a:ext>
            </a:extLst>
          </p:cNvPr>
          <p:cNvSpPr txBox="1"/>
          <p:nvPr/>
        </p:nvSpPr>
        <p:spPr>
          <a:xfrm>
            <a:off x="6307508" y="4895925"/>
            <a:ext cx="392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/>
        </p:nvSpPr>
        <p:spPr>
          <a:xfrm>
            <a:off x="0" y="603250"/>
            <a:ext cx="91440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A56FAD"/>
                </a:solidFill>
                <a:latin typeface="Open Sans"/>
                <a:ea typeface="Open Sans"/>
                <a:cs typeface="Open Sans"/>
                <a:sym typeface="Open Sans"/>
              </a:rPr>
              <a:t>Answers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431800" y="1298622"/>
            <a:ext cx="82804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br>
              <a:rPr lang="en-GB"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br>
              <a:rPr lang="en-GB"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br>
              <a:rPr lang="en-GB"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br>
              <a:rPr lang="en-GB"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+ 4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br>
              <a:rPr lang="en-GB"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+ 3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br>
              <a:rPr lang="en-GB"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br>
              <a:rPr lang="en-GB"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+ 4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+ 2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br>
              <a:rPr lang="en-GB"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AutoNum type="alphaLcPeriod"/>
            </a:pPr>
            <a:r>
              <a:rPr lang="en-GB" sz="18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lang="en-GB" sz="18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>
            <a:hlinkClick r:id="rId4"/>
          </p:cNvPr>
          <p:cNvSpPr/>
          <p:nvPr/>
        </p:nvSpPr>
        <p:spPr>
          <a:xfrm>
            <a:off x="3816849" y="3162043"/>
            <a:ext cx="1510301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1061</Words>
  <Application>Microsoft Office PowerPoint</Application>
  <PresentationFormat>On-screen Show (4:3)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Open Sans</vt:lpstr>
      <vt:lpstr>Nunito Sans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Arthur McDonald [sd16aam]</dc:creator>
  <cp:lastModifiedBy>Arthur McDonald [sd16aam]</cp:lastModifiedBy>
  <cp:revision>7</cp:revision>
  <dcterms:created xsi:type="dcterms:W3CDTF">2020-12-14T13:42:32Z</dcterms:created>
  <dcterms:modified xsi:type="dcterms:W3CDTF">2020-12-21T18:30:35Z</dcterms:modified>
</cp:coreProperties>
</file>