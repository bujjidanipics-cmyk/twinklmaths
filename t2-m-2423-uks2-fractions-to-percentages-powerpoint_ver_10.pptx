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 id="2147483672" r:id="rId2"/>
  </p:sldMasterIdLst>
  <p:notesMasterIdLst>
    <p:notesMasterId r:id="rId14"/>
  </p:notesMasterIdLst>
  <p:handoutMasterIdLst>
    <p:handoutMasterId r:id="rId15"/>
  </p:handoutMasterIdLst>
  <p:sldIdLst>
    <p:sldId id="268" r:id="rId3"/>
    <p:sldId id="264" r:id="rId4"/>
    <p:sldId id="272" r:id="rId5"/>
    <p:sldId id="273" r:id="rId6"/>
    <p:sldId id="274" r:id="rId7"/>
    <p:sldId id="275" r:id="rId8"/>
    <p:sldId id="276" r:id="rId9"/>
    <p:sldId id="277" r:id="rId10"/>
    <p:sldId id="278" r:id="rId11"/>
    <p:sldId id="271" r:id="rId12"/>
    <p:sldId id="270" r:id="rId13"/>
  </p:sldIdLst>
  <p:sldSz cx="9144000" cy="6858000" type="screen4x3"/>
  <p:notesSz cx="6858000" cy="9144000"/>
  <p:embeddedFontLst>
    <p:embeddedFont>
      <p:font typeface="Roboto" panose="02000000000000000000" pitchFamily="2" charset="0"/>
      <p:regular r:id="rId16"/>
      <p:bold r:id="rId17"/>
      <p:italic r:id="rId18"/>
      <p:boldItalic r:id="rId19"/>
    </p:embeddedFont>
    <p:embeddedFont>
      <p:font typeface="Twinkl" panose="02000000000000000000" pitchFamily="2" charset="77"/>
      <p:regular r:id="rId2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4" pos="340" userDrawn="1">
          <p15:clr>
            <a:srgbClr val="A4A3A4"/>
          </p15:clr>
        </p15:guide>
        <p15:guide id="5" orient="horz" pos="3974" userDrawn="1">
          <p15:clr>
            <a:srgbClr val="A4A3A4"/>
          </p15:clr>
        </p15:guide>
        <p15:guide id="6" pos="5420" userDrawn="1">
          <p15:clr>
            <a:srgbClr val="A4A3A4"/>
          </p15:clr>
        </p15:guide>
        <p15:guide id="7" orient="horz" pos="346" userDrawn="1">
          <p15:clr>
            <a:srgbClr val="A4A3A4"/>
          </p15:clr>
        </p15:guide>
        <p15:guide id="8" pos="476" userDrawn="1">
          <p15:clr>
            <a:srgbClr val="A4A3A4"/>
          </p15:clr>
        </p15:guide>
        <p15:guide id="9" orient="horz" pos="482" userDrawn="1">
          <p15:clr>
            <a:srgbClr val="A4A3A4"/>
          </p15:clr>
        </p15:guide>
        <p15:guide id="10" orient="horz" pos="3838" userDrawn="1">
          <p15:clr>
            <a:srgbClr val="A4A3A4"/>
          </p15:clr>
        </p15:guide>
        <p15:guide id="11" pos="528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A8E7"/>
    <a:srgbClr val="679428"/>
    <a:srgbClr val="AEDFF9"/>
    <a:srgbClr val="25B7BC"/>
    <a:srgbClr val="F9BD95"/>
    <a:srgbClr val="A872B0"/>
    <a:srgbClr val="FFEEAA"/>
    <a:srgbClr val="FED282"/>
    <a:srgbClr val="BC0105"/>
    <a:srgbClr val="21A6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7" autoAdjust="0"/>
    <p:restoredTop sz="94660"/>
  </p:normalViewPr>
  <p:slideViewPr>
    <p:cSldViewPr snapToGrid="0" showGuides="1">
      <p:cViewPr varScale="1">
        <p:scale>
          <a:sx n="127" d="100"/>
          <a:sy n="127" d="100"/>
        </p:scale>
        <p:origin x="1336" y="176"/>
      </p:cViewPr>
      <p:guideLst>
        <p:guide orient="horz" pos="2160"/>
        <p:guide pos="2880"/>
        <p:guide pos="340"/>
        <p:guide orient="horz" pos="3974"/>
        <p:guide pos="5420"/>
        <p:guide orient="horz" pos="346"/>
        <p:guide pos="476"/>
        <p:guide orient="horz" pos="482"/>
        <p:guide orient="horz" pos="3838"/>
        <p:guide pos="5284"/>
      </p:guideLst>
    </p:cSldViewPr>
  </p:slideViewPr>
  <p:notesTextViewPr>
    <p:cViewPr>
      <p:scale>
        <a:sx n="3" d="2"/>
        <a:sy n="3" d="2"/>
      </p:scale>
      <p:origin x="0" y="0"/>
    </p:cViewPr>
  </p:notesTextViewPr>
  <p:notesViewPr>
    <p:cSldViewPr snapToGrid="0" showGuide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3.fntdata"/><Relationship Id="rId3" Type="http://schemas.openxmlformats.org/officeDocument/2006/relationships/slide" Target="slides/slide1.xml"/><Relationship Id="rId21" Type="http://schemas.openxmlformats.org/officeDocument/2006/relationships/font" Target="fonts/font6.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handoutMaster" Target="handoutMasters/handoutMaster1.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B34F151-63AC-41CE-96F5-7702E930870C}" type="datetimeFigureOut">
              <a:rPr lang="en-GB" smtClean="0"/>
              <a:t>09/01/2025</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76B846-B279-40AC-BFF5-DBC4013370C2}" type="slidenum">
              <a:rPr lang="en-GB" smtClean="0"/>
              <a:t>‹#›</a:t>
            </a:fld>
            <a:endParaRPr lang="en-GB"/>
          </a:p>
        </p:txBody>
      </p:sp>
    </p:spTree>
    <p:extLst>
      <p:ext uri="{BB962C8B-B14F-4D97-AF65-F5344CB8AC3E}">
        <p14:creationId xmlns:p14="http://schemas.microsoft.com/office/powerpoint/2010/main" val="26453970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02C5D1-7818-41B5-ABAD-5E4B38A5388F}" type="datetimeFigureOut">
              <a:rPr lang="en-GB" smtClean="0"/>
              <a:t>09/01/2025</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21341-850D-40E1-BB3D-87946DC9B06D}" type="slidenum">
              <a:rPr lang="en-GB" smtClean="0"/>
              <a:t>‹#›</a:t>
            </a:fld>
            <a:endParaRPr lang="en-GB"/>
          </a:p>
        </p:txBody>
      </p:sp>
    </p:spTree>
    <p:extLst>
      <p:ext uri="{BB962C8B-B14F-4D97-AF65-F5344CB8AC3E}">
        <p14:creationId xmlns:p14="http://schemas.microsoft.com/office/powerpoint/2010/main" val="847048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hyperlink" Target="https://www.twinkl.co.uk/"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www.twinkl.co.uk/"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hyperlink" Target="mailto:twinklcares@twinkl.co.uk" TargetMode="Externa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a:hlinkClick r:id="rId2"/>
            <a:extLst>
              <a:ext uri="{FF2B5EF4-FFF2-40B4-BE49-F238E27FC236}">
                <a16:creationId xmlns:a16="http://schemas.microsoft.com/office/drawing/2014/main" id="{FAD4A2E3-AA79-223F-119A-FF4A9BE7B7C1}"/>
              </a:ext>
            </a:extLst>
          </p:cNvPr>
          <p:cNvSpPr/>
          <p:nvPr userDrawn="1"/>
        </p:nvSpPr>
        <p:spPr>
          <a:xfrm>
            <a:off x="0" y="5824568"/>
            <a:ext cx="9144000" cy="10334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37040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079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ms Slide">
    <p:spTree>
      <p:nvGrpSpPr>
        <p:cNvPr id="1" name=""/>
        <p:cNvGrpSpPr/>
        <p:nvPr/>
      </p:nvGrpSpPr>
      <p:grpSpPr>
        <a:xfrm>
          <a:off x="0" y="0"/>
          <a:ext cx="0" cy="0"/>
          <a:chOff x="0" y="0"/>
          <a:chExt cx="0" cy="0"/>
        </a:xfrm>
      </p:grpSpPr>
      <p:sp>
        <p:nvSpPr>
          <p:cNvPr id="2" name="Rounded Rectangle 24">
            <a:extLst>
              <a:ext uri="{FF2B5EF4-FFF2-40B4-BE49-F238E27FC236}">
                <a16:creationId xmlns:a16="http://schemas.microsoft.com/office/drawing/2014/main" id="{D00ECC8E-1AC3-4E6C-A19B-0A141ABB9071}"/>
              </a:ext>
            </a:extLst>
          </p:cNvPr>
          <p:cNvSpPr/>
          <p:nvPr userDrawn="1"/>
        </p:nvSpPr>
        <p:spPr bwMode="auto">
          <a:xfrm>
            <a:off x="503239" y="2930434"/>
            <a:ext cx="8137524" cy="3414803"/>
          </a:xfrm>
          <a:prstGeom prst="roundRect">
            <a:avLst>
              <a:gd name="adj" fmla="val 602"/>
            </a:avLst>
          </a:prstGeom>
          <a:solidFill>
            <a:srgbClr val="FFF9E7"/>
          </a:solidFill>
          <a:ln w="28575"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3" name="Rounded Rectangle 23">
            <a:extLst>
              <a:ext uri="{FF2B5EF4-FFF2-40B4-BE49-F238E27FC236}">
                <a16:creationId xmlns:a16="http://schemas.microsoft.com/office/drawing/2014/main" id="{D34100E7-28EA-4EB7-A437-37BB3EE7034D}"/>
              </a:ext>
            </a:extLst>
          </p:cNvPr>
          <p:cNvSpPr/>
          <p:nvPr userDrawn="1"/>
        </p:nvSpPr>
        <p:spPr bwMode="auto">
          <a:xfrm>
            <a:off x="503239" y="512763"/>
            <a:ext cx="8137524" cy="2193019"/>
          </a:xfrm>
          <a:prstGeom prst="roundRect">
            <a:avLst>
              <a:gd name="adj" fmla="val 1385"/>
            </a:avLst>
          </a:prstGeom>
          <a:solidFill>
            <a:srgbClr val="FFF9E7"/>
          </a:solidFill>
          <a:ln w="28575" cap="rnd">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2" name="Text Placeholder 9">
            <a:extLst>
              <a:ext uri="{FF2B5EF4-FFF2-40B4-BE49-F238E27FC236}">
                <a16:creationId xmlns:a16="http://schemas.microsoft.com/office/drawing/2014/main" id="{BAFFD08E-D8F1-4950-9C0C-AB7477306E53}"/>
              </a:ext>
            </a:extLst>
          </p:cNvPr>
          <p:cNvSpPr>
            <a:spLocks noGrp="1"/>
          </p:cNvSpPr>
          <p:nvPr>
            <p:ph type="body" sz="quarter" idx="10" hasCustomPrompt="1"/>
          </p:nvPr>
        </p:nvSpPr>
        <p:spPr>
          <a:xfrm>
            <a:off x="755651" y="1037017"/>
            <a:ext cx="7632699" cy="1469216"/>
          </a:xfrm>
          <a:prstGeom prst="roundRect">
            <a:avLst>
              <a:gd name="adj" fmla="val 2585"/>
            </a:avLst>
          </a:prstGeom>
        </p:spPr>
        <p:txBody>
          <a:bodyPr>
            <a:spAutoFit/>
          </a:bodyPr>
          <a:lstStyle>
            <a:lvl1pPr>
              <a:defRPr/>
            </a:lvl1pPr>
          </a:lstStyle>
          <a:p>
            <a:r>
              <a:rPr lang="en-GB" dirty="0">
                <a:latin typeface="Twinkl" pitchFamily="50" charset="0"/>
              </a:rPr>
              <a:t>Statement 1 Lorem ipsum </a:t>
            </a:r>
            <a:r>
              <a:rPr lang="en-GB" dirty="0" err="1">
                <a:latin typeface="Twinkl" pitchFamily="50" charset="0"/>
              </a:rPr>
              <a:t>dolor</a:t>
            </a:r>
            <a:r>
              <a:rPr lang="en-GB" dirty="0">
                <a:latin typeface="Twinkl" pitchFamily="50" charset="0"/>
              </a:rPr>
              <a:t> sit </a:t>
            </a:r>
            <a:r>
              <a:rPr lang="en-GB" dirty="0" err="1">
                <a:latin typeface="Twinkl" pitchFamily="50" charset="0"/>
              </a:rPr>
              <a:t>amet</a:t>
            </a:r>
            <a:r>
              <a:rPr lang="en-GB" dirty="0">
                <a:latin typeface="Twinkl" pitchFamily="50" charset="0"/>
              </a:rPr>
              <a:t>, </a:t>
            </a:r>
            <a:r>
              <a:rPr lang="en-GB" dirty="0" err="1">
                <a:latin typeface="Twinkl" pitchFamily="50" charset="0"/>
              </a:rPr>
              <a:t>consectetur</a:t>
            </a:r>
            <a:r>
              <a:rPr lang="en-GB" dirty="0">
                <a:latin typeface="Twinkl" pitchFamily="50" charset="0"/>
              </a:rPr>
              <a:t> </a:t>
            </a:r>
            <a:r>
              <a:rPr lang="en-GB" dirty="0" err="1">
                <a:latin typeface="Twinkl" pitchFamily="50" charset="0"/>
              </a:rPr>
              <a:t>adipiscing</a:t>
            </a:r>
            <a:r>
              <a:rPr lang="en-GB" dirty="0">
                <a:latin typeface="Twinkl" pitchFamily="50" charset="0"/>
              </a:rPr>
              <a:t> </a:t>
            </a:r>
            <a:r>
              <a:rPr lang="en-GB" dirty="0" err="1">
                <a:latin typeface="Twinkl" pitchFamily="50" charset="0"/>
              </a:rPr>
              <a:t>elit</a:t>
            </a:r>
            <a:r>
              <a:rPr lang="en-GB" dirty="0">
                <a:latin typeface="Twinkl" pitchFamily="50" charset="0"/>
              </a:rPr>
              <a:t>.</a:t>
            </a:r>
          </a:p>
          <a:p>
            <a:r>
              <a:rPr lang="en-GB" dirty="0">
                <a:latin typeface="Twinkl" pitchFamily="50" charset="0"/>
              </a:rPr>
              <a:t>Statement 2</a:t>
            </a:r>
          </a:p>
          <a:p>
            <a:pPr lvl="1"/>
            <a:r>
              <a:rPr lang="en-GB" sz="1800" dirty="0">
                <a:latin typeface="Twinkl" pitchFamily="50" charset="0"/>
              </a:rPr>
              <a:t>Sub statement</a:t>
            </a:r>
          </a:p>
        </p:txBody>
      </p:sp>
      <p:sp>
        <p:nvSpPr>
          <p:cNvPr id="13" name="Text Placeholder 9">
            <a:extLst>
              <a:ext uri="{FF2B5EF4-FFF2-40B4-BE49-F238E27FC236}">
                <a16:creationId xmlns:a16="http://schemas.microsoft.com/office/drawing/2014/main" id="{D99DBCE3-B6AA-4708-994C-5096C6F0D38E}"/>
              </a:ext>
            </a:extLst>
          </p:cNvPr>
          <p:cNvSpPr>
            <a:spLocks noGrp="1"/>
          </p:cNvSpPr>
          <p:nvPr>
            <p:ph type="body" sz="quarter" idx="11" hasCustomPrompt="1"/>
          </p:nvPr>
        </p:nvSpPr>
        <p:spPr>
          <a:xfrm>
            <a:off x="755651" y="3445623"/>
            <a:ext cx="7632699" cy="1469216"/>
          </a:xfrm>
          <a:prstGeom prst="roundRect">
            <a:avLst>
              <a:gd name="adj" fmla="val 2585"/>
            </a:avLst>
          </a:prstGeom>
        </p:spPr>
        <p:txBody>
          <a:bodyPr>
            <a:spAutoFit/>
          </a:bodyPr>
          <a:lstStyle>
            <a:lvl1pPr>
              <a:defRPr/>
            </a:lvl1pPr>
          </a:lstStyle>
          <a:p>
            <a:r>
              <a:rPr lang="en-GB" dirty="0">
                <a:latin typeface="Twinkl" pitchFamily="50" charset="0"/>
              </a:rPr>
              <a:t>Statement 1 Lorem ipsum </a:t>
            </a:r>
            <a:r>
              <a:rPr lang="en-GB" dirty="0" err="1">
                <a:latin typeface="Twinkl" pitchFamily="50" charset="0"/>
              </a:rPr>
              <a:t>dolor</a:t>
            </a:r>
            <a:r>
              <a:rPr lang="en-GB" dirty="0">
                <a:latin typeface="Twinkl" pitchFamily="50" charset="0"/>
              </a:rPr>
              <a:t> sit </a:t>
            </a:r>
            <a:r>
              <a:rPr lang="en-GB" dirty="0" err="1">
                <a:latin typeface="Twinkl" pitchFamily="50" charset="0"/>
              </a:rPr>
              <a:t>amet</a:t>
            </a:r>
            <a:r>
              <a:rPr lang="en-GB" dirty="0">
                <a:latin typeface="Twinkl" pitchFamily="50" charset="0"/>
              </a:rPr>
              <a:t>, </a:t>
            </a:r>
            <a:r>
              <a:rPr lang="en-GB" dirty="0" err="1">
                <a:latin typeface="Twinkl" pitchFamily="50" charset="0"/>
              </a:rPr>
              <a:t>consectetur</a:t>
            </a:r>
            <a:r>
              <a:rPr lang="en-GB" dirty="0">
                <a:latin typeface="Twinkl" pitchFamily="50" charset="0"/>
              </a:rPr>
              <a:t> </a:t>
            </a:r>
            <a:r>
              <a:rPr lang="en-GB" dirty="0" err="1">
                <a:latin typeface="Twinkl" pitchFamily="50" charset="0"/>
              </a:rPr>
              <a:t>adipiscing</a:t>
            </a:r>
            <a:r>
              <a:rPr lang="en-GB" dirty="0">
                <a:latin typeface="Twinkl" pitchFamily="50" charset="0"/>
              </a:rPr>
              <a:t> </a:t>
            </a:r>
            <a:r>
              <a:rPr lang="en-GB" dirty="0" err="1">
                <a:latin typeface="Twinkl" pitchFamily="50" charset="0"/>
              </a:rPr>
              <a:t>elit</a:t>
            </a:r>
            <a:r>
              <a:rPr lang="en-GB" dirty="0">
                <a:latin typeface="Twinkl" pitchFamily="50" charset="0"/>
              </a:rPr>
              <a:t>.</a:t>
            </a:r>
          </a:p>
          <a:p>
            <a:r>
              <a:rPr lang="en-GB" dirty="0">
                <a:latin typeface="Twinkl" pitchFamily="50" charset="0"/>
              </a:rPr>
              <a:t>Statement 2</a:t>
            </a:r>
          </a:p>
          <a:p>
            <a:pPr lvl="1"/>
            <a:r>
              <a:rPr lang="en-GB" sz="1800" dirty="0">
                <a:latin typeface="Twinkl" pitchFamily="50" charset="0"/>
              </a:rPr>
              <a:t>Sub statement</a:t>
            </a:r>
          </a:p>
        </p:txBody>
      </p:sp>
      <p:sp>
        <p:nvSpPr>
          <p:cNvPr id="15" name="Text Placeholder 8">
            <a:extLst>
              <a:ext uri="{FF2B5EF4-FFF2-40B4-BE49-F238E27FC236}">
                <a16:creationId xmlns:a16="http://schemas.microsoft.com/office/drawing/2014/main" id="{E9191366-6C10-435F-A2F8-6CBD1318FD96}"/>
              </a:ext>
            </a:extLst>
          </p:cNvPr>
          <p:cNvSpPr>
            <a:spLocks noGrp="1"/>
          </p:cNvSpPr>
          <p:nvPr>
            <p:ph type="body" sz="quarter" idx="12" hasCustomPrompt="1"/>
          </p:nvPr>
        </p:nvSpPr>
        <p:spPr>
          <a:xfrm>
            <a:off x="755650" y="512763"/>
            <a:ext cx="7632700" cy="503237"/>
          </a:xfrm>
          <a:prstGeom prst="roundRect">
            <a:avLst>
              <a:gd name="adj" fmla="val 2585"/>
            </a:avLst>
          </a:prstGeom>
        </p:spPr>
        <p:txBody>
          <a:bodyPr lIns="0" tIns="252000" rIns="0" bIns="0" anchor="ctr" anchorCtr="0">
            <a:noAutofit/>
          </a:bodyPr>
          <a:lstStyle>
            <a:lvl1pPr marL="0" indent="0" algn="ctr">
              <a:buNone/>
              <a:defRPr sz="3600" b="1"/>
            </a:lvl1pPr>
          </a:lstStyle>
          <a:p>
            <a:pPr lvl="0"/>
            <a:r>
              <a:rPr lang="en-US" dirty="0"/>
              <a:t>Aim</a:t>
            </a:r>
            <a:endParaRPr lang="en-GB" dirty="0"/>
          </a:p>
        </p:txBody>
      </p:sp>
      <p:sp>
        <p:nvSpPr>
          <p:cNvPr id="17" name="Text Placeholder 8">
            <a:extLst>
              <a:ext uri="{FF2B5EF4-FFF2-40B4-BE49-F238E27FC236}">
                <a16:creationId xmlns:a16="http://schemas.microsoft.com/office/drawing/2014/main" id="{6758EDAF-8492-4BF5-93A1-EA11C5D83003}"/>
              </a:ext>
            </a:extLst>
          </p:cNvPr>
          <p:cNvSpPr>
            <a:spLocks noGrp="1"/>
          </p:cNvSpPr>
          <p:nvPr>
            <p:ph type="body" sz="quarter" idx="13" hasCustomPrompt="1"/>
          </p:nvPr>
        </p:nvSpPr>
        <p:spPr>
          <a:xfrm>
            <a:off x="755649" y="2930434"/>
            <a:ext cx="7632700" cy="503237"/>
          </a:xfrm>
          <a:prstGeom prst="roundRect">
            <a:avLst>
              <a:gd name="adj" fmla="val 2585"/>
            </a:avLst>
          </a:prstGeom>
        </p:spPr>
        <p:txBody>
          <a:bodyPr lIns="0" tIns="252000" rIns="0" bIns="0" anchor="ctr" anchorCtr="0">
            <a:noAutofit/>
          </a:bodyPr>
          <a:lstStyle>
            <a:lvl1pPr marL="0" indent="0" algn="ctr">
              <a:buNone/>
              <a:defRPr sz="3600" b="1"/>
            </a:lvl1pPr>
          </a:lstStyle>
          <a:p>
            <a:pPr lvl="0"/>
            <a:r>
              <a:rPr lang="en-US" dirty="0"/>
              <a:t>Success Criteria</a:t>
            </a:r>
            <a:endParaRPr lang="en-GB" dirty="0"/>
          </a:p>
        </p:txBody>
      </p:sp>
    </p:spTree>
    <p:extLst>
      <p:ext uri="{BB962C8B-B14F-4D97-AF65-F5344CB8AC3E}">
        <p14:creationId xmlns:p14="http://schemas.microsoft.com/office/powerpoint/2010/main" val="2257523209"/>
      </p:ext>
    </p:extLst>
  </p:cSld>
  <p:clrMapOvr>
    <a:masterClrMapping/>
  </p:clrMapOvr>
  <p:extLst>
    <p:ext uri="{DCECCB84-F9BA-43D5-87BE-67443E8EF086}">
      <p15:sldGuideLst xmlns:p15="http://schemas.microsoft.com/office/powerpoint/2012/main">
        <p15:guide id="1" orient="horz" pos="640" userDrawn="1">
          <p15:clr>
            <a:srgbClr val="F26B43"/>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4" name="Rectangle 3">
            <a:hlinkClick r:id="rId2"/>
          </p:cNvPr>
          <p:cNvSpPr/>
          <p:nvPr userDrawn="1"/>
        </p:nvSpPr>
        <p:spPr>
          <a:xfrm>
            <a:off x="0" y="5824568"/>
            <a:ext cx="9144000" cy="10334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81973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udio/Video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7" name="Rectangle 6">
            <a:extLst>
              <a:ext uri="{FF2B5EF4-FFF2-40B4-BE49-F238E27FC236}">
                <a16:creationId xmlns:a16="http://schemas.microsoft.com/office/drawing/2014/main" id="{FFC63B62-F6F8-4A70-935A-0CBCE04C051B}"/>
              </a:ext>
            </a:extLst>
          </p:cNvPr>
          <p:cNvSpPr/>
          <p:nvPr userDrawn="1"/>
        </p:nvSpPr>
        <p:spPr>
          <a:xfrm>
            <a:off x="755650" y="2209045"/>
            <a:ext cx="2382662" cy="3604671"/>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
          </a:p>
        </p:txBody>
      </p:sp>
      <p:sp>
        <p:nvSpPr>
          <p:cNvPr id="9" name="Rectangle 8">
            <a:extLst>
              <a:ext uri="{FF2B5EF4-FFF2-40B4-BE49-F238E27FC236}">
                <a16:creationId xmlns:a16="http://schemas.microsoft.com/office/drawing/2014/main" id="{F19AD57E-3485-41E5-86B7-DD796C8FF6EE}"/>
              </a:ext>
            </a:extLst>
          </p:cNvPr>
          <p:cNvSpPr/>
          <p:nvPr userDrawn="1"/>
        </p:nvSpPr>
        <p:spPr>
          <a:xfrm>
            <a:off x="3380669" y="2209045"/>
            <a:ext cx="2382662" cy="3604671"/>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
          </a:p>
        </p:txBody>
      </p:sp>
      <p:sp>
        <p:nvSpPr>
          <p:cNvPr id="10" name="Rectangle 9">
            <a:extLst>
              <a:ext uri="{FF2B5EF4-FFF2-40B4-BE49-F238E27FC236}">
                <a16:creationId xmlns:a16="http://schemas.microsoft.com/office/drawing/2014/main" id="{2A702136-D7DD-49CD-A4E0-42B0D1BAFEFE}"/>
              </a:ext>
            </a:extLst>
          </p:cNvPr>
          <p:cNvSpPr/>
          <p:nvPr userDrawn="1"/>
        </p:nvSpPr>
        <p:spPr>
          <a:xfrm>
            <a:off x="6005688" y="2209045"/>
            <a:ext cx="2382662" cy="3604671"/>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
          </a:p>
        </p:txBody>
      </p:sp>
      <p:pic>
        <p:nvPicPr>
          <p:cNvPr id="12" name="Picture 1">
            <a:extLst>
              <a:ext uri="{FF2B5EF4-FFF2-40B4-BE49-F238E27FC236}">
                <a16:creationId xmlns:a16="http://schemas.microsoft.com/office/drawing/2014/main" id="{3124EECE-F7EF-4595-9620-68FD0E5E79FF}"/>
              </a:ext>
            </a:extLst>
          </p:cNvPr>
          <p:cNvPicPr>
            <a:picLocks noChangeAspect="1"/>
          </p:cNvPicPr>
          <p:nvPr userDrawn="1"/>
        </p:nvPicPr>
        <p:blipFill>
          <a:blip r:embed="rId2">
            <a:extLst>
              <a:ext uri="{28A0092B-C50C-407E-A947-70E740481C1C}">
                <a14:useLocalDpi xmlns:a14="http://schemas.microsoft.com/office/drawing/2010/main" val="0"/>
              </a:ext>
            </a:extLst>
          </a:blip>
          <a:srcRect l="14311" t="18852" r="58228" b="54654"/>
          <a:stretch>
            <a:fillRect/>
          </a:stretch>
        </p:blipFill>
        <p:spPr bwMode="auto">
          <a:xfrm>
            <a:off x="1088144" y="2435955"/>
            <a:ext cx="1717675" cy="1150938"/>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606CC5B3-3D32-4C6C-8E1F-3758561C1FA7}"/>
              </a:ext>
            </a:extLst>
          </p:cNvPr>
          <p:cNvPicPr>
            <a:picLocks noChangeAspect="1"/>
          </p:cNvPicPr>
          <p:nvPr userDrawn="1"/>
        </p:nvPicPr>
        <p:blipFill>
          <a:blip r:embed="rId3">
            <a:extLst>
              <a:ext uri="{28A0092B-C50C-407E-A947-70E740481C1C}">
                <a14:useLocalDpi xmlns:a14="http://schemas.microsoft.com/office/drawing/2010/main" val="0"/>
              </a:ext>
            </a:extLst>
          </a:blip>
          <a:srcRect l="15067" t="26003" r="44786" b="11296"/>
          <a:stretch>
            <a:fillRect/>
          </a:stretch>
        </p:blipFill>
        <p:spPr bwMode="auto">
          <a:xfrm>
            <a:off x="1088144" y="3771617"/>
            <a:ext cx="1717675" cy="1857375"/>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5" name="Rectangle 14">
            <a:extLst>
              <a:ext uri="{FF2B5EF4-FFF2-40B4-BE49-F238E27FC236}">
                <a16:creationId xmlns:a16="http://schemas.microsoft.com/office/drawing/2014/main" id="{BF1001AF-39AD-4F6C-8CC7-DE3F05F47402}"/>
              </a:ext>
            </a:extLst>
          </p:cNvPr>
          <p:cNvSpPr/>
          <p:nvPr userDrawn="1"/>
        </p:nvSpPr>
        <p:spPr>
          <a:xfrm>
            <a:off x="450762" y="5938338"/>
            <a:ext cx="8226000" cy="295275"/>
          </a:xfrm>
          <a:prstGeom prst="rect">
            <a:avLst/>
          </a:prstGeom>
          <a:solidFill>
            <a:srgbClr val="E34192"/>
          </a:solidFill>
          <a:ln>
            <a:solidFill>
              <a:srgbClr val="E3419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GB" sz="1100" b="1" dirty="0">
                <a:solidFill>
                  <a:schemeClr val="bg1"/>
                </a:solidFill>
                <a:latin typeface="Roboto" panose="02000000000000000000" pitchFamily="2" charset="0"/>
                <a:ea typeface="Roboto" panose="02000000000000000000" pitchFamily="2" charset="0"/>
                <a:cs typeface="Arial" panose="020B0604020202020204" pitchFamily="34" charset="0"/>
              </a:rPr>
              <a:t>Please note the embedded audio may not be compatible with earlier versions of PowerPoint. </a:t>
            </a:r>
          </a:p>
        </p:txBody>
      </p:sp>
      <p:grpSp>
        <p:nvGrpSpPr>
          <p:cNvPr id="16" name="Group 15">
            <a:extLst>
              <a:ext uri="{FF2B5EF4-FFF2-40B4-BE49-F238E27FC236}">
                <a16:creationId xmlns:a16="http://schemas.microsoft.com/office/drawing/2014/main" id="{F4C02CD7-54FA-442D-8552-484866B452A3}"/>
              </a:ext>
            </a:extLst>
          </p:cNvPr>
          <p:cNvGrpSpPr/>
          <p:nvPr userDrawn="1"/>
        </p:nvGrpSpPr>
        <p:grpSpPr>
          <a:xfrm>
            <a:off x="653175" y="1186618"/>
            <a:ext cx="2485137" cy="4640495"/>
            <a:chOff x="653175" y="1293580"/>
            <a:chExt cx="2485137" cy="4640495"/>
          </a:xfrm>
        </p:grpSpPr>
        <p:sp>
          <p:nvSpPr>
            <p:cNvPr id="17" name="Rectangle 16">
              <a:extLst>
                <a:ext uri="{FF2B5EF4-FFF2-40B4-BE49-F238E27FC236}">
                  <a16:creationId xmlns:a16="http://schemas.microsoft.com/office/drawing/2014/main" id="{70129BA9-07CA-4E45-BE89-A3B3D8B06794}"/>
                </a:ext>
              </a:extLst>
            </p:cNvPr>
            <p:cNvSpPr/>
            <p:nvPr/>
          </p:nvSpPr>
          <p:spPr>
            <a:xfrm>
              <a:off x="755650" y="1352601"/>
              <a:ext cx="2382662" cy="4581474"/>
            </a:xfrm>
            <a:prstGeom prst="rect">
              <a:avLst/>
            </a:prstGeom>
            <a:noFill/>
            <a:ln>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lIns="216000" tIns="180000" rIns="216000" bIns="180000" anchor="t" anchorCtr="0"/>
            <a:lstStyle/>
            <a:p>
              <a:pPr>
                <a:defRPr/>
              </a:pPr>
              <a:r>
                <a:rPr lang="en-GB" sz="1400" dirty="0">
                  <a:solidFill>
                    <a:schemeClr val="tx1"/>
                  </a:solidFill>
                  <a:latin typeface="Roboto" panose="02000000000000000000" pitchFamily="2" charset="0"/>
                  <a:ea typeface="Roboto" panose="02000000000000000000" pitchFamily="2" charset="0"/>
                  <a:cs typeface="Arial" panose="020B0604020202020204" pitchFamily="34" charset="0"/>
                </a:rPr>
                <a:t>Open the downloaded folder and copy all the files.</a:t>
              </a:r>
            </a:p>
          </p:txBody>
        </p:sp>
        <p:sp>
          <p:nvSpPr>
            <p:cNvPr id="18" name="Oval 17">
              <a:extLst>
                <a:ext uri="{FF2B5EF4-FFF2-40B4-BE49-F238E27FC236}">
                  <a16:creationId xmlns:a16="http://schemas.microsoft.com/office/drawing/2014/main" id="{06AD645D-EF4C-43B9-BC02-E73591ACFEA8}"/>
                </a:ext>
              </a:extLst>
            </p:cNvPr>
            <p:cNvSpPr/>
            <p:nvPr/>
          </p:nvSpPr>
          <p:spPr>
            <a:xfrm>
              <a:off x="653175" y="1293580"/>
              <a:ext cx="301052" cy="301052"/>
            </a:xfrm>
            <a:prstGeom prst="ellipse">
              <a:avLst/>
            </a:prstGeom>
            <a:solidFill>
              <a:srgbClr val="18A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latin typeface="Roboto" panose="02000000000000000000" pitchFamily="2" charset="0"/>
                  <a:ea typeface="Roboto" panose="02000000000000000000" pitchFamily="2" charset="0"/>
                </a:rPr>
                <a:t>1</a:t>
              </a:r>
            </a:p>
          </p:txBody>
        </p:sp>
      </p:grpSp>
      <p:grpSp>
        <p:nvGrpSpPr>
          <p:cNvPr id="19" name="Group 18">
            <a:extLst>
              <a:ext uri="{FF2B5EF4-FFF2-40B4-BE49-F238E27FC236}">
                <a16:creationId xmlns:a16="http://schemas.microsoft.com/office/drawing/2014/main" id="{08DFAC45-3E54-4D6A-98C4-CF211C83922E}"/>
              </a:ext>
            </a:extLst>
          </p:cNvPr>
          <p:cNvGrpSpPr/>
          <p:nvPr userDrawn="1"/>
        </p:nvGrpSpPr>
        <p:grpSpPr>
          <a:xfrm>
            <a:off x="3278194" y="1186618"/>
            <a:ext cx="2485137" cy="4640495"/>
            <a:chOff x="653175" y="1293580"/>
            <a:chExt cx="2485137" cy="4640495"/>
          </a:xfrm>
        </p:grpSpPr>
        <p:sp>
          <p:nvSpPr>
            <p:cNvPr id="20" name="Rectangle 19">
              <a:extLst>
                <a:ext uri="{FF2B5EF4-FFF2-40B4-BE49-F238E27FC236}">
                  <a16:creationId xmlns:a16="http://schemas.microsoft.com/office/drawing/2014/main" id="{F0CD5D4D-4B63-46DB-9525-B34F30B13615}"/>
                </a:ext>
              </a:extLst>
            </p:cNvPr>
            <p:cNvSpPr/>
            <p:nvPr/>
          </p:nvSpPr>
          <p:spPr>
            <a:xfrm>
              <a:off x="755650" y="1352601"/>
              <a:ext cx="2382662" cy="4581474"/>
            </a:xfrm>
            <a:prstGeom prst="rect">
              <a:avLst/>
            </a:prstGeom>
            <a:noFill/>
            <a:ln>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lIns="216000" tIns="180000" rIns="216000" bIns="180000" anchor="t" anchorCtr="0"/>
            <a:lstStyle/>
            <a:p>
              <a:pPr>
                <a:defRPr/>
              </a:pPr>
              <a:r>
                <a:rPr lang="en-GB" sz="1400" dirty="0">
                  <a:solidFill>
                    <a:schemeClr val="tx1"/>
                  </a:solidFill>
                  <a:latin typeface="Roboto" panose="02000000000000000000" pitchFamily="2" charset="0"/>
                  <a:ea typeface="Roboto" panose="02000000000000000000" pitchFamily="2" charset="0"/>
                  <a:cs typeface="Arial" panose="020B0604020202020204" pitchFamily="34" charset="0"/>
                </a:rPr>
                <a:t>Paste the copied files into a new folder.</a:t>
              </a:r>
            </a:p>
          </p:txBody>
        </p:sp>
        <p:sp>
          <p:nvSpPr>
            <p:cNvPr id="21" name="Oval 20">
              <a:extLst>
                <a:ext uri="{FF2B5EF4-FFF2-40B4-BE49-F238E27FC236}">
                  <a16:creationId xmlns:a16="http://schemas.microsoft.com/office/drawing/2014/main" id="{E921D1FD-6ED8-4721-9B13-952826BF7583}"/>
                </a:ext>
              </a:extLst>
            </p:cNvPr>
            <p:cNvSpPr/>
            <p:nvPr/>
          </p:nvSpPr>
          <p:spPr>
            <a:xfrm>
              <a:off x="653175" y="1293580"/>
              <a:ext cx="301052" cy="301052"/>
            </a:xfrm>
            <a:prstGeom prst="ellipse">
              <a:avLst/>
            </a:prstGeom>
            <a:solidFill>
              <a:srgbClr val="18A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latin typeface="Roboto" panose="02000000000000000000" pitchFamily="2" charset="0"/>
                  <a:ea typeface="Roboto" panose="02000000000000000000" pitchFamily="2" charset="0"/>
                </a:rPr>
                <a:t>2</a:t>
              </a:r>
            </a:p>
          </p:txBody>
        </p:sp>
      </p:grpSp>
      <p:grpSp>
        <p:nvGrpSpPr>
          <p:cNvPr id="22" name="Group 21">
            <a:extLst>
              <a:ext uri="{FF2B5EF4-FFF2-40B4-BE49-F238E27FC236}">
                <a16:creationId xmlns:a16="http://schemas.microsoft.com/office/drawing/2014/main" id="{2E64373C-29B9-44AD-BBFF-1C2B6CB8B856}"/>
              </a:ext>
            </a:extLst>
          </p:cNvPr>
          <p:cNvGrpSpPr/>
          <p:nvPr userDrawn="1"/>
        </p:nvGrpSpPr>
        <p:grpSpPr>
          <a:xfrm>
            <a:off x="5903213" y="1186618"/>
            <a:ext cx="2485137" cy="4640495"/>
            <a:chOff x="653175" y="1293580"/>
            <a:chExt cx="2485137" cy="4640495"/>
          </a:xfrm>
        </p:grpSpPr>
        <p:sp>
          <p:nvSpPr>
            <p:cNvPr id="23" name="Rectangle 22">
              <a:extLst>
                <a:ext uri="{FF2B5EF4-FFF2-40B4-BE49-F238E27FC236}">
                  <a16:creationId xmlns:a16="http://schemas.microsoft.com/office/drawing/2014/main" id="{3F8F64B4-C8AD-4F3A-AC24-CC1D1D7B43F0}"/>
                </a:ext>
              </a:extLst>
            </p:cNvPr>
            <p:cNvSpPr/>
            <p:nvPr/>
          </p:nvSpPr>
          <p:spPr>
            <a:xfrm>
              <a:off x="755650" y="1352601"/>
              <a:ext cx="2382662" cy="4581474"/>
            </a:xfrm>
            <a:prstGeom prst="rect">
              <a:avLst/>
            </a:prstGeom>
            <a:noFill/>
            <a:ln>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lIns="216000" tIns="180000" rIns="216000" bIns="180000" anchor="t" anchorCtr="0"/>
            <a:lstStyle/>
            <a:p>
              <a:pPr>
                <a:defRPr/>
              </a:pPr>
              <a:r>
                <a:rPr lang="en-GB" sz="1400" dirty="0">
                  <a:solidFill>
                    <a:schemeClr val="tx1"/>
                  </a:solidFill>
                  <a:latin typeface="Roboto" panose="02000000000000000000" pitchFamily="2" charset="0"/>
                  <a:ea typeface="Roboto" panose="02000000000000000000" pitchFamily="2" charset="0"/>
                  <a:cs typeface="Arial" panose="020B0604020202020204" pitchFamily="34" charset="0"/>
                </a:rPr>
                <a:t>To use the PowerPoint, enable editing and put into slide show mode.</a:t>
              </a:r>
            </a:p>
          </p:txBody>
        </p:sp>
        <p:sp>
          <p:nvSpPr>
            <p:cNvPr id="24" name="Oval 23">
              <a:extLst>
                <a:ext uri="{FF2B5EF4-FFF2-40B4-BE49-F238E27FC236}">
                  <a16:creationId xmlns:a16="http://schemas.microsoft.com/office/drawing/2014/main" id="{306893F1-C2B6-43EB-825A-DA5B276C8908}"/>
                </a:ext>
              </a:extLst>
            </p:cNvPr>
            <p:cNvSpPr/>
            <p:nvPr/>
          </p:nvSpPr>
          <p:spPr>
            <a:xfrm>
              <a:off x="653175" y="1293580"/>
              <a:ext cx="301052" cy="301052"/>
            </a:xfrm>
            <a:prstGeom prst="ellipse">
              <a:avLst/>
            </a:prstGeom>
            <a:solidFill>
              <a:srgbClr val="18A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latin typeface="Roboto" panose="02000000000000000000" pitchFamily="2" charset="0"/>
                  <a:ea typeface="Roboto" panose="02000000000000000000" pitchFamily="2" charset="0"/>
                </a:rPr>
                <a:t>3</a:t>
              </a:r>
            </a:p>
          </p:txBody>
        </p:sp>
      </p:grpSp>
      <p:pic>
        <p:nvPicPr>
          <p:cNvPr id="25" name="Picture 24">
            <a:extLst>
              <a:ext uri="{FF2B5EF4-FFF2-40B4-BE49-F238E27FC236}">
                <a16:creationId xmlns:a16="http://schemas.microsoft.com/office/drawing/2014/main" id="{F8E75E30-3E3D-4F9B-9EF6-9A9630C27CBB}"/>
              </a:ext>
            </a:extLst>
          </p:cNvPr>
          <p:cNvPicPr>
            <a:picLocks noChangeAspect="1"/>
          </p:cNvPicPr>
          <p:nvPr userDrawn="1"/>
        </p:nvPicPr>
        <p:blipFill>
          <a:blip r:embed="rId4">
            <a:extLst>
              <a:ext uri="{28A0092B-C50C-407E-A947-70E740481C1C}">
                <a14:useLocalDpi xmlns:a14="http://schemas.microsoft.com/office/drawing/2010/main" val="0"/>
              </a:ext>
            </a:extLst>
          </a:blip>
          <a:srcRect l="14085" t="17912" r="52493" b="25307"/>
          <a:stretch>
            <a:fillRect/>
          </a:stretch>
        </p:blipFill>
        <p:spPr bwMode="auto">
          <a:xfrm>
            <a:off x="3720306" y="2435955"/>
            <a:ext cx="1703388" cy="2003425"/>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E55EBE21-985E-4E8F-B68C-A7F9AB89D609}"/>
              </a:ext>
            </a:extLst>
          </p:cNvPr>
          <p:cNvPicPr>
            <a:picLocks noChangeAspect="1"/>
          </p:cNvPicPr>
          <p:nvPr userDrawn="1"/>
        </p:nvPicPr>
        <p:blipFill>
          <a:blip r:embed="rId5">
            <a:extLst>
              <a:ext uri="{28A0092B-C50C-407E-A947-70E740481C1C}">
                <a14:useLocalDpi xmlns:a14="http://schemas.microsoft.com/office/drawing/2010/main" val="0"/>
              </a:ext>
            </a:extLst>
          </a:blip>
          <a:srcRect t="65628"/>
          <a:stretch>
            <a:fillRect/>
          </a:stretch>
        </p:blipFill>
        <p:spPr bwMode="auto">
          <a:xfrm>
            <a:off x="6114362" y="3710564"/>
            <a:ext cx="2165314" cy="1601754"/>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12AA4B95-3CCC-45E1-B7B1-343CCBC6F42A}"/>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6114344" y="2435955"/>
            <a:ext cx="2165350" cy="225425"/>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grpSp>
        <p:nvGrpSpPr>
          <p:cNvPr id="28" name="Group 27">
            <a:extLst>
              <a:ext uri="{FF2B5EF4-FFF2-40B4-BE49-F238E27FC236}">
                <a16:creationId xmlns:a16="http://schemas.microsoft.com/office/drawing/2014/main" id="{EB959152-16E0-47A5-9814-E4CDFB5F1B4A}"/>
              </a:ext>
            </a:extLst>
          </p:cNvPr>
          <p:cNvGrpSpPr/>
          <p:nvPr userDrawn="1"/>
        </p:nvGrpSpPr>
        <p:grpSpPr>
          <a:xfrm>
            <a:off x="6114362" y="2862122"/>
            <a:ext cx="2165350" cy="690207"/>
            <a:chOff x="6137101" y="2837944"/>
            <a:chExt cx="2165350" cy="690207"/>
          </a:xfrm>
        </p:grpSpPr>
        <p:grpSp>
          <p:nvGrpSpPr>
            <p:cNvPr id="29" name="Group 28">
              <a:extLst>
                <a:ext uri="{FF2B5EF4-FFF2-40B4-BE49-F238E27FC236}">
                  <a16:creationId xmlns:a16="http://schemas.microsoft.com/office/drawing/2014/main" id="{2AA9C2EC-978E-419F-A507-D371B5CA5B55}"/>
                </a:ext>
              </a:extLst>
            </p:cNvPr>
            <p:cNvGrpSpPr>
              <a:grpSpLocks/>
            </p:cNvGrpSpPr>
            <p:nvPr/>
          </p:nvGrpSpPr>
          <p:grpSpPr bwMode="auto">
            <a:xfrm>
              <a:off x="6137101" y="2837944"/>
              <a:ext cx="2165350" cy="647700"/>
              <a:chOff x="6164808" y="2589878"/>
              <a:chExt cx="2165459" cy="647296"/>
            </a:xfrm>
          </p:grpSpPr>
          <p:pic>
            <p:nvPicPr>
              <p:cNvPr id="31" name="Picture 30">
                <a:extLst>
                  <a:ext uri="{FF2B5EF4-FFF2-40B4-BE49-F238E27FC236}">
                    <a16:creationId xmlns:a16="http://schemas.microsoft.com/office/drawing/2014/main" id="{B5145F20-A130-4EC9-B902-0B2D234C1C06}"/>
                  </a:ext>
                </a:extLst>
              </p:cNvPr>
              <p:cNvPicPr>
                <a:picLocks noChangeAspect="1"/>
              </p:cNvPicPr>
              <p:nvPr/>
            </p:nvPicPr>
            <p:blipFill>
              <a:blip r:embed="rId7">
                <a:extLst>
                  <a:ext uri="{28A0092B-C50C-407E-A947-70E740481C1C}">
                    <a14:useLocalDpi xmlns:a14="http://schemas.microsoft.com/office/drawing/2010/main" val="0"/>
                  </a:ext>
                </a:extLst>
              </a:blip>
              <a:srcRect t="60687"/>
              <a:stretch>
                <a:fillRect/>
              </a:stretch>
            </p:blipFill>
            <p:spPr bwMode="auto">
              <a:xfrm>
                <a:off x="6164808" y="2589878"/>
                <a:ext cx="2165459" cy="647296"/>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cxnSp>
            <p:nvCxnSpPr>
              <p:cNvPr id="32" name="Straight Arrow Connector 31">
                <a:extLst>
                  <a:ext uri="{FF2B5EF4-FFF2-40B4-BE49-F238E27FC236}">
                    <a16:creationId xmlns:a16="http://schemas.microsoft.com/office/drawing/2014/main" id="{7209CC96-78F3-4B82-BE38-23F76BEC0573}"/>
                  </a:ext>
                </a:extLst>
              </p:cNvPr>
              <p:cNvCxnSpPr/>
              <p:nvPr/>
            </p:nvCxnSpPr>
            <p:spPr>
              <a:xfrm flipH="1">
                <a:off x="7949742" y="2768837"/>
                <a:ext cx="79379" cy="287158"/>
              </a:xfrm>
              <a:prstGeom prst="straightConnector1">
                <a:avLst/>
              </a:prstGeom>
              <a:ln w="19050">
                <a:solidFill>
                  <a:srgbClr val="18A0DB"/>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Oval 29">
              <a:extLst>
                <a:ext uri="{FF2B5EF4-FFF2-40B4-BE49-F238E27FC236}">
                  <a16:creationId xmlns:a16="http://schemas.microsoft.com/office/drawing/2014/main" id="{289AD21C-A27E-4E30-8AB2-27CBD6E49F15}"/>
                </a:ext>
              </a:extLst>
            </p:cNvPr>
            <p:cNvSpPr/>
            <p:nvPr/>
          </p:nvSpPr>
          <p:spPr>
            <a:xfrm>
              <a:off x="7790917" y="3317748"/>
              <a:ext cx="210403" cy="210403"/>
            </a:xfrm>
            <a:prstGeom prst="ellipse">
              <a:avLst/>
            </a:prstGeom>
            <a:noFill/>
            <a:ln w="19050">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5" name="TextBox 44">
            <a:extLst>
              <a:ext uri="{FF2B5EF4-FFF2-40B4-BE49-F238E27FC236}">
                <a16:creationId xmlns:a16="http://schemas.microsoft.com/office/drawing/2014/main" id="{3642231C-A2F6-4367-90C6-0767E987F9A9}"/>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Guidance for Video/Audio in PowerPoints</a:t>
            </a:r>
            <a:endParaRPr lang="en-GB" sz="2800" b="1" dirty="0">
              <a:solidFill>
                <a:srgbClr val="E34192"/>
              </a:solidFill>
            </a:endParaRPr>
          </a:p>
        </p:txBody>
      </p:sp>
    </p:spTree>
    <p:extLst>
      <p:ext uri="{BB962C8B-B14F-4D97-AF65-F5344CB8AC3E}">
        <p14:creationId xmlns:p14="http://schemas.microsoft.com/office/powerpoint/2010/main" val="395936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dvance Copy">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43" name="Rectangle 42">
            <a:extLst>
              <a:ext uri="{FF2B5EF4-FFF2-40B4-BE49-F238E27FC236}">
                <a16:creationId xmlns:a16="http://schemas.microsoft.com/office/drawing/2014/main" id="{6A96975B-C3DC-451D-8423-D15D5BCDB436}"/>
              </a:ext>
            </a:extLst>
          </p:cNvPr>
          <p:cNvSpPr/>
          <p:nvPr/>
        </p:nvSpPr>
        <p:spPr>
          <a:xfrm>
            <a:off x="755649" y="1716190"/>
            <a:ext cx="7632700" cy="1236438"/>
          </a:xfrm>
          <a:prstGeom prst="rect">
            <a:avLst/>
          </a:prstGeom>
          <a:noFill/>
          <a:ln w="19050">
            <a:solidFill>
              <a:srgbClr val="18A0DB"/>
            </a:solidFill>
          </a:ln>
        </p:spPr>
        <p:txBody>
          <a:bodyPr wrap="square" lIns="216000" tIns="216000" rIns="216000" bIns="216000">
            <a:spAutoFit/>
          </a:bodyPr>
          <a:lstStyle/>
          <a:p>
            <a:pPr algn="ctr">
              <a:spcAft>
                <a:spcPts val="600"/>
              </a:spcAft>
            </a:pPr>
            <a:r>
              <a:rPr lang="en-GB" sz="1400" dirty="0">
                <a:latin typeface="Roboto" panose="02000000000000000000" pitchFamily="2" charset="0"/>
                <a:ea typeface="Roboto" panose="02000000000000000000" pitchFamily="2" charset="0"/>
              </a:rPr>
              <a:t>This is an </a:t>
            </a:r>
            <a:r>
              <a:rPr lang="en-GB" sz="1400" b="1" dirty="0">
                <a:latin typeface="Roboto" panose="02000000000000000000" pitchFamily="2" charset="0"/>
                <a:ea typeface="Roboto" panose="02000000000000000000" pitchFamily="2" charset="0"/>
              </a:rPr>
              <a:t>exclusive, advance copy!</a:t>
            </a:r>
          </a:p>
          <a:p>
            <a:pPr algn="ctr">
              <a:spcAft>
                <a:spcPts val="600"/>
              </a:spcAft>
            </a:pPr>
            <a:r>
              <a:rPr lang="en-GB" sz="1400" dirty="0">
                <a:latin typeface="Roboto" panose="02000000000000000000" pitchFamily="2" charset="0"/>
                <a:ea typeface="Roboto" panose="02000000000000000000" pitchFamily="2" charset="0"/>
              </a:rPr>
              <a:t>Let us know what you think by emailing </a:t>
            </a:r>
            <a:r>
              <a:rPr lang="en-GB" sz="1400" b="1" u="sng" dirty="0">
                <a:latin typeface="Roboto" panose="02000000000000000000" pitchFamily="2" charset="0"/>
                <a:ea typeface="Roboto" panose="02000000000000000000" pitchFamily="2" charset="0"/>
                <a:hlinkClick r:id="rId2"/>
              </a:rPr>
              <a:t>twinklcares@twinkl.co.uk</a:t>
            </a:r>
            <a:endParaRPr lang="en-GB" sz="1400" b="1" u="sng" dirty="0">
              <a:latin typeface="Roboto" panose="02000000000000000000" pitchFamily="2" charset="0"/>
              <a:ea typeface="Roboto" panose="02000000000000000000" pitchFamily="2" charset="0"/>
            </a:endParaRPr>
          </a:p>
          <a:p>
            <a:pPr algn="ctr">
              <a:spcAft>
                <a:spcPts val="600"/>
              </a:spcAft>
            </a:pPr>
            <a:r>
              <a:rPr lang="en-GB" sz="1400" dirty="0">
                <a:latin typeface="Roboto" panose="02000000000000000000" pitchFamily="2" charset="0"/>
                <a:ea typeface="Roboto" panose="02000000000000000000" pitchFamily="2" charset="0"/>
              </a:rPr>
              <a:t>with the reference ‘</a:t>
            </a:r>
            <a:r>
              <a:rPr lang="en-GB" sz="1400" b="1" dirty="0">
                <a:latin typeface="Roboto" panose="02000000000000000000" pitchFamily="2" charset="0"/>
                <a:ea typeface="Roboto" panose="02000000000000000000" pitchFamily="2" charset="0"/>
              </a:rPr>
              <a:t>CODE</a:t>
            </a:r>
            <a:r>
              <a:rPr lang="en-GB" sz="1400" dirty="0">
                <a:latin typeface="Roboto" panose="02000000000000000000" pitchFamily="2" charset="0"/>
                <a:ea typeface="Roboto" panose="02000000000000000000" pitchFamily="2" charset="0"/>
              </a:rPr>
              <a:t>’.</a:t>
            </a:r>
          </a:p>
        </p:txBody>
      </p:sp>
      <p:sp>
        <p:nvSpPr>
          <p:cNvPr id="44" name="Rectangle 43">
            <a:extLst>
              <a:ext uri="{FF2B5EF4-FFF2-40B4-BE49-F238E27FC236}">
                <a16:creationId xmlns:a16="http://schemas.microsoft.com/office/drawing/2014/main" id="{C01BCBF7-EAB4-4398-AAB8-B60AC3555113}"/>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sp>
        <p:nvSpPr>
          <p:cNvPr id="45" name="TextBox 44">
            <a:extLst>
              <a:ext uri="{FF2B5EF4-FFF2-40B4-BE49-F238E27FC236}">
                <a16:creationId xmlns:a16="http://schemas.microsoft.com/office/drawing/2014/main" id="{3F3091BF-D025-46EF-A448-B4F13C76E242}"/>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Advance Copy</a:t>
            </a:r>
            <a:endParaRPr lang="en-GB" sz="2800" b="1" dirty="0">
              <a:solidFill>
                <a:srgbClr val="E34192"/>
              </a:solidFill>
            </a:endParaRPr>
          </a:p>
        </p:txBody>
      </p:sp>
    </p:spTree>
    <p:extLst>
      <p:ext uri="{BB962C8B-B14F-4D97-AF65-F5344CB8AC3E}">
        <p14:creationId xmlns:p14="http://schemas.microsoft.com/office/powerpoint/2010/main" val="1386459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nimation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grpSp>
        <p:nvGrpSpPr>
          <p:cNvPr id="41" name="Group 40">
            <a:extLst>
              <a:ext uri="{FF2B5EF4-FFF2-40B4-BE49-F238E27FC236}">
                <a16:creationId xmlns:a16="http://schemas.microsoft.com/office/drawing/2014/main" id="{2BB4EA30-0107-4362-9222-C6055ABF324A}"/>
              </a:ext>
            </a:extLst>
          </p:cNvPr>
          <p:cNvGrpSpPr/>
          <p:nvPr userDrawn="1"/>
        </p:nvGrpSpPr>
        <p:grpSpPr>
          <a:xfrm>
            <a:off x="743835" y="1681195"/>
            <a:ext cx="7644513" cy="1787397"/>
            <a:chOff x="743837" y="1344834"/>
            <a:chExt cx="7644513" cy="1787397"/>
          </a:xfrm>
        </p:grpSpPr>
        <p:sp>
          <p:nvSpPr>
            <p:cNvPr id="42" name="Rectangle 41">
              <a:extLst>
                <a:ext uri="{FF2B5EF4-FFF2-40B4-BE49-F238E27FC236}">
                  <a16:creationId xmlns:a16="http://schemas.microsoft.com/office/drawing/2014/main" id="{0DF60415-D303-4DFE-A6B8-E0AB42EF4DDC}"/>
                </a:ext>
              </a:extLst>
            </p:cNvPr>
            <p:cNvSpPr/>
            <p:nvPr/>
          </p:nvSpPr>
          <p:spPr>
            <a:xfrm>
              <a:off x="743837" y="1344834"/>
              <a:ext cx="1266195"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Animations</a:t>
              </a:r>
            </a:p>
          </p:txBody>
        </p:sp>
        <p:sp>
          <p:nvSpPr>
            <p:cNvPr id="43" name="Rectangle 42">
              <a:extLst>
                <a:ext uri="{FF2B5EF4-FFF2-40B4-BE49-F238E27FC236}">
                  <a16:creationId xmlns:a16="http://schemas.microsoft.com/office/drawing/2014/main" id="{6A96975B-C3DC-451D-8423-D15D5BCDB436}"/>
                </a:ext>
              </a:extLst>
            </p:cNvPr>
            <p:cNvSpPr/>
            <p:nvPr/>
          </p:nvSpPr>
          <p:spPr>
            <a:xfrm>
              <a:off x="755650" y="1618794"/>
              <a:ext cx="7632700" cy="1513437"/>
            </a:xfrm>
            <a:prstGeom prst="rect">
              <a:avLst/>
            </a:prstGeom>
            <a:noFill/>
            <a:ln w="19050">
              <a:solidFill>
                <a:srgbClr val="18A0DB"/>
              </a:solidFill>
            </a:ln>
          </p:spPr>
          <p:txBody>
            <a:bodyPr wrap="square" lIns="216000" tIns="216000" rIns="216000" bIns="216000">
              <a:spAutoFit/>
            </a:bodyPr>
            <a:lstStyle/>
            <a:p>
              <a:pPr>
                <a:spcAft>
                  <a:spcPts val="600"/>
                </a:spcAft>
              </a:pPr>
              <a:r>
                <a:rPr lang="en-GB" sz="1400" b="0" i="0" dirty="0">
                  <a:solidFill>
                    <a:srgbClr val="202124"/>
                  </a:solidFill>
                  <a:effectLst/>
                  <a:latin typeface="Roboto" panose="02000000000000000000" pitchFamily="2" charset="0"/>
                </a:rPr>
                <a:t>This resource has been designed with animations on each slide to make it as fun and engaging as possible. To view the content in the correct formatting, please view the slideshow in ‘</a:t>
              </a:r>
              <a:r>
                <a:rPr lang="en-GB" sz="1400" b="1" i="0" dirty="0">
                  <a:solidFill>
                    <a:srgbClr val="202124"/>
                  </a:solidFill>
                  <a:effectLst/>
                  <a:latin typeface="Roboto" panose="02000000000000000000" pitchFamily="2" charset="0"/>
                </a:rPr>
                <a:t>presentation mode</a:t>
              </a:r>
              <a:r>
                <a:rPr lang="en-GB" sz="1400" b="0" i="0" dirty="0">
                  <a:solidFill>
                    <a:srgbClr val="202124"/>
                  </a:solidFill>
                  <a:effectLst/>
                  <a:latin typeface="Roboto" panose="02000000000000000000" pitchFamily="2" charset="0"/>
                </a:rPr>
                <a:t>’. If you view the slides without selecting ‘presentation mode’, you may find that some of the text and images overlap each other or are difficult to read.</a:t>
              </a:r>
              <a:endParaRPr lang="en-GB" sz="1400" dirty="0">
                <a:latin typeface="Roboto" panose="02000000000000000000" pitchFamily="2" charset="0"/>
                <a:ea typeface="Roboto" panose="02000000000000000000" pitchFamily="2" charset="0"/>
              </a:endParaRPr>
            </a:p>
          </p:txBody>
        </p:sp>
      </p:grpSp>
      <p:sp>
        <p:nvSpPr>
          <p:cNvPr id="44" name="Rectangle 43">
            <a:extLst>
              <a:ext uri="{FF2B5EF4-FFF2-40B4-BE49-F238E27FC236}">
                <a16:creationId xmlns:a16="http://schemas.microsoft.com/office/drawing/2014/main" id="{C01BCBF7-EAB4-4398-AAB8-B60AC3555113}"/>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sp>
        <p:nvSpPr>
          <p:cNvPr id="45" name="TextBox 44">
            <a:extLst>
              <a:ext uri="{FF2B5EF4-FFF2-40B4-BE49-F238E27FC236}">
                <a16:creationId xmlns:a16="http://schemas.microsoft.com/office/drawing/2014/main" id="{3F3091BF-D025-46EF-A448-B4F13C76E242}"/>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3577060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ditable Resource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grpSp>
        <p:nvGrpSpPr>
          <p:cNvPr id="41" name="Group 40">
            <a:extLst>
              <a:ext uri="{FF2B5EF4-FFF2-40B4-BE49-F238E27FC236}">
                <a16:creationId xmlns:a16="http://schemas.microsoft.com/office/drawing/2014/main" id="{2BB4EA30-0107-4362-9222-C6055ABF324A}"/>
              </a:ext>
            </a:extLst>
          </p:cNvPr>
          <p:cNvGrpSpPr/>
          <p:nvPr userDrawn="1"/>
        </p:nvGrpSpPr>
        <p:grpSpPr>
          <a:xfrm>
            <a:off x="743835" y="1681195"/>
            <a:ext cx="7644513" cy="1571953"/>
            <a:chOff x="743837" y="1344834"/>
            <a:chExt cx="7644513" cy="1571953"/>
          </a:xfrm>
        </p:grpSpPr>
        <p:sp>
          <p:nvSpPr>
            <p:cNvPr id="42" name="Rectangle 41">
              <a:extLst>
                <a:ext uri="{FF2B5EF4-FFF2-40B4-BE49-F238E27FC236}">
                  <a16:creationId xmlns:a16="http://schemas.microsoft.com/office/drawing/2014/main" id="{0DF60415-D303-4DFE-A6B8-E0AB42EF4DDC}"/>
                </a:ext>
              </a:extLst>
            </p:cNvPr>
            <p:cNvSpPr/>
            <p:nvPr/>
          </p:nvSpPr>
          <p:spPr>
            <a:xfrm>
              <a:off x="743837" y="1344834"/>
              <a:ext cx="1266195"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GB" sz="1600" b="1" dirty="0">
                  <a:latin typeface="Roboto" panose="02000000000000000000" pitchFamily="2" charset="0"/>
                  <a:ea typeface="Roboto" panose="02000000000000000000" pitchFamily="2" charset="0"/>
                </a:rPr>
                <a:t>Editable</a:t>
              </a:r>
            </a:p>
          </p:txBody>
        </p:sp>
        <p:sp>
          <p:nvSpPr>
            <p:cNvPr id="43" name="Rectangle 42">
              <a:extLst>
                <a:ext uri="{FF2B5EF4-FFF2-40B4-BE49-F238E27FC236}">
                  <a16:creationId xmlns:a16="http://schemas.microsoft.com/office/drawing/2014/main" id="{6A96975B-C3DC-451D-8423-D15D5BCDB436}"/>
                </a:ext>
              </a:extLst>
            </p:cNvPr>
            <p:cNvSpPr/>
            <p:nvPr/>
          </p:nvSpPr>
          <p:spPr>
            <a:xfrm>
              <a:off x="755650" y="1618794"/>
              <a:ext cx="7632700" cy="1297993"/>
            </a:xfrm>
            <a:prstGeom prst="rect">
              <a:avLst/>
            </a:prstGeom>
            <a:noFill/>
            <a:ln w="19050">
              <a:solidFill>
                <a:srgbClr val="18A0DB"/>
              </a:solidFill>
            </a:ln>
          </p:spPr>
          <p:txBody>
            <a:bodyPr wrap="square" lIns="216000" tIns="216000" rIns="216000" bIns="216000">
              <a:spAutoFit/>
            </a:bodyPr>
            <a:lstStyle/>
            <a:p>
              <a:pPr>
                <a:spcAft>
                  <a:spcPts val="600"/>
                </a:spcAft>
              </a:pPr>
              <a:r>
                <a:rPr lang="en-GB" sz="1400" b="0" i="0" dirty="0">
                  <a:solidFill>
                    <a:srgbClr val="202124"/>
                  </a:solidFill>
                  <a:effectLst/>
                  <a:latin typeface="Roboto" panose="02000000000000000000" pitchFamily="2" charset="0"/>
                </a:rPr>
                <a:t>This resource is editable and can be adapted to meet the needs of different learners. Twinkl cannot be held responsible for any changes made once a resource has been downloaded. Please be aware that this content may have been edited and therefore </a:t>
              </a:r>
              <a:br>
                <a:rPr lang="en-GB" sz="1400" b="0" i="0" dirty="0">
                  <a:solidFill>
                    <a:srgbClr val="202124"/>
                  </a:solidFill>
                  <a:effectLst/>
                  <a:latin typeface="Roboto" panose="02000000000000000000" pitchFamily="2" charset="0"/>
                </a:rPr>
              </a:br>
              <a:r>
                <a:rPr lang="en-GB" sz="1400" b="0" i="0" dirty="0">
                  <a:solidFill>
                    <a:srgbClr val="202124"/>
                  </a:solidFill>
                  <a:effectLst/>
                  <a:latin typeface="Roboto" panose="02000000000000000000" pitchFamily="2" charset="0"/>
                </a:rPr>
                <a:t>may no longer reflect our values.</a:t>
              </a:r>
              <a:endParaRPr lang="en-GB" sz="1400" dirty="0">
                <a:latin typeface="Roboto" panose="02000000000000000000" pitchFamily="2" charset="0"/>
                <a:ea typeface="Roboto" panose="02000000000000000000" pitchFamily="2" charset="0"/>
              </a:endParaRPr>
            </a:p>
          </p:txBody>
        </p:sp>
      </p:grpSp>
      <p:sp>
        <p:nvSpPr>
          <p:cNvPr id="44" name="Rectangle 43">
            <a:extLst>
              <a:ext uri="{FF2B5EF4-FFF2-40B4-BE49-F238E27FC236}">
                <a16:creationId xmlns:a16="http://schemas.microsoft.com/office/drawing/2014/main" id="{C01BCBF7-EAB4-4398-AAB8-B60AC3555113}"/>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sp>
        <p:nvSpPr>
          <p:cNvPr id="45" name="TextBox 44">
            <a:extLst>
              <a:ext uri="{FF2B5EF4-FFF2-40B4-BE49-F238E27FC236}">
                <a16:creationId xmlns:a16="http://schemas.microsoft.com/office/drawing/2014/main" id="{3F3091BF-D025-46EF-A448-B4F13C76E242}"/>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1462528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xternal Websites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0" name="Rectangle 9">
            <a:extLst>
              <a:ext uri="{FF2B5EF4-FFF2-40B4-BE49-F238E27FC236}">
                <a16:creationId xmlns:a16="http://schemas.microsoft.com/office/drawing/2014/main" id="{7223ECE9-6F1A-4E72-ACE0-06F71C468FDA}"/>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grpSp>
        <p:nvGrpSpPr>
          <p:cNvPr id="11" name="Group 10">
            <a:extLst>
              <a:ext uri="{FF2B5EF4-FFF2-40B4-BE49-F238E27FC236}">
                <a16:creationId xmlns:a16="http://schemas.microsoft.com/office/drawing/2014/main" id="{5F05BBF0-ECD1-4FE4-937E-1F73A27AF916}"/>
              </a:ext>
            </a:extLst>
          </p:cNvPr>
          <p:cNvGrpSpPr/>
          <p:nvPr userDrawn="1"/>
        </p:nvGrpSpPr>
        <p:grpSpPr>
          <a:xfrm>
            <a:off x="743837" y="1681195"/>
            <a:ext cx="7644513" cy="2002840"/>
            <a:chOff x="743837" y="1344834"/>
            <a:chExt cx="7644513" cy="2002840"/>
          </a:xfrm>
        </p:grpSpPr>
        <p:sp>
          <p:nvSpPr>
            <p:cNvPr id="12" name="Rectangle 11">
              <a:extLst>
                <a:ext uri="{FF2B5EF4-FFF2-40B4-BE49-F238E27FC236}">
                  <a16:creationId xmlns:a16="http://schemas.microsoft.com/office/drawing/2014/main" id="{D52A1D21-ED2B-43AD-B353-E06410A36383}"/>
                </a:ext>
              </a:extLst>
            </p:cNvPr>
            <p:cNvSpPr/>
            <p:nvPr/>
          </p:nvSpPr>
          <p:spPr>
            <a:xfrm>
              <a:off x="743837" y="1344834"/>
              <a:ext cx="2703717"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Links to External Websites</a:t>
              </a:r>
            </a:p>
          </p:txBody>
        </p:sp>
        <p:sp>
          <p:nvSpPr>
            <p:cNvPr id="13" name="Rectangle 12">
              <a:extLst>
                <a:ext uri="{FF2B5EF4-FFF2-40B4-BE49-F238E27FC236}">
                  <a16:creationId xmlns:a16="http://schemas.microsoft.com/office/drawing/2014/main" id="{1FFC9EFA-95C1-4D1B-B736-D82D578BE355}"/>
                </a:ext>
              </a:extLst>
            </p:cNvPr>
            <p:cNvSpPr/>
            <p:nvPr/>
          </p:nvSpPr>
          <p:spPr>
            <a:xfrm>
              <a:off x="755650" y="1618794"/>
              <a:ext cx="7632700" cy="1728880"/>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This resource contains links to external websites. Please be aware that the inclusion of any link in this resource should not be taken as an endorsement of any kind by </a:t>
              </a:r>
              <a:r>
                <a:rPr lang="en-GB" sz="1400" dirty="0" err="1">
                  <a:latin typeface="Roboto" panose="02000000000000000000" pitchFamily="2" charset="0"/>
                  <a:ea typeface="Roboto" panose="02000000000000000000" pitchFamily="2" charset="0"/>
                </a:rPr>
                <a:t>Twinkl</a:t>
              </a:r>
              <a:r>
                <a:rPr lang="en-GB" sz="1400" dirty="0">
                  <a:latin typeface="Roboto" panose="02000000000000000000" pitchFamily="2" charset="0"/>
                  <a:ea typeface="Roboto" panose="02000000000000000000" pitchFamily="2" charset="0"/>
                </a:rPr>
                <a:t> of the linked website or any association with its operators. You should also be aware that we have no control over the availability of the linked pages. If the link is not working, please let us know by contacting </a:t>
              </a:r>
              <a:r>
                <a:rPr lang="en-GB" sz="1400" dirty="0" err="1">
                  <a:latin typeface="Roboto" panose="02000000000000000000" pitchFamily="2" charset="0"/>
                  <a:ea typeface="Roboto" panose="02000000000000000000" pitchFamily="2" charset="0"/>
                </a:rPr>
                <a:t>TwinklCares</a:t>
              </a:r>
              <a:r>
                <a:rPr lang="en-GB" sz="1400" dirty="0">
                  <a:latin typeface="Roboto" panose="02000000000000000000" pitchFamily="2" charset="0"/>
                  <a:ea typeface="Roboto" panose="02000000000000000000" pitchFamily="2" charset="0"/>
                </a:rPr>
                <a:t> and we will try to fix it although we can assume no responsibility if this is the case. We are not responsible for the content of external sites.</a:t>
              </a:r>
            </a:p>
          </p:txBody>
        </p:sp>
      </p:grpSp>
      <p:sp>
        <p:nvSpPr>
          <p:cNvPr id="16" name="TextBox 15">
            <a:extLst>
              <a:ext uri="{FF2B5EF4-FFF2-40B4-BE49-F238E27FC236}">
                <a16:creationId xmlns:a16="http://schemas.microsoft.com/office/drawing/2014/main" id="{3E809478-62E0-4C7A-83A2-03913DD4D89E}"/>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2116580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xternal Video Websites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6" name="Rectangle 15">
            <a:extLst>
              <a:ext uri="{FF2B5EF4-FFF2-40B4-BE49-F238E27FC236}">
                <a16:creationId xmlns:a16="http://schemas.microsoft.com/office/drawing/2014/main" id="{E98D6414-A260-404A-9274-A35AB2A1EA5A}"/>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grpSp>
        <p:nvGrpSpPr>
          <p:cNvPr id="17" name="Group 16">
            <a:extLst>
              <a:ext uri="{FF2B5EF4-FFF2-40B4-BE49-F238E27FC236}">
                <a16:creationId xmlns:a16="http://schemas.microsoft.com/office/drawing/2014/main" id="{5688A155-CC1C-4CA5-824A-88B66BF4B7D8}"/>
              </a:ext>
            </a:extLst>
          </p:cNvPr>
          <p:cNvGrpSpPr/>
          <p:nvPr userDrawn="1"/>
        </p:nvGrpSpPr>
        <p:grpSpPr>
          <a:xfrm>
            <a:off x="733079" y="1681195"/>
            <a:ext cx="7643458" cy="2649171"/>
            <a:chOff x="744892" y="3707365"/>
            <a:chExt cx="7643458" cy="2649171"/>
          </a:xfrm>
        </p:grpSpPr>
        <p:sp>
          <p:nvSpPr>
            <p:cNvPr id="18" name="Rectangle 17">
              <a:extLst>
                <a:ext uri="{FF2B5EF4-FFF2-40B4-BE49-F238E27FC236}">
                  <a16:creationId xmlns:a16="http://schemas.microsoft.com/office/drawing/2014/main" id="{B519C287-0C36-43FA-A38F-45E9B4A11B4D}"/>
                </a:ext>
              </a:extLst>
            </p:cNvPr>
            <p:cNvSpPr/>
            <p:nvPr/>
          </p:nvSpPr>
          <p:spPr>
            <a:xfrm>
              <a:off x="744892" y="3707365"/>
              <a:ext cx="3214972"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Links to External Video Websites</a:t>
              </a:r>
            </a:p>
          </p:txBody>
        </p:sp>
        <p:sp>
          <p:nvSpPr>
            <p:cNvPr id="19" name="Rectangle 18">
              <a:extLst>
                <a:ext uri="{FF2B5EF4-FFF2-40B4-BE49-F238E27FC236}">
                  <a16:creationId xmlns:a16="http://schemas.microsoft.com/office/drawing/2014/main" id="{F9BBE2CC-1604-46EB-BCDA-9F6AB7410668}"/>
                </a:ext>
              </a:extLst>
            </p:cNvPr>
            <p:cNvSpPr/>
            <p:nvPr/>
          </p:nvSpPr>
          <p:spPr>
            <a:xfrm>
              <a:off x="755650" y="3981325"/>
              <a:ext cx="7632700" cy="2375211"/>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This resource contains links to external video websites. These websites often have </a:t>
              </a:r>
              <a:r>
                <a:rPr lang="en-GB" sz="1400" dirty="0" err="1">
                  <a:latin typeface="Roboto" panose="02000000000000000000" pitchFamily="2" charset="0"/>
                  <a:ea typeface="Roboto" panose="02000000000000000000" pitchFamily="2" charset="0"/>
                </a:rPr>
                <a:t>autoplay</a:t>
              </a:r>
              <a:r>
                <a:rPr lang="en-GB" sz="1400" dirty="0">
                  <a:latin typeface="Roboto" panose="02000000000000000000" pitchFamily="2" charset="0"/>
                  <a:ea typeface="Roboto" panose="02000000000000000000" pitchFamily="2" charset="0"/>
                </a:rPr>
                <a:t> features meaning that other videos will play after the video you are watching finishes. You should disable this feature before using the video in any classroom or similar setting. </a:t>
              </a:r>
              <a:r>
                <a:rPr lang="en-GB" sz="1400" dirty="0" err="1">
                  <a:latin typeface="Roboto" panose="02000000000000000000" pitchFamily="2" charset="0"/>
                  <a:ea typeface="Roboto" panose="02000000000000000000" pitchFamily="2" charset="0"/>
                </a:rPr>
                <a:t>Twinkl</a:t>
              </a:r>
              <a:r>
                <a:rPr lang="en-GB" sz="1400" dirty="0">
                  <a:latin typeface="Roboto" panose="02000000000000000000" pitchFamily="2" charset="0"/>
                  <a:ea typeface="Roboto" panose="02000000000000000000" pitchFamily="2" charset="0"/>
                </a:rPr>
                <a:t> assumes no responsibility for the contents of linked websites. The inclusion of any link in this resource should not be taken as an endorsement of any kind by </a:t>
              </a:r>
              <a:r>
                <a:rPr lang="en-GB" sz="1400" dirty="0" err="1">
                  <a:latin typeface="Roboto" panose="02000000000000000000" pitchFamily="2" charset="0"/>
                  <a:ea typeface="Roboto" panose="02000000000000000000" pitchFamily="2" charset="0"/>
                </a:rPr>
                <a:t>Twinkl</a:t>
              </a:r>
              <a:r>
                <a:rPr lang="en-GB" sz="1400" dirty="0">
                  <a:latin typeface="Roboto" panose="02000000000000000000" pitchFamily="2" charset="0"/>
                  <a:ea typeface="Roboto" panose="02000000000000000000" pitchFamily="2" charset="0"/>
                </a:rPr>
                <a:t> of the linked website or any association with its operators. We have no control over the availability of the linked pages. If the link is not working, please let us know by contacting </a:t>
              </a:r>
              <a:r>
                <a:rPr lang="en-GB" sz="1400" dirty="0" err="1">
                  <a:latin typeface="Roboto" panose="02000000000000000000" pitchFamily="2" charset="0"/>
                  <a:ea typeface="Roboto" panose="02000000000000000000" pitchFamily="2" charset="0"/>
                </a:rPr>
                <a:t>TwinklCares</a:t>
              </a:r>
              <a:r>
                <a:rPr lang="en-GB" sz="1400" dirty="0">
                  <a:latin typeface="Roboto" panose="02000000000000000000" pitchFamily="2" charset="0"/>
                  <a:ea typeface="Roboto" panose="02000000000000000000" pitchFamily="2" charset="0"/>
                </a:rPr>
                <a:t> and we will try to fix it, although we can assume no responsibility if this is </a:t>
              </a:r>
              <a:br>
                <a:rPr lang="en-GB" sz="1400" dirty="0">
                  <a:latin typeface="Roboto" panose="02000000000000000000" pitchFamily="2" charset="0"/>
                  <a:ea typeface="Roboto" panose="02000000000000000000" pitchFamily="2" charset="0"/>
                </a:rPr>
              </a:br>
              <a:r>
                <a:rPr lang="en-GB" sz="1400" dirty="0">
                  <a:latin typeface="Roboto" panose="02000000000000000000" pitchFamily="2" charset="0"/>
                  <a:ea typeface="Roboto" panose="02000000000000000000" pitchFamily="2" charset="0"/>
                </a:rPr>
                <a:t>the case.</a:t>
              </a:r>
            </a:p>
          </p:txBody>
        </p:sp>
      </p:grpSp>
      <p:sp>
        <p:nvSpPr>
          <p:cNvPr id="20" name="TextBox 19">
            <a:extLst>
              <a:ext uri="{FF2B5EF4-FFF2-40B4-BE49-F238E27FC236}">
                <a16:creationId xmlns:a16="http://schemas.microsoft.com/office/drawing/2014/main" id="{DFBBCB53-5B3E-420F-B980-49AC69553407}"/>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671506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sclaimers Editable">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0" name="Rectangle 9">
            <a:extLst>
              <a:ext uri="{FF2B5EF4-FFF2-40B4-BE49-F238E27FC236}">
                <a16:creationId xmlns:a16="http://schemas.microsoft.com/office/drawing/2014/main" id="{89AF2E5A-21A6-4DED-A279-863F1FD479A6}"/>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grpSp>
        <p:nvGrpSpPr>
          <p:cNvPr id="20" name="Group 19">
            <a:extLst>
              <a:ext uri="{FF2B5EF4-FFF2-40B4-BE49-F238E27FC236}">
                <a16:creationId xmlns:a16="http://schemas.microsoft.com/office/drawing/2014/main" id="{0F0C260B-7A5F-4EEA-B147-DE8B78F68034}"/>
              </a:ext>
            </a:extLst>
          </p:cNvPr>
          <p:cNvGrpSpPr/>
          <p:nvPr userDrawn="1"/>
        </p:nvGrpSpPr>
        <p:grpSpPr>
          <a:xfrm>
            <a:off x="733079" y="3957995"/>
            <a:ext cx="7643458" cy="2002840"/>
            <a:chOff x="744892" y="3707365"/>
            <a:chExt cx="7643458" cy="2002840"/>
          </a:xfrm>
        </p:grpSpPr>
        <p:sp>
          <p:nvSpPr>
            <p:cNvPr id="21" name="Rectangle 20">
              <a:extLst>
                <a:ext uri="{FF2B5EF4-FFF2-40B4-BE49-F238E27FC236}">
                  <a16:creationId xmlns:a16="http://schemas.microsoft.com/office/drawing/2014/main" id="{55E2DD96-F714-4CFE-8121-9BD618AA74C8}"/>
                </a:ext>
              </a:extLst>
            </p:cNvPr>
            <p:cNvSpPr/>
            <p:nvPr/>
          </p:nvSpPr>
          <p:spPr>
            <a:xfrm>
              <a:off x="744892" y="3707365"/>
              <a:ext cx="1741673"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noAutofit/>
            </a:bodyPr>
            <a:lstStyle/>
            <a:p>
              <a:r>
                <a:rPr lang="en-GB" sz="1600" b="1" dirty="0">
                  <a:latin typeface="Roboto" panose="02000000000000000000" pitchFamily="2" charset="0"/>
                  <a:ea typeface="Roboto" panose="02000000000000000000" pitchFamily="2" charset="0"/>
                </a:rPr>
                <a:t>Insert Text Here</a:t>
              </a:r>
            </a:p>
          </p:txBody>
        </p:sp>
        <p:sp>
          <p:nvSpPr>
            <p:cNvPr id="22" name="Rectangle 21">
              <a:extLst>
                <a:ext uri="{FF2B5EF4-FFF2-40B4-BE49-F238E27FC236}">
                  <a16:creationId xmlns:a16="http://schemas.microsoft.com/office/drawing/2014/main" id="{110E9556-8ED8-404D-9793-60568C040CEB}"/>
                </a:ext>
              </a:extLst>
            </p:cNvPr>
            <p:cNvSpPr/>
            <p:nvPr/>
          </p:nvSpPr>
          <p:spPr>
            <a:xfrm>
              <a:off x="755650" y="3981325"/>
              <a:ext cx="7632700" cy="1728880"/>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Lorem ipsum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sit </a:t>
              </a:r>
              <a:r>
                <a:rPr lang="en-GB" sz="1400" dirty="0" err="1">
                  <a:latin typeface="Roboto" panose="02000000000000000000" pitchFamily="2" charset="0"/>
                  <a:ea typeface="Roboto" panose="02000000000000000000" pitchFamily="2" charset="0"/>
                </a:rPr>
                <a:t>amet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consectetur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adipiscing</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sed</a:t>
              </a:r>
              <a:r>
                <a:rPr lang="en-GB" sz="1400" dirty="0">
                  <a:latin typeface="Roboto" panose="02000000000000000000" pitchFamily="2" charset="0"/>
                  <a:ea typeface="Roboto" panose="02000000000000000000" pitchFamily="2" charset="0"/>
                </a:rPr>
                <a:t> do </a:t>
              </a:r>
              <a:r>
                <a:rPr lang="en-GB" sz="1400" dirty="0" err="1">
                  <a:latin typeface="Roboto" panose="02000000000000000000" pitchFamily="2" charset="0"/>
                  <a:ea typeface="Roboto" panose="02000000000000000000" pitchFamily="2" charset="0"/>
                </a:rPr>
                <a:t>eiusmod</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tempor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incididunt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labore et dolore magna </a:t>
              </a:r>
              <a:r>
                <a:rPr lang="en-GB" sz="1400" dirty="0" err="1">
                  <a:latin typeface="Roboto" panose="02000000000000000000" pitchFamily="2" charset="0"/>
                  <a:ea typeface="Roboto" panose="02000000000000000000" pitchFamily="2" charset="0"/>
                </a:rPr>
                <a:t>aliqua</a:t>
              </a:r>
              <a:r>
                <a:rPr lang="en-GB" sz="1400" dirty="0">
                  <a:latin typeface="Roboto" panose="02000000000000000000" pitchFamily="2" charset="0"/>
                  <a:ea typeface="Roboto" panose="02000000000000000000" pitchFamily="2" charset="0"/>
                </a:rPr>
                <a:t>. Ut </a:t>
              </a:r>
              <a:r>
                <a:rPr lang="en-GB" sz="1400" dirty="0" err="1">
                  <a:latin typeface="Roboto" panose="02000000000000000000" pitchFamily="2" charset="0"/>
                  <a:ea typeface="Roboto" panose="02000000000000000000" pitchFamily="2" charset="0"/>
                </a:rPr>
                <a:t>enim</a:t>
              </a:r>
              <a:r>
                <a:rPr lang="en-GB" sz="1400" dirty="0">
                  <a:latin typeface="Roboto" panose="02000000000000000000" pitchFamily="2" charset="0"/>
                  <a:ea typeface="Roboto" panose="02000000000000000000" pitchFamily="2" charset="0"/>
                </a:rPr>
                <a:t> ad minim </a:t>
              </a:r>
              <a:r>
                <a:rPr lang="en-GB" sz="1400" dirty="0" err="1">
                  <a:latin typeface="Roboto" panose="02000000000000000000" pitchFamily="2" charset="0"/>
                  <a:ea typeface="Roboto" panose="02000000000000000000" pitchFamily="2" charset="0"/>
                </a:rPr>
                <a:t>veniam</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quis</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nostrud</a:t>
              </a:r>
              <a:r>
                <a:rPr lang="en-GB" sz="1400" dirty="0">
                  <a:latin typeface="Roboto" panose="02000000000000000000" pitchFamily="2" charset="0"/>
                  <a:ea typeface="Roboto" panose="02000000000000000000" pitchFamily="2" charset="0"/>
                </a:rPr>
                <a:t> exercitation </a:t>
              </a:r>
              <a:r>
                <a:rPr lang="en-GB" sz="1400" dirty="0" err="1">
                  <a:latin typeface="Roboto" panose="02000000000000000000" pitchFamily="2" charset="0"/>
                  <a:ea typeface="Roboto" panose="02000000000000000000" pitchFamily="2" charset="0"/>
                </a:rPr>
                <a:t>ullamco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laboris</a:t>
              </a:r>
              <a:r>
                <a:rPr lang="en-GB" sz="1400" dirty="0">
                  <a:latin typeface="Roboto" panose="02000000000000000000" pitchFamily="2" charset="0"/>
                  <a:ea typeface="Roboto" panose="02000000000000000000" pitchFamily="2" charset="0"/>
                </a:rPr>
                <a:t> nisi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aliquip</a:t>
              </a:r>
              <a:r>
                <a:rPr lang="en-GB" sz="1400" dirty="0">
                  <a:latin typeface="Roboto" panose="02000000000000000000" pitchFamily="2" charset="0"/>
                  <a:ea typeface="Roboto" panose="02000000000000000000" pitchFamily="2" charset="0"/>
                </a:rPr>
                <a:t> ex </a:t>
              </a:r>
              <a:r>
                <a:rPr lang="en-GB" sz="1400" dirty="0" err="1">
                  <a:latin typeface="Roboto" panose="02000000000000000000" pitchFamily="2" charset="0"/>
                  <a:ea typeface="Roboto" panose="02000000000000000000" pitchFamily="2" charset="0"/>
                </a:rPr>
                <a:t>ea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commodo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consequat</a:t>
              </a:r>
              <a:r>
                <a:rPr lang="en-GB" sz="1400" dirty="0">
                  <a:latin typeface="Roboto" panose="02000000000000000000" pitchFamily="2" charset="0"/>
                  <a:ea typeface="Roboto" panose="02000000000000000000" pitchFamily="2" charset="0"/>
                </a:rPr>
                <a:t>. Duis </a:t>
              </a:r>
              <a:r>
                <a:rPr lang="en-GB" sz="1400" dirty="0" err="1">
                  <a:latin typeface="Roboto" panose="02000000000000000000" pitchFamily="2" charset="0"/>
                  <a:ea typeface="Roboto" panose="02000000000000000000" pitchFamily="2" charset="0"/>
                </a:rPr>
                <a:t>aute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irure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reprehenderit</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voluptate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velit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esse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cillum</a:t>
              </a:r>
              <a:r>
                <a:rPr lang="en-GB" sz="1400" dirty="0">
                  <a:latin typeface="Roboto" panose="02000000000000000000" pitchFamily="2" charset="0"/>
                  <a:ea typeface="Roboto" panose="02000000000000000000" pitchFamily="2" charset="0"/>
                </a:rPr>
                <a:t> dolore </a:t>
              </a:r>
              <a:r>
                <a:rPr lang="en-GB" sz="1400" dirty="0" err="1">
                  <a:latin typeface="Roboto" panose="02000000000000000000" pitchFamily="2" charset="0"/>
                  <a:ea typeface="Roboto" panose="02000000000000000000" pitchFamily="2" charset="0"/>
                </a:rPr>
                <a:t>eu</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fugiat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nulla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pariatur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Excepteur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sint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occaecat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cupidatat</a:t>
              </a:r>
              <a:r>
                <a:rPr lang="en-GB" sz="1400" dirty="0">
                  <a:latin typeface="Roboto" panose="02000000000000000000" pitchFamily="2" charset="0"/>
                  <a:ea typeface="Roboto" panose="02000000000000000000" pitchFamily="2" charset="0"/>
                </a:rPr>
                <a:t> non </a:t>
              </a:r>
              <a:r>
                <a:rPr lang="en-GB" sz="1400" dirty="0" err="1">
                  <a:latin typeface="Roboto" panose="02000000000000000000" pitchFamily="2" charset="0"/>
                  <a:ea typeface="Roboto" panose="02000000000000000000" pitchFamily="2" charset="0"/>
                </a:rPr>
                <a:t>proident</a:t>
              </a:r>
              <a:r>
                <a:rPr lang="en-GB" sz="1400" dirty="0">
                  <a:latin typeface="Roboto" panose="02000000000000000000" pitchFamily="2" charset="0"/>
                  <a:ea typeface="Roboto" panose="02000000000000000000" pitchFamily="2" charset="0"/>
                </a:rPr>
                <a:t>, sunt in culpa qui </a:t>
              </a:r>
              <a:r>
                <a:rPr lang="en-GB" sz="1400" dirty="0" err="1">
                  <a:latin typeface="Roboto" panose="02000000000000000000" pitchFamily="2" charset="0"/>
                  <a:ea typeface="Roboto" panose="02000000000000000000" pitchFamily="2" charset="0"/>
                </a:rPr>
                <a:t>officia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deserunt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mollit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anim</a:t>
              </a:r>
              <a:r>
                <a:rPr lang="en-GB" sz="1400" dirty="0">
                  <a:latin typeface="Roboto" panose="02000000000000000000" pitchFamily="2" charset="0"/>
                  <a:ea typeface="Roboto" panose="02000000000000000000" pitchFamily="2" charset="0"/>
                </a:rPr>
                <a:t> id </a:t>
              </a:r>
              <a:r>
                <a:rPr lang="en-GB" sz="1400" dirty="0" err="1">
                  <a:latin typeface="Roboto" panose="02000000000000000000" pitchFamily="2" charset="0"/>
                  <a:ea typeface="Roboto" panose="02000000000000000000" pitchFamily="2" charset="0"/>
                </a:rPr>
                <a:t>est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laborum</a:t>
              </a:r>
              <a:r>
                <a:rPr lang="en-GB" sz="1400" dirty="0">
                  <a:latin typeface="Roboto" panose="02000000000000000000" pitchFamily="2" charset="0"/>
                  <a:ea typeface="Roboto" panose="02000000000000000000" pitchFamily="2" charset="0"/>
                </a:rPr>
                <a:t>.</a:t>
              </a:r>
            </a:p>
          </p:txBody>
        </p:sp>
      </p:grpSp>
      <p:sp>
        <p:nvSpPr>
          <p:cNvPr id="23" name="TextBox 22">
            <a:extLst>
              <a:ext uri="{FF2B5EF4-FFF2-40B4-BE49-F238E27FC236}">
                <a16:creationId xmlns:a16="http://schemas.microsoft.com/office/drawing/2014/main" id="{A19C2661-D570-405D-A1E4-6CF9CAC8BE24}"/>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grpSp>
        <p:nvGrpSpPr>
          <p:cNvPr id="40" name="Group 39">
            <a:extLst>
              <a:ext uri="{FF2B5EF4-FFF2-40B4-BE49-F238E27FC236}">
                <a16:creationId xmlns:a16="http://schemas.microsoft.com/office/drawing/2014/main" id="{C6AC6D2F-10A3-489C-9A80-706183C3A327}"/>
              </a:ext>
            </a:extLst>
          </p:cNvPr>
          <p:cNvGrpSpPr/>
          <p:nvPr userDrawn="1"/>
        </p:nvGrpSpPr>
        <p:grpSpPr>
          <a:xfrm>
            <a:off x="735818" y="1678482"/>
            <a:ext cx="7643458" cy="2002840"/>
            <a:chOff x="744892" y="3707365"/>
            <a:chExt cx="7643458" cy="2002840"/>
          </a:xfrm>
        </p:grpSpPr>
        <p:sp>
          <p:nvSpPr>
            <p:cNvPr id="41" name="Rectangle 40">
              <a:extLst>
                <a:ext uri="{FF2B5EF4-FFF2-40B4-BE49-F238E27FC236}">
                  <a16:creationId xmlns:a16="http://schemas.microsoft.com/office/drawing/2014/main" id="{B0D18F5C-122B-478C-AA2E-1A9D89C3D4CD}"/>
                </a:ext>
              </a:extLst>
            </p:cNvPr>
            <p:cNvSpPr/>
            <p:nvPr/>
          </p:nvSpPr>
          <p:spPr>
            <a:xfrm>
              <a:off x="744892" y="3707365"/>
              <a:ext cx="1741673"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noAutofit/>
            </a:bodyPr>
            <a:lstStyle/>
            <a:p>
              <a:r>
                <a:rPr lang="en-GB" sz="1600" b="1" dirty="0">
                  <a:latin typeface="Roboto" panose="02000000000000000000" pitchFamily="2" charset="0"/>
                  <a:ea typeface="Roboto" panose="02000000000000000000" pitchFamily="2" charset="0"/>
                </a:rPr>
                <a:t>Insert Text Here</a:t>
              </a:r>
            </a:p>
          </p:txBody>
        </p:sp>
        <p:sp>
          <p:nvSpPr>
            <p:cNvPr id="42" name="Rectangle 41">
              <a:extLst>
                <a:ext uri="{FF2B5EF4-FFF2-40B4-BE49-F238E27FC236}">
                  <a16:creationId xmlns:a16="http://schemas.microsoft.com/office/drawing/2014/main" id="{43633EA5-BFCB-47C1-B42E-6602A01D8301}"/>
                </a:ext>
              </a:extLst>
            </p:cNvPr>
            <p:cNvSpPr/>
            <p:nvPr/>
          </p:nvSpPr>
          <p:spPr>
            <a:xfrm>
              <a:off x="755650" y="3981325"/>
              <a:ext cx="7632700" cy="1728880"/>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Lorem ipsum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sit </a:t>
              </a:r>
              <a:r>
                <a:rPr lang="en-GB" sz="1400" dirty="0" err="1">
                  <a:latin typeface="Roboto" panose="02000000000000000000" pitchFamily="2" charset="0"/>
                  <a:ea typeface="Roboto" panose="02000000000000000000" pitchFamily="2" charset="0"/>
                </a:rPr>
                <a:t>amet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consectetur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adipiscing</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sed</a:t>
              </a:r>
              <a:r>
                <a:rPr lang="en-GB" sz="1400" dirty="0">
                  <a:latin typeface="Roboto" panose="02000000000000000000" pitchFamily="2" charset="0"/>
                  <a:ea typeface="Roboto" panose="02000000000000000000" pitchFamily="2" charset="0"/>
                </a:rPr>
                <a:t> do </a:t>
              </a:r>
              <a:r>
                <a:rPr lang="en-GB" sz="1400" dirty="0" err="1">
                  <a:latin typeface="Roboto" panose="02000000000000000000" pitchFamily="2" charset="0"/>
                  <a:ea typeface="Roboto" panose="02000000000000000000" pitchFamily="2" charset="0"/>
                </a:rPr>
                <a:t>eiusmod</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tempor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incididunt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labore et dolore magna </a:t>
              </a:r>
              <a:r>
                <a:rPr lang="en-GB" sz="1400" dirty="0" err="1">
                  <a:latin typeface="Roboto" panose="02000000000000000000" pitchFamily="2" charset="0"/>
                  <a:ea typeface="Roboto" panose="02000000000000000000" pitchFamily="2" charset="0"/>
                </a:rPr>
                <a:t>aliqua</a:t>
              </a:r>
              <a:r>
                <a:rPr lang="en-GB" sz="1400" dirty="0">
                  <a:latin typeface="Roboto" panose="02000000000000000000" pitchFamily="2" charset="0"/>
                  <a:ea typeface="Roboto" panose="02000000000000000000" pitchFamily="2" charset="0"/>
                </a:rPr>
                <a:t>. Ut </a:t>
              </a:r>
              <a:r>
                <a:rPr lang="en-GB" sz="1400" dirty="0" err="1">
                  <a:latin typeface="Roboto" panose="02000000000000000000" pitchFamily="2" charset="0"/>
                  <a:ea typeface="Roboto" panose="02000000000000000000" pitchFamily="2" charset="0"/>
                </a:rPr>
                <a:t>enim</a:t>
              </a:r>
              <a:r>
                <a:rPr lang="en-GB" sz="1400" dirty="0">
                  <a:latin typeface="Roboto" panose="02000000000000000000" pitchFamily="2" charset="0"/>
                  <a:ea typeface="Roboto" panose="02000000000000000000" pitchFamily="2" charset="0"/>
                </a:rPr>
                <a:t> ad minim </a:t>
              </a:r>
              <a:r>
                <a:rPr lang="en-GB" sz="1400" dirty="0" err="1">
                  <a:latin typeface="Roboto" panose="02000000000000000000" pitchFamily="2" charset="0"/>
                  <a:ea typeface="Roboto" panose="02000000000000000000" pitchFamily="2" charset="0"/>
                </a:rPr>
                <a:t>veniam</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quis</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nostrud</a:t>
              </a:r>
              <a:r>
                <a:rPr lang="en-GB" sz="1400" dirty="0">
                  <a:latin typeface="Roboto" panose="02000000000000000000" pitchFamily="2" charset="0"/>
                  <a:ea typeface="Roboto" panose="02000000000000000000" pitchFamily="2" charset="0"/>
                </a:rPr>
                <a:t> exercitation </a:t>
              </a:r>
              <a:r>
                <a:rPr lang="en-GB" sz="1400" dirty="0" err="1">
                  <a:latin typeface="Roboto" panose="02000000000000000000" pitchFamily="2" charset="0"/>
                  <a:ea typeface="Roboto" panose="02000000000000000000" pitchFamily="2" charset="0"/>
                </a:rPr>
                <a:t>ullamco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laboris</a:t>
              </a:r>
              <a:r>
                <a:rPr lang="en-GB" sz="1400" dirty="0">
                  <a:latin typeface="Roboto" panose="02000000000000000000" pitchFamily="2" charset="0"/>
                  <a:ea typeface="Roboto" panose="02000000000000000000" pitchFamily="2" charset="0"/>
                </a:rPr>
                <a:t> nisi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aliquip</a:t>
              </a:r>
              <a:r>
                <a:rPr lang="en-GB" sz="1400" dirty="0">
                  <a:latin typeface="Roboto" panose="02000000000000000000" pitchFamily="2" charset="0"/>
                  <a:ea typeface="Roboto" panose="02000000000000000000" pitchFamily="2" charset="0"/>
                </a:rPr>
                <a:t> ex </a:t>
              </a:r>
              <a:r>
                <a:rPr lang="en-GB" sz="1400" dirty="0" err="1">
                  <a:latin typeface="Roboto" panose="02000000000000000000" pitchFamily="2" charset="0"/>
                  <a:ea typeface="Roboto" panose="02000000000000000000" pitchFamily="2" charset="0"/>
                </a:rPr>
                <a:t>ea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commodo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consequat</a:t>
              </a:r>
              <a:r>
                <a:rPr lang="en-GB" sz="1400" dirty="0">
                  <a:latin typeface="Roboto" panose="02000000000000000000" pitchFamily="2" charset="0"/>
                  <a:ea typeface="Roboto" panose="02000000000000000000" pitchFamily="2" charset="0"/>
                </a:rPr>
                <a:t>. Duis </a:t>
              </a:r>
              <a:r>
                <a:rPr lang="en-GB" sz="1400" dirty="0" err="1">
                  <a:latin typeface="Roboto" panose="02000000000000000000" pitchFamily="2" charset="0"/>
                  <a:ea typeface="Roboto" panose="02000000000000000000" pitchFamily="2" charset="0"/>
                </a:rPr>
                <a:t>aute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irure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reprehenderit</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voluptate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velit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esse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cillum</a:t>
              </a:r>
              <a:r>
                <a:rPr lang="en-GB" sz="1400" dirty="0">
                  <a:latin typeface="Roboto" panose="02000000000000000000" pitchFamily="2" charset="0"/>
                  <a:ea typeface="Roboto" panose="02000000000000000000" pitchFamily="2" charset="0"/>
                </a:rPr>
                <a:t> dolore </a:t>
              </a:r>
              <a:r>
                <a:rPr lang="en-GB" sz="1400" dirty="0" err="1">
                  <a:latin typeface="Roboto" panose="02000000000000000000" pitchFamily="2" charset="0"/>
                  <a:ea typeface="Roboto" panose="02000000000000000000" pitchFamily="2" charset="0"/>
                </a:rPr>
                <a:t>eu</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fugiat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nulla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pariatur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Excepteur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sint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occaecat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cupidatat</a:t>
              </a:r>
              <a:r>
                <a:rPr lang="en-GB" sz="1400" dirty="0">
                  <a:latin typeface="Roboto" panose="02000000000000000000" pitchFamily="2" charset="0"/>
                  <a:ea typeface="Roboto" panose="02000000000000000000" pitchFamily="2" charset="0"/>
                </a:rPr>
                <a:t> non </a:t>
              </a:r>
              <a:r>
                <a:rPr lang="en-GB" sz="1400" dirty="0" err="1">
                  <a:latin typeface="Roboto" panose="02000000000000000000" pitchFamily="2" charset="0"/>
                  <a:ea typeface="Roboto" panose="02000000000000000000" pitchFamily="2" charset="0"/>
                </a:rPr>
                <a:t>proident</a:t>
              </a:r>
              <a:r>
                <a:rPr lang="en-GB" sz="1400" dirty="0">
                  <a:latin typeface="Roboto" panose="02000000000000000000" pitchFamily="2" charset="0"/>
                  <a:ea typeface="Roboto" panose="02000000000000000000" pitchFamily="2" charset="0"/>
                </a:rPr>
                <a:t>, sunt in culpa qui </a:t>
              </a:r>
              <a:r>
                <a:rPr lang="en-GB" sz="1400" dirty="0" err="1">
                  <a:latin typeface="Roboto" panose="02000000000000000000" pitchFamily="2" charset="0"/>
                  <a:ea typeface="Roboto" panose="02000000000000000000" pitchFamily="2" charset="0"/>
                </a:rPr>
                <a:t>officia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deserunt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mollit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anim</a:t>
              </a:r>
              <a:r>
                <a:rPr lang="en-GB" sz="1400" dirty="0">
                  <a:latin typeface="Roboto" panose="02000000000000000000" pitchFamily="2" charset="0"/>
                  <a:ea typeface="Roboto" panose="02000000000000000000" pitchFamily="2" charset="0"/>
                </a:rPr>
                <a:t> id </a:t>
              </a:r>
              <a:r>
                <a:rPr lang="en-GB" sz="1400" dirty="0" err="1">
                  <a:latin typeface="Roboto" panose="02000000000000000000" pitchFamily="2" charset="0"/>
                  <a:ea typeface="Roboto" panose="02000000000000000000" pitchFamily="2" charset="0"/>
                </a:rPr>
                <a:t>est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laborum</a:t>
              </a:r>
              <a:r>
                <a:rPr lang="en-GB" sz="1400" dirty="0">
                  <a:latin typeface="Roboto" panose="02000000000000000000" pitchFamily="2" charset="0"/>
                  <a:ea typeface="Roboto" panose="02000000000000000000" pitchFamily="2" charset="0"/>
                </a:rPr>
                <a:t>.</a:t>
              </a:r>
            </a:p>
          </p:txBody>
        </p:sp>
      </p:grpSp>
    </p:spTree>
    <p:extLst>
      <p:ext uri="{BB962C8B-B14F-4D97-AF65-F5344CB8AC3E}">
        <p14:creationId xmlns:p14="http://schemas.microsoft.com/office/powerpoint/2010/main" val="38378773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9745" y="695325"/>
            <a:ext cx="8164510" cy="1150938"/>
          </a:xfrm>
          <a:prstGeom prst="roundRect">
            <a:avLst>
              <a:gd name="adj" fmla="val 9641"/>
            </a:avLst>
          </a:prstGeom>
          <a:noFill/>
          <a:ln w="25400">
            <a:noFill/>
          </a:ln>
        </p:spPr>
        <p:txBody>
          <a:bodyPr vert="horz" lIns="252000" tIns="252000" rIns="252000" bIns="252000" rtlCol="0" anchor="ctr" anchorCtr="1">
            <a:normAutofit/>
          </a:bodyPr>
          <a:lstStyle/>
          <a:p>
            <a:r>
              <a:rPr lang="en-GB"/>
              <a:t>Click to edit Master title style</a:t>
            </a:r>
            <a:endParaRPr lang="en-US" dirty="0"/>
          </a:p>
        </p:txBody>
      </p:sp>
      <p:sp>
        <p:nvSpPr>
          <p:cNvPr id="3" name="Text Placeholder 2"/>
          <p:cNvSpPr>
            <a:spLocks noGrp="1"/>
          </p:cNvSpPr>
          <p:nvPr>
            <p:ph type="body" idx="1"/>
          </p:nvPr>
        </p:nvSpPr>
        <p:spPr>
          <a:xfrm>
            <a:off x="489745" y="1957386"/>
            <a:ext cx="8164510" cy="4387851"/>
          </a:xfrm>
          <a:prstGeom prst="roundRect">
            <a:avLst>
              <a:gd name="adj" fmla="val 2585"/>
            </a:avLst>
          </a:prstGeom>
          <a:noFill/>
          <a:ln w="25400">
            <a:noFill/>
          </a:ln>
        </p:spPr>
        <p:txBody>
          <a:bodyPr vert="horz" lIns="252000" tIns="252000" rIns="252000" bIns="25200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43892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6" r:id="rId4"/>
  </p:sldLayoutIdLst>
  <p:txStyles>
    <p:titleStyle>
      <a:lvl1pPr algn="l" defTabSz="914400" rtl="0" eaLnBrk="1" latinLnBrk="0" hangingPunct="1">
        <a:lnSpc>
          <a:spcPct val="90000"/>
        </a:lnSpc>
        <a:spcBef>
          <a:spcPct val="0"/>
        </a:spcBef>
        <a:buNone/>
        <a:defRPr sz="3600" b="1" kern="1200">
          <a:solidFill>
            <a:srgbClr val="1C1C1C"/>
          </a:solidFill>
          <a:latin typeface="Twinkl"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Twinkl" pitchFamily="50" charset="0"/>
          <a:ea typeface="Twinkl"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Twinkl" pitchFamily="50" charset="0"/>
          <a:ea typeface="Twinkl"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22809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3" r:id="rId3"/>
    <p:sldLayoutId id="2147483674" r:id="rId4"/>
    <p:sldLayoutId id="2147483669" r:id="rId5"/>
    <p:sldLayoutId id="2147483670" r:id="rId6"/>
    <p:sldLayoutId id="2147483671"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twinkl.co.uk/resources/ks2-maths-2014-year-5/ks2-maths-2014-year-5-number-fractions/ks2-maths-2014-year-5-number-fractions-recognise-the-per-cent-symbol-and-understand-that-per-cent-relates-to-number-of-parts-per-hundred-and-write-percentages-as-a-fraction-with-denominator-100-and-as-a-decimal" TargetMode="External"/><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twinkl.co.uk/resources/ks2-maths-2014-year-5/ks2-maths-2014-year-5-number-fractions/ks2-maths-2014-year-5-number-fractions-recognise-the-per-cent-symbol-and-understand-that-per-cent-relates-to-number-of-parts-per-hundred-and-write-percentages-as-a-fraction-with-denominator-100-and-as-a-decimal" TargetMode="External"/><Relationship Id="rId2" Type="http://schemas.openxmlformats.org/officeDocument/2006/relationships/image" Target="../media/image1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hlinkClick r:id="rId3"/>
            <a:extLst>
              <a:ext uri="{FF2B5EF4-FFF2-40B4-BE49-F238E27FC236}">
                <a16:creationId xmlns:a16="http://schemas.microsoft.com/office/drawing/2014/main" id="{53FFAD2C-3559-D6BC-7E98-779F8B6C9D8F}"/>
              </a:ext>
            </a:extLst>
          </p:cNvPr>
          <p:cNvSpPr/>
          <p:nvPr/>
        </p:nvSpPr>
        <p:spPr>
          <a:xfrm>
            <a:off x="0" y="5852160"/>
            <a:ext cx="1595120" cy="10058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hlinkClick r:id="rId3"/>
            <a:extLst>
              <a:ext uri="{FF2B5EF4-FFF2-40B4-BE49-F238E27FC236}">
                <a16:creationId xmlns:a16="http://schemas.microsoft.com/office/drawing/2014/main" id="{4915430B-2964-E4C6-B35B-DD49850E1A82}"/>
              </a:ext>
            </a:extLst>
          </p:cNvPr>
          <p:cNvSpPr/>
          <p:nvPr/>
        </p:nvSpPr>
        <p:spPr>
          <a:xfrm>
            <a:off x="8219440" y="5963920"/>
            <a:ext cx="924560" cy="894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701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p:cNvSpPr>
            <a:spLocks noGrp="1"/>
          </p:cNvSpPr>
          <p:nvPr>
            <p:ph type="title" idx="4294967295"/>
          </p:nvPr>
        </p:nvSpPr>
        <p:spPr>
          <a:xfrm>
            <a:off x="755650" y="506995"/>
            <a:ext cx="7632700" cy="1023437"/>
          </a:xfrm>
          <a:prstGeom prst="rect">
            <a:avLst/>
          </a:prstGeom>
          <a:solidFill>
            <a:srgbClr val="05A8E7"/>
          </a:solidFill>
          <a:ln w="57150" cap="rnd">
            <a:solidFill>
              <a:schemeClr val="tx1"/>
            </a:solidFill>
            <a:round/>
          </a:ln>
          <a:effectLst/>
        </p:spPr>
        <p:txBody>
          <a:bodyPr>
            <a:noAutofit/>
          </a:bodyPr>
          <a:lstStyle/>
          <a:p>
            <a:r>
              <a:rPr lang="en-GB" b="1" i="0" u="none" strike="noStrike" dirty="0">
                <a:solidFill>
                  <a:schemeClr val="bg1"/>
                </a:solidFill>
                <a:effectLst/>
                <a:latin typeface="+mn-lt"/>
              </a:rPr>
              <a:t>What is a percentage?</a:t>
            </a:r>
            <a:endParaRPr lang="en-GB" sz="6600" dirty="0">
              <a:ln>
                <a:solidFill>
                  <a:schemeClr val="tx1"/>
                </a:solidFill>
              </a:ln>
              <a:solidFill>
                <a:schemeClr val="bg1"/>
              </a:solidFill>
              <a:effectLst>
                <a:outerShdw dist="38100" dir="1800000" algn="l" rotWithShape="0">
                  <a:prstClr val="black"/>
                </a:outerShdw>
              </a:effectLst>
              <a:latin typeface="+mn-lt"/>
            </a:endParaRPr>
          </a:p>
        </p:txBody>
      </p:sp>
      <p:sp>
        <p:nvSpPr>
          <p:cNvPr id="5" name="Text"/>
          <p:cNvSpPr/>
          <p:nvPr/>
        </p:nvSpPr>
        <p:spPr>
          <a:xfrm>
            <a:off x="4873276" y="2507330"/>
            <a:ext cx="3410800" cy="304698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The whole is divided into 100 equal parts.</a:t>
            </a:r>
            <a:endParaRPr lang="en-GB" b="0" dirty="0">
              <a:effectLst/>
              <a:latin typeface="Twinkl" panose="02000000000000000000" pitchFamily="2" charset="77"/>
            </a:endParaRPr>
          </a:p>
          <a:p>
            <a:pPr rtl="0"/>
            <a:br>
              <a:rPr lang="en-GB" b="0" dirty="0">
                <a:effectLst/>
                <a:latin typeface="Twinkl" panose="02000000000000000000" pitchFamily="2" charset="77"/>
              </a:rPr>
            </a:br>
            <a:r>
              <a:rPr lang="en-GB" sz="1800" b="0" i="0" u="none" strike="noStrike" dirty="0">
                <a:solidFill>
                  <a:srgbClr val="000000"/>
                </a:solidFill>
                <a:effectLst/>
                <a:latin typeface="Twinkl" panose="02000000000000000000" pitchFamily="2" charset="77"/>
              </a:rPr>
              <a:t>1 part is shaded.</a:t>
            </a:r>
            <a:endParaRPr lang="en-GB" b="0" dirty="0">
              <a:effectLst/>
              <a:latin typeface="Twinkl" panose="02000000000000000000" pitchFamily="2" charset="77"/>
            </a:endParaRPr>
          </a:p>
          <a:p>
            <a:pPr rtl="0"/>
            <a:br>
              <a:rPr lang="en-GB" b="0" dirty="0">
                <a:effectLst/>
                <a:latin typeface="Twinkl" panose="02000000000000000000" pitchFamily="2" charset="77"/>
              </a:rPr>
            </a:br>
            <a:r>
              <a:rPr lang="en-GB" sz="1800" b="0" i="0" u="none" strike="noStrike" dirty="0">
                <a:solidFill>
                  <a:srgbClr val="000000"/>
                </a:solidFill>
                <a:effectLst/>
                <a:latin typeface="Twinkl" panose="02000000000000000000" pitchFamily="2" charset="77"/>
              </a:rPr>
              <a:t>      of the whole is shaded.</a:t>
            </a:r>
            <a:endParaRPr lang="en-GB" b="0" dirty="0">
              <a:effectLst/>
              <a:latin typeface="Twinkl" panose="02000000000000000000" pitchFamily="2" charset="77"/>
            </a:endParaRPr>
          </a:p>
          <a:p>
            <a:pPr rtl="0"/>
            <a:br>
              <a:rPr lang="en-GB" b="0" dirty="0">
                <a:effectLst/>
                <a:latin typeface="Twinkl" panose="02000000000000000000" pitchFamily="2" charset="77"/>
              </a:rPr>
            </a:br>
            <a:br>
              <a:rPr lang="en-GB" b="0" dirty="0">
                <a:effectLst/>
                <a:latin typeface="Twinkl" panose="02000000000000000000" pitchFamily="2" charset="77"/>
              </a:rPr>
            </a:br>
            <a:r>
              <a:rPr lang="en-GB" sz="1800" b="0" i="0" u="none" strike="noStrike" dirty="0">
                <a:solidFill>
                  <a:srgbClr val="141414"/>
                </a:solidFill>
                <a:effectLst/>
                <a:latin typeface="Twinkl" panose="02000000000000000000" pitchFamily="2" charset="77"/>
              </a:rPr>
              <a:t>A percentage is a part out of 100.</a:t>
            </a:r>
            <a:endParaRPr lang="en-GB" b="0" dirty="0">
              <a:effectLst/>
              <a:latin typeface="Twinkl" panose="02000000000000000000" pitchFamily="2" charset="77"/>
            </a:endParaRPr>
          </a:p>
          <a:p>
            <a:pPr rtl="0"/>
            <a:br>
              <a:rPr lang="en-GB" b="0" dirty="0">
                <a:effectLst/>
                <a:latin typeface="Twinkl" panose="02000000000000000000" pitchFamily="2" charset="77"/>
              </a:rPr>
            </a:br>
            <a:r>
              <a:rPr lang="en-GB" sz="1800" b="0" i="0" u="none" strike="noStrike" dirty="0">
                <a:solidFill>
                  <a:srgbClr val="141414"/>
                </a:solidFill>
                <a:effectLst/>
                <a:latin typeface="Twinkl" panose="02000000000000000000" pitchFamily="2" charset="77"/>
              </a:rPr>
              <a:t>1% of the whole is shaded.</a:t>
            </a:r>
            <a:endParaRPr lang="en-GB" b="0" dirty="0">
              <a:effectLst/>
              <a:latin typeface="Twinkl" panose="02000000000000000000" pitchFamily="2" charset="77"/>
            </a:endParaRPr>
          </a:p>
        </p:txBody>
      </p:sp>
      <p:pic>
        <p:nvPicPr>
          <p:cNvPr id="4" name="Picture 3">
            <a:extLst>
              <a:ext uri="{FF2B5EF4-FFF2-40B4-BE49-F238E27FC236}">
                <a16:creationId xmlns:a16="http://schemas.microsoft.com/office/drawing/2014/main" id="{62E41BC1-7D7C-EAFE-2D31-A6DB9AC54DD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70123" y="127245"/>
            <a:ext cx="275875" cy="760521"/>
          </a:xfrm>
          <a:prstGeom prst="rect">
            <a:avLst/>
          </a:prstGeom>
        </p:spPr>
      </p:pic>
      <p:graphicFrame>
        <p:nvGraphicFramePr>
          <p:cNvPr id="3" name="Table 2">
            <a:extLst>
              <a:ext uri="{FF2B5EF4-FFF2-40B4-BE49-F238E27FC236}">
                <a16:creationId xmlns:a16="http://schemas.microsoft.com/office/drawing/2014/main" id="{04399885-12A5-E88B-E344-3C7855D50EC6}"/>
              </a:ext>
            </a:extLst>
          </p:cNvPr>
          <p:cNvGraphicFramePr>
            <a:graphicFrameLocks noGrp="1"/>
          </p:cNvGraphicFramePr>
          <p:nvPr>
            <p:extLst>
              <p:ext uri="{D42A27DB-BD31-4B8C-83A1-F6EECF244321}">
                <p14:modId xmlns:p14="http://schemas.microsoft.com/office/powerpoint/2010/main" val="1371661712"/>
              </p:ext>
            </p:extLst>
          </p:nvPr>
        </p:nvGraphicFramePr>
        <p:xfrm>
          <a:off x="859924" y="2230824"/>
          <a:ext cx="3600000" cy="3600000"/>
        </p:xfrm>
        <a:graphic>
          <a:graphicData uri="http://schemas.openxmlformats.org/drawingml/2006/table">
            <a:tbl>
              <a:tblPr/>
              <a:tblGrid>
                <a:gridCol w="360000">
                  <a:extLst>
                    <a:ext uri="{9D8B030D-6E8A-4147-A177-3AD203B41FA5}">
                      <a16:colId xmlns:a16="http://schemas.microsoft.com/office/drawing/2014/main" val="572867659"/>
                    </a:ext>
                  </a:extLst>
                </a:gridCol>
                <a:gridCol w="360000">
                  <a:extLst>
                    <a:ext uri="{9D8B030D-6E8A-4147-A177-3AD203B41FA5}">
                      <a16:colId xmlns:a16="http://schemas.microsoft.com/office/drawing/2014/main" val="2366956878"/>
                    </a:ext>
                  </a:extLst>
                </a:gridCol>
                <a:gridCol w="360000">
                  <a:extLst>
                    <a:ext uri="{9D8B030D-6E8A-4147-A177-3AD203B41FA5}">
                      <a16:colId xmlns:a16="http://schemas.microsoft.com/office/drawing/2014/main" val="2484655587"/>
                    </a:ext>
                  </a:extLst>
                </a:gridCol>
                <a:gridCol w="360000">
                  <a:extLst>
                    <a:ext uri="{9D8B030D-6E8A-4147-A177-3AD203B41FA5}">
                      <a16:colId xmlns:a16="http://schemas.microsoft.com/office/drawing/2014/main" val="3167737010"/>
                    </a:ext>
                  </a:extLst>
                </a:gridCol>
                <a:gridCol w="360000">
                  <a:extLst>
                    <a:ext uri="{9D8B030D-6E8A-4147-A177-3AD203B41FA5}">
                      <a16:colId xmlns:a16="http://schemas.microsoft.com/office/drawing/2014/main" val="563689847"/>
                    </a:ext>
                  </a:extLst>
                </a:gridCol>
                <a:gridCol w="360000">
                  <a:extLst>
                    <a:ext uri="{9D8B030D-6E8A-4147-A177-3AD203B41FA5}">
                      <a16:colId xmlns:a16="http://schemas.microsoft.com/office/drawing/2014/main" val="2992893548"/>
                    </a:ext>
                  </a:extLst>
                </a:gridCol>
                <a:gridCol w="360000">
                  <a:extLst>
                    <a:ext uri="{9D8B030D-6E8A-4147-A177-3AD203B41FA5}">
                      <a16:colId xmlns:a16="http://schemas.microsoft.com/office/drawing/2014/main" val="849333661"/>
                    </a:ext>
                  </a:extLst>
                </a:gridCol>
                <a:gridCol w="360000">
                  <a:extLst>
                    <a:ext uri="{9D8B030D-6E8A-4147-A177-3AD203B41FA5}">
                      <a16:colId xmlns:a16="http://schemas.microsoft.com/office/drawing/2014/main" val="1997093998"/>
                    </a:ext>
                  </a:extLst>
                </a:gridCol>
                <a:gridCol w="360000">
                  <a:extLst>
                    <a:ext uri="{9D8B030D-6E8A-4147-A177-3AD203B41FA5}">
                      <a16:colId xmlns:a16="http://schemas.microsoft.com/office/drawing/2014/main" val="4262308452"/>
                    </a:ext>
                  </a:extLst>
                </a:gridCol>
                <a:gridCol w="360000">
                  <a:extLst>
                    <a:ext uri="{9D8B030D-6E8A-4147-A177-3AD203B41FA5}">
                      <a16:colId xmlns:a16="http://schemas.microsoft.com/office/drawing/2014/main" val="1287248324"/>
                    </a:ext>
                  </a:extLst>
                </a:gridCol>
              </a:tblGrid>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9307960"/>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6215500"/>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458509"/>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9702945"/>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475546"/>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4311029"/>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9215718"/>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3711955"/>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4464789"/>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3306401"/>
                  </a:ext>
                </a:extLst>
              </a:tr>
            </a:tbl>
          </a:graphicData>
        </a:graphic>
      </p:graphicFrame>
      <p:grpSp>
        <p:nvGrpSpPr>
          <p:cNvPr id="11" name="Group 10">
            <a:extLst>
              <a:ext uri="{FF2B5EF4-FFF2-40B4-BE49-F238E27FC236}">
                <a16:creationId xmlns:a16="http://schemas.microsoft.com/office/drawing/2014/main" id="{0EED6997-3F1D-D776-F257-D26D71829756}"/>
              </a:ext>
            </a:extLst>
          </p:cNvPr>
          <p:cNvGrpSpPr/>
          <p:nvPr/>
        </p:nvGrpSpPr>
        <p:grpSpPr>
          <a:xfrm>
            <a:off x="4784375" y="3753629"/>
            <a:ext cx="497305" cy="523220"/>
            <a:chOff x="4732421" y="1652337"/>
            <a:chExt cx="497305" cy="523220"/>
          </a:xfrm>
        </p:grpSpPr>
        <p:sp>
          <p:nvSpPr>
            <p:cNvPr id="8" name="TextBox 7">
              <a:extLst>
                <a:ext uri="{FF2B5EF4-FFF2-40B4-BE49-F238E27FC236}">
                  <a16:creationId xmlns:a16="http://schemas.microsoft.com/office/drawing/2014/main" id="{3BAE62D4-B853-12B0-9CEF-DC0CD3B78008}"/>
                </a:ext>
              </a:extLst>
            </p:cNvPr>
            <p:cNvSpPr txBox="1"/>
            <p:nvPr/>
          </p:nvSpPr>
          <p:spPr>
            <a:xfrm>
              <a:off x="4732421" y="1652337"/>
              <a:ext cx="497305" cy="523220"/>
            </a:xfrm>
            <a:prstGeom prst="rect">
              <a:avLst/>
            </a:prstGeom>
            <a:noFill/>
          </p:spPr>
          <p:txBody>
            <a:bodyPr wrap="square" rtlCol="0">
              <a:spAutoFit/>
            </a:bodyPr>
            <a:lstStyle/>
            <a:p>
              <a:pPr algn="ctr"/>
              <a:r>
                <a:rPr lang="en-US" sz="1400" dirty="0"/>
                <a:t>1</a:t>
              </a:r>
              <a:br>
                <a:rPr lang="en-US" sz="1400" dirty="0"/>
              </a:br>
              <a:r>
                <a:rPr lang="en-US" sz="1400" dirty="0"/>
                <a:t>100</a:t>
              </a:r>
            </a:p>
          </p:txBody>
        </p:sp>
        <p:cxnSp>
          <p:nvCxnSpPr>
            <p:cNvPr id="10" name="Straight Connector 9">
              <a:extLst>
                <a:ext uri="{FF2B5EF4-FFF2-40B4-BE49-F238E27FC236}">
                  <a16:creationId xmlns:a16="http://schemas.microsoft.com/office/drawing/2014/main" id="{5B7B96DC-5330-38C8-1F85-90DADEE87E1E}"/>
                </a:ext>
              </a:extLst>
            </p:cNvPr>
            <p:cNvCxnSpPr>
              <a:cxnSpLocks/>
            </p:cNvCxnSpPr>
            <p:nvPr/>
          </p:nvCxnSpPr>
          <p:spPr>
            <a:xfrm>
              <a:off x="4818559" y="1907321"/>
              <a:ext cx="32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6237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C84C1-C349-4D9A-4054-69C00CB38ADF}"/>
            </a:ext>
          </a:extLst>
        </p:cNvPr>
        <p:cNvGrpSpPr/>
        <p:nvPr/>
      </p:nvGrpSpPr>
      <p:grpSpPr>
        <a:xfrm>
          <a:off x="0" y="0"/>
          <a:ext cx="0" cy="0"/>
          <a:chOff x="0" y="0"/>
          <a:chExt cx="0" cy="0"/>
        </a:xfrm>
      </p:grpSpPr>
      <p:sp>
        <p:nvSpPr>
          <p:cNvPr id="5" name="Text">
            <a:extLst>
              <a:ext uri="{FF2B5EF4-FFF2-40B4-BE49-F238E27FC236}">
                <a16:creationId xmlns:a16="http://schemas.microsoft.com/office/drawing/2014/main" id="{439C55B8-1154-0B88-4BB6-4CFCA435EF35}"/>
              </a:ext>
            </a:extLst>
          </p:cNvPr>
          <p:cNvSpPr/>
          <p:nvPr/>
        </p:nvSpPr>
        <p:spPr>
          <a:xfrm>
            <a:off x="4848234" y="1606203"/>
            <a:ext cx="2352687"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What fraction of this shape is </a:t>
            </a:r>
            <a:r>
              <a:rPr lang="en-GB" sz="1800" b="1" i="0" u="none" strike="noStrike" dirty="0">
                <a:solidFill>
                  <a:srgbClr val="000000"/>
                </a:solidFill>
                <a:effectLst/>
                <a:latin typeface="Twinkl" panose="02000000000000000000" pitchFamily="2" charset="77"/>
              </a:rPr>
              <a:t>shaded</a:t>
            </a:r>
            <a:r>
              <a:rPr lang="en-GB" sz="1800" b="0" i="0" u="none" strike="noStrike" dirty="0">
                <a:solidFill>
                  <a:srgbClr val="000000"/>
                </a:solidFill>
                <a:effectLst/>
                <a:latin typeface="Twinkl" panose="02000000000000000000" pitchFamily="2" charset="77"/>
              </a:rPr>
              <a:t>?</a:t>
            </a:r>
            <a:endParaRPr lang="en-GB" b="0" dirty="0">
              <a:effectLst/>
              <a:latin typeface="Twinkl" panose="02000000000000000000" pitchFamily="2" charset="77"/>
            </a:endParaRPr>
          </a:p>
        </p:txBody>
      </p:sp>
      <p:graphicFrame>
        <p:nvGraphicFramePr>
          <p:cNvPr id="3" name="Table 2">
            <a:extLst>
              <a:ext uri="{FF2B5EF4-FFF2-40B4-BE49-F238E27FC236}">
                <a16:creationId xmlns:a16="http://schemas.microsoft.com/office/drawing/2014/main" id="{7D060E27-06E3-3267-2607-69FD58AEE47D}"/>
              </a:ext>
            </a:extLst>
          </p:cNvPr>
          <p:cNvGraphicFramePr>
            <a:graphicFrameLocks noGrp="1"/>
          </p:cNvGraphicFramePr>
          <p:nvPr>
            <p:extLst>
              <p:ext uri="{D42A27DB-BD31-4B8C-83A1-F6EECF244321}">
                <p14:modId xmlns:p14="http://schemas.microsoft.com/office/powerpoint/2010/main" val="1027843866"/>
              </p:ext>
            </p:extLst>
          </p:nvPr>
        </p:nvGraphicFramePr>
        <p:xfrm>
          <a:off x="859924" y="1629000"/>
          <a:ext cx="3600000" cy="3600000"/>
        </p:xfrm>
        <a:graphic>
          <a:graphicData uri="http://schemas.openxmlformats.org/drawingml/2006/table">
            <a:tbl>
              <a:tblPr/>
              <a:tblGrid>
                <a:gridCol w="360000">
                  <a:extLst>
                    <a:ext uri="{9D8B030D-6E8A-4147-A177-3AD203B41FA5}">
                      <a16:colId xmlns:a16="http://schemas.microsoft.com/office/drawing/2014/main" val="572867659"/>
                    </a:ext>
                  </a:extLst>
                </a:gridCol>
                <a:gridCol w="360000">
                  <a:extLst>
                    <a:ext uri="{9D8B030D-6E8A-4147-A177-3AD203B41FA5}">
                      <a16:colId xmlns:a16="http://schemas.microsoft.com/office/drawing/2014/main" val="2366956878"/>
                    </a:ext>
                  </a:extLst>
                </a:gridCol>
                <a:gridCol w="360000">
                  <a:extLst>
                    <a:ext uri="{9D8B030D-6E8A-4147-A177-3AD203B41FA5}">
                      <a16:colId xmlns:a16="http://schemas.microsoft.com/office/drawing/2014/main" val="2484655587"/>
                    </a:ext>
                  </a:extLst>
                </a:gridCol>
                <a:gridCol w="360000">
                  <a:extLst>
                    <a:ext uri="{9D8B030D-6E8A-4147-A177-3AD203B41FA5}">
                      <a16:colId xmlns:a16="http://schemas.microsoft.com/office/drawing/2014/main" val="3167737010"/>
                    </a:ext>
                  </a:extLst>
                </a:gridCol>
                <a:gridCol w="360000">
                  <a:extLst>
                    <a:ext uri="{9D8B030D-6E8A-4147-A177-3AD203B41FA5}">
                      <a16:colId xmlns:a16="http://schemas.microsoft.com/office/drawing/2014/main" val="563689847"/>
                    </a:ext>
                  </a:extLst>
                </a:gridCol>
                <a:gridCol w="360000">
                  <a:extLst>
                    <a:ext uri="{9D8B030D-6E8A-4147-A177-3AD203B41FA5}">
                      <a16:colId xmlns:a16="http://schemas.microsoft.com/office/drawing/2014/main" val="2992893548"/>
                    </a:ext>
                  </a:extLst>
                </a:gridCol>
                <a:gridCol w="360000">
                  <a:extLst>
                    <a:ext uri="{9D8B030D-6E8A-4147-A177-3AD203B41FA5}">
                      <a16:colId xmlns:a16="http://schemas.microsoft.com/office/drawing/2014/main" val="849333661"/>
                    </a:ext>
                  </a:extLst>
                </a:gridCol>
                <a:gridCol w="360000">
                  <a:extLst>
                    <a:ext uri="{9D8B030D-6E8A-4147-A177-3AD203B41FA5}">
                      <a16:colId xmlns:a16="http://schemas.microsoft.com/office/drawing/2014/main" val="1997093998"/>
                    </a:ext>
                  </a:extLst>
                </a:gridCol>
                <a:gridCol w="360000">
                  <a:extLst>
                    <a:ext uri="{9D8B030D-6E8A-4147-A177-3AD203B41FA5}">
                      <a16:colId xmlns:a16="http://schemas.microsoft.com/office/drawing/2014/main" val="4262308452"/>
                    </a:ext>
                  </a:extLst>
                </a:gridCol>
                <a:gridCol w="360000">
                  <a:extLst>
                    <a:ext uri="{9D8B030D-6E8A-4147-A177-3AD203B41FA5}">
                      <a16:colId xmlns:a16="http://schemas.microsoft.com/office/drawing/2014/main" val="1287248324"/>
                    </a:ext>
                  </a:extLst>
                </a:gridCol>
              </a:tblGrid>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9307960"/>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6215500"/>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458509"/>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9702945"/>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475546"/>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4311029"/>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9215718"/>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3711955"/>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4464789"/>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3306401"/>
                  </a:ext>
                </a:extLst>
              </a:tr>
            </a:tbl>
          </a:graphicData>
        </a:graphic>
      </p:graphicFrame>
      <p:sp>
        <p:nvSpPr>
          <p:cNvPr id="2" name="Text Box">
            <a:extLst>
              <a:ext uri="{FF2B5EF4-FFF2-40B4-BE49-F238E27FC236}">
                <a16:creationId xmlns:a16="http://schemas.microsoft.com/office/drawing/2014/main" id="{C3311787-F334-A8BE-4D57-0A3ADA22CDE1}"/>
              </a:ext>
            </a:extLst>
          </p:cNvPr>
          <p:cNvSpPr/>
          <p:nvPr/>
        </p:nvSpPr>
        <p:spPr>
          <a:xfrm>
            <a:off x="5581291" y="381903"/>
            <a:ext cx="2840046" cy="495108"/>
          </a:xfrm>
          <a:prstGeom prst="rect">
            <a:avLst/>
          </a:prstGeom>
          <a:solidFill>
            <a:srgbClr val="05A8E7"/>
          </a:solidFill>
          <a:ln w="285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r"/>
            <a:r>
              <a:rPr lang="en-GB" b="1" dirty="0">
                <a:solidFill>
                  <a:schemeClr val="bg1"/>
                </a:solidFill>
              </a:rPr>
              <a:t>What is a percentage</a:t>
            </a:r>
          </a:p>
        </p:txBody>
      </p:sp>
      <p:pic>
        <p:nvPicPr>
          <p:cNvPr id="4" name="Picture 3">
            <a:extLst>
              <a:ext uri="{FF2B5EF4-FFF2-40B4-BE49-F238E27FC236}">
                <a16:creationId xmlns:a16="http://schemas.microsoft.com/office/drawing/2014/main" id="{D7071E5F-9FBC-3D85-430D-856A8B71E79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42962" y="44773"/>
            <a:ext cx="275875" cy="760521"/>
          </a:xfrm>
          <a:prstGeom prst="rect">
            <a:avLst/>
          </a:prstGeom>
        </p:spPr>
      </p:pic>
      <p:sp>
        <p:nvSpPr>
          <p:cNvPr id="7" name="Text">
            <a:extLst>
              <a:ext uri="{FF2B5EF4-FFF2-40B4-BE49-F238E27FC236}">
                <a16:creationId xmlns:a16="http://schemas.microsoft.com/office/drawing/2014/main" id="{4F3C40C7-8B35-2169-F363-468AE7163C0F}"/>
              </a:ext>
            </a:extLst>
          </p:cNvPr>
          <p:cNvSpPr/>
          <p:nvPr/>
        </p:nvSpPr>
        <p:spPr>
          <a:xfrm>
            <a:off x="4848234" y="5308047"/>
            <a:ext cx="2421615"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What percentage of this shape is </a:t>
            </a:r>
            <a:r>
              <a:rPr lang="en-GB" sz="1800" b="1" i="0" u="none" strike="noStrike" dirty="0">
                <a:solidFill>
                  <a:srgbClr val="000000"/>
                </a:solidFill>
                <a:effectLst/>
                <a:latin typeface="Twinkl" panose="02000000000000000000" pitchFamily="2" charset="77"/>
              </a:rPr>
              <a:t>unshaded</a:t>
            </a:r>
            <a:r>
              <a:rPr lang="en-GB" sz="1800" b="0" i="0" u="none" strike="noStrike" dirty="0">
                <a:solidFill>
                  <a:srgbClr val="000000"/>
                </a:solidFill>
                <a:effectLst/>
                <a:latin typeface="Twinkl" panose="02000000000000000000" pitchFamily="2" charset="77"/>
              </a:rPr>
              <a:t>?</a:t>
            </a:r>
            <a:endParaRPr lang="en-GB" b="0" dirty="0">
              <a:effectLst/>
              <a:latin typeface="Twinkl" panose="02000000000000000000" pitchFamily="2" charset="77"/>
            </a:endParaRPr>
          </a:p>
        </p:txBody>
      </p:sp>
      <p:sp>
        <p:nvSpPr>
          <p:cNvPr id="9" name="Text">
            <a:extLst>
              <a:ext uri="{FF2B5EF4-FFF2-40B4-BE49-F238E27FC236}">
                <a16:creationId xmlns:a16="http://schemas.microsoft.com/office/drawing/2014/main" id="{E30D8198-B816-094D-E830-4075BBD041BD}"/>
              </a:ext>
            </a:extLst>
          </p:cNvPr>
          <p:cNvSpPr/>
          <p:nvPr/>
        </p:nvSpPr>
        <p:spPr>
          <a:xfrm>
            <a:off x="4848234" y="4074099"/>
            <a:ext cx="2352687"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What fraction of this shape is </a:t>
            </a:r>
            <a:r>
              <a:rPr lang="en-GB" sz="1800" b="1" i="0" u="none" strike="noStrike" dirty="0">
                <a:solidFill>
                  <a:srgbClr val="000000"/>
                </a:solidFill>
                <a:effectLst/>
                <a:latin typeface="Twinkl" panose="02000000000000000000" pitchFamily="2" charset="77"/>
              </a:rPr>
              <a:t>unshaded</a:t>
            </a:r>
            <a:r>
              <a:rPr lang="en-GB" sz="1800" b="0" i="0" u="none" strike="noStrike" dirty="0">
                <a:solidFill>
                  <a:srgbClr val="000000"/>
                </a:solidFill>
                <a:effectLst/>
                <a:latin typeface="Twinkl" panose="02000000000000000000" pitchFamily="2" charset="77"/>
              </a:rPr>
              <a:t>?</a:t>
            </a:r>
            <a:endParaRPr lang="en-GB" b="0" dirty="0">
              <a:effectLst/>
              <a:latin typeface="Twinkl" panose="02000000000000000000" pitchFamily="2" charset="77"/>
            </a:endParaRPr>
          </a:p>
        </p:txBody>
      </p:sp>
      <p:sp>
        <p:nvSpPr>
          <p:cNvPr id="12" name="Text">
            <a:extLst>
              <a:ext uri="{FF2B5EF4-FFF2-40B4-BE49-F238E27FC236}">
                <a16:creationId xmlns:a16="http://schemas.microsoft.com/office/drawing/2014/main" id="{EFBCEDB6-ADE9-3128-9918-636158EE6AD8}"/>
              </a:ext>
            </a:extLst>
          </p:cNvPr>
          <p:cNvSpPr/>
          <p:nvPr/>
        </p:nvSpPr>
        <p:spPr>
          <a:xfrm>
            <a:off x="4798326" y="2840151"/>
            <a:ext cx="2352687"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What percentage of this shape is </a:t>
            </a:r>
            <a:r>
              <a:rPr lang="en-GB" sz="1800" b="1" i="0" u="none" strike="noStrike" dirty="0">
                <a:solidFill>
                  <a:srgbClr val="000000"/>
                </a:solidFill>
                <a:effectLst/>
                <a:latin typeface="Twinkl" panose="02000000000000000000" pitchFamily="2" charset="77"/>
              </a:rPr>
              <a:t>shaded</a:t>
            </a:r>
            <a:r>
              <a:rPr lang="en-GB" sz="1800" b="0" i="0" u="none" strike="noStrike" dirty="0">
                <a:solidFill>
                  <a:srgbClr val="000000"/>
                </a:solidFill>
                <a:effectLst/>
                <a:latin typeface="Twinkl" panose="02000000000000000000" pitchFamily="2" charset="77"/>
              </a:rPr>
              <a:t>?</a:t>
            </a:r>
            <a:endParaRPr lang="en-GB" b="0" dirty="0">
              <a:effectLst/>
              <a:latin typeface="Twinkl" panose="02000000000000000000" pitchFamily="2" charset="77"/>
            </a:endParaRPr>
          </a:p>
        </p:txBody>
      </p:sp>
      <p:grpSp>
        <p:nvGrpSpPr>
          <p:cNvPr id="23" name="Group 22">
            <a:extLst>
              <a:ext uri="{FF2B5EF4-FFF2-40B4-BE49-F238E27FC236}">
                <a16:creationId xmlns:a16="http://schemas.microsoft.com/office/drawing/2014/main" id="{E45884E7-5E66-2FA4-9E71-3317554C3A68}"/>
              </a:ext>
            </a:extLst>
          </p:cNvPr>
          <p:cNvGrpSpPr/>
          <p:nvPr/>
        </p:nvGrpSpPr>
        <p:grpSpPr>
          <a:xfrm>
            <a:off x="7472907" y="1530677"/>
            <a:ext cx="811169" cy="779903"/>
            <a:chOff x="7472907" y="1530677"/>
            <a:chExt cx="811169" cy="779903"/>
          </a:xfrm>
        </p:grpSpPr>
        <p:sp>
          <p:nvSpPr>
            <p:cNvPr id="13" name="Rectangle 12">
              <a:extLst>
                <a:ext uri="{FF2B5EF4-FFF2-40B4-BE49-F238E27FC236}">
                  <a16:creationId xmlns:a16="http://schemas.microsoft.com/office/drawing/2014/main" id="{1D743115-8596-0F52-843D-FC092BD34296}"/>
                </a:ext>
              </a:extLst>
            </p:cNvPr>
            <p:cNvSpPr/>
            <p:nvPr/>
          </p:nvSpPr>
          <p:spPr>
            <a:xfrm>
              <a:off x="7472907" y="1530677"/>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6D91BEE0-DA36-80B9-CAE9-2E6603AFCD27}"/>
                </a:ext>
              </a:extLst>
            </p:cNvPr>
            <p:cNvGrpSpPr/>
            <p:nvPr/>
          </p:nvGrpSpPr>
          <p:grpSpPr>
            <a:xfrm>
              <a:off x="7556453" y="1597462"/>
              <a:ext cx="654236" cy="646331"/>
              <a:chOff x="7546218" y="1606203"/>
              <a:chExt cx="654236" cy="646331"/>
            </a:xfrm>
          </p:grpSpPr>
          <p:sp>
            <p:nvSpPr>
              <p:cNvPr id="8" name="TextBox 7">
                <a:extLst>
                  <a:ext uri="{FF2B5EF4-FFF2-40B4-BE49-F238E27FC236}">
                    <a16:creationId xmlns:a16="http://schemas.microsoft.com/office/drawing/2014/main" id="{6A48C559-7CB6-8A8D-FBB8-0B1F4F28DDB6}"/>
                  </a:ext>
                </a:extLst>
              </p:cNvPr>
              <p:cNvSpPr txBox="1"/>
              <p:nvPr/>
            </p:nvSpPr>
            <p:spPr>
              <a:xfrm>
                <a:off x="7546218" y="1606203"/>
                <a:ext cx="654236" cy="646331"/>
              </a:xfrm>
              <a:prstGeom prst="rect">
                <a:avLst/>
              </a:prstGeom>
              <a:noFill/>
            </p:spPr>
            <p:txBody>
              <a:bodyPr wrap="square" rtlCol="0">
                <a:spAutoFit/>
              </a:bodyPr>
              <a:lstStyle/>
              <a:p>
                <a:pPr algn="ctr"/>
                <a:r>
                  <a:rPr lang="en-US" b="1" dirty="0"/>
                  <a:t>23</a:t>
                </a:r>
                <a:br>
                  <a:rPr lang="en-US" b="1" dirty="0"/>
                </a:br>
                <a:r>
                  <a:rPr lang="en-US" b="1" dirty="0"/>
                  <a:t>100</a:t>
                </a:r>
              </a:p>
            </p:txBody>
          </p:sp>
          <p:cxnSp>
            <p:nvCxnSpPr>
              <p:cNvPr id="10" name="Straight Connector 9">
                <a:extLst>
                  <a:ext uri="{FF2B5EF4-FFF2-40B4-BE49-F238E27FC236}">
                    <a16:creationId xmlns:a16="http://schemas.microsoft.com/office/drawing/2014/main" id="{DE46EBB8-D481-B2B4-110D-2FFC2B86F82B}"/>
                  </a:ext>
                </a:extLst>
              </p:cNvPr>
              <p:cNvCxnSpPr>
                <a:cxnSpLocks/>
              </p:cNvCxnSpPr>
              <p:nvPr/>
            </p:nvCxnSpPr>
            <p:spPr>
              <a:xfrm>
                <a:off x="7675336" y="1924162"/>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5" name="Rectangle 14">
            <a:extLst>
              <a:ext uri="{FF2B5EF4-FFF2-40B4-BE49-F238E27FC236}">
                <a16:creationId xmlns:a16="http://schemas.microsoft.com/office/drawing/2014/main" id="{3B86033C-16A9-97C1-F350-BB4FEB266AEC}"/>
              </a:ext>
            </a:extLst>
          </p:cNvPr>
          <p:cNvSpPr/>
          <p:nvPr/>
        </p:nvSpPr>
        <p:spPr>
          <a:xfrm>
            <a:off x="7472906" y="2727198"/>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winkl" panose="02000000000000000000" pitchFamily="2" charset="77"/>
              </a:rPr>
              <a:t>23%</a:t>
            </a:r>
          </a:p>
        </p:txBody>
      </p:sp>
      <p:sp>
        <p:nvSpPr>
          <p:cNvPr id="17" name="Rectangle 16">
            <a:extLst>
              <a:ext uri="{FF2B5EF4-FFF2-40B4-BE49-F238E27FC236}">
                <a16:creationId xmlns:a16="http://schemas.microsoft.com/office/drawing/2014/main" id="{C87D8FE9-712C-9F8A-B852-88190DD988D6}"/>
              </a:ext>
            </a:extLst>
          </p:cNvPr>
          <p:cNvSpPr/>
          <p:nvPr/>
        </p:nvSpPr>
        <p:spPr>
          <a:xfrm>
            <a:off x="7472904" y="5195094"/>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winkl" panose="02000000000000000000" pitchFamily="2" charset="77"/>
              </a:rPr>
              <a:t>77%</a:t>
            </a:r>
          </a:p>
        </p:txBody>
      </p:sp>
      <p:grpSp>
        <p:nvGrpSpPr>
          <p:cNvPr id="24" name="Group 23">
            <a:extLst>
              <a:ext uri="{FF2B5EF4-FFF2-40B4-BE49-F238E27FC236}">
                <a16:creationId xmlns:a16="http://schemas.microsoft.com/office/drawing/2014/main" id="{8BF6DBBD-B738-2C18-38BE-94CA728FA7D5}"/>
              </a:ext>
            </a:extLst>
          </p:cNvPr>
          <p:cNvGrpSpPr/>
          <p:nvPr/>
        </p:nvGrpSpPr>
        <p:grpSpPr>
          <a:xfrm>
            <a:off x="7472905" y="3961146"/>
            <a:ext cx="811169" cy="779903"/>
            <a:chOff x="7472905" y="3961146"/>
            <a:chExt cx="811169" cy="779903"/>
          </a:xfrm>
        </p:grpSpPr>
        <p:sp>
          <p:nvSpPr>
            <p:cNvPr id="16" name="Rectangle 15">
              <a:extLst>
                <a:ext uri="{FF2B5EF4-FFF2-40B4-BE49-F238E27FC236}">
                  <a16:creationId xmlns:a16="http://schemas.microsoft.com/office/drawing/2014/main" id="{69AD124E-CC21-43B9-5413-B14937A85D14}"/>
                </a:ext>
              </a:extLst>
            </p:cNvPr>
            <p:cNvSpPr/>
            <p:nvPr/>
          </p:nvSpPr>
          <p:spPr>
            <a:xfrm>
              <a:off x="7472905" y="3961146"/>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oup 18">
              <a:extLst>
                <a:ext uri="{FF2B5EF4-FFF2-40B4-BE49-F238E27FC236}">
                  <a16:creationId xmlns:a16="http://schemas.microsoft.com/office/drawing/2014/main" id="{048D00DA-8ADC-3E64-4DB9-8CAEF59CCF48}"/>
                </a:ext>
              </a:extLst>
            </p:cNvPr>
            <p:cNvGrpSpPr/>
            <p:nvPr/>
          </p:nvGrpSpPr>
          <p:grpSpPr>
            <a:xfrm>
              <a:off x="7551370" y="4030025"/>
              <a:ext cx="654236" cy="646331"/>
              <a:chOff x="7546218" y="1606203"/>
              <a:chExt cx="654236" cy="646331"/>
            </a:xfrm>
          </p:grpSpPr>
          <p:sp>
            <p:nvSpPr>
              <p:cNvPr id="20" name="TextBox 19">
                <a:extLst>
                  <a:ext uri="{FF2B5EF4-FFF2-40B4-BE49-F238E27FC236}">
                    <a16:creationId xmlns:a16="http://schemas.microsoft.com/office/drawing/2014/main" id="{B370A067-BFA8-8984-722C-66E45BBBE93B}"/>
                  </a:ext>
                </a:extLst>
              </p:cNvPr>
              <p:cNvSpPr txBox="1"/>
              <p:nvPr/>
            </p:nvSpPr>
            <p:spPr>
              <a:xfrm>
                <a:off x="7546218" y="1606203"/>
                <a:ext cx="654236" cy="646331"/>
              </a:xfrm>
              <a:prstGeom prst="rect">
                <a:avLst/>
              </a:prstGeom>
              <a:noFill/>
            </p:spPr>
            <p:txBody>
              <a:bodyPr wrap="square" rtlCol="0">
                <a:spAutoFit/>
              </a:bodyPr>
              <a:lstStyle/>
              <a:p>
                <a:pPr algn="ctr"/>
                <a:r>
                  <a:rPr lang="en-US" b="1" dirty="0"/>
                  <a:t>77</a:t>
                </a:r>
                <a:br>
                  <a:rPr lang="en-US" b="1" dirty="0"/>
                </a:br>
                <a:r>
                  <a:rPr lang="en-US" b="1" dirty="0"/>
                  <a:t>100</a:t>
                </a:r>
              </a:p>
            </p:txBody>
          </p:sp>
          <p:cxnSp>
            <p:nvCxnSpPr>
              <p:cNvPr id="22" name="Straight Connector 21">
                <a:extLst>
                  <a:ext uri="{FF2B5EF4-FFF2-40B4-BE49-F238E27FC236}">
                    <a16:creationId xmlns:a16="http://schemas.microsoft.com/office/drawing/2014/main" id="{54FD1D5A-C6AC-A5FA-0AA7-ABCAC8BF4FCB}"/>
                  </a:ext>
                </a:extLst>
              </p:cNvPr>
              <p:cNvCxnSpPr>
                <a:cxnSpLocks/>
              </p:cNvCxnSpPr>
              <p:nvPr/>
            </p:nvCxnSpPr>
            <p:spPr>
              <a:xfrm>
                <a:off x="7675336" y="1924162"/>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705528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1B42E-3EBB-9398-D3E3-F07004EE940E}"/>
            </a:ext>
          </a:extLst>
        </p:cNvPr>
        <p:cNvGrpSpPr/>
        <p:nvPr/>
      </p:nvGrpSpPr>
      <p:grpSpPr>
        <a:xfrm>
          <a:off x="0" y="0"/>
          <a:ext cx="0" cy="0"/>
          <a:chOff x="0" y="0"/>
          <a:chExt cx="0" cy="0"/>
        </a:xfrm>
      </p:grpSpPr>
      <p:sp>
        <p:nvSpPr>
          <p:cNvPr id="5" name="Text">
            <a:extLst>
              <a:ext uri="{FF2B5EF4-FFF2-40B4-BE49-F238E27FC236}">
                <a16:creationId xmlns:a16="http://schemas.microsoft.com/office/drawing/2014/main" id="{C8BDFCA6-64F5-5E22-952A-F35AB168F353}"/>
              </a:ext>
            </a:extLst>
          </p:cNvPr>
          <p:cNvSpPr/>
          <p:nvPr/>
        </p:nvSpPr>
        <p:spPr>
          <a:xfrm>
            <a:off x="4848234" y="1606203"/>
            <a:ext cx="2352687"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What fraction of this shape is </a:t>
            </a:r>
            <a:r>
              <a:rPr lang="en-GB" sz="1800" b="1" i="0" u="none" strike="noStrike" dirty="0">
                <a:solidFill>
                  <a:srgbClr val="000000"/>
                </a:solidFill>
                <a:effectLst/>
                <a:latin typeface="Twinkl" panose="02000000000000000000" pitchFamily="2" charset="77"/>
              </a:rPr>
              <a:t>shaded</a:t>
            </a:r>
            <a:r>
              <a:rPr lang="en-GB" sz="1800" b="0" i="0" u="none" strike="noStrike" dirty="0">
                <a:solidFill>
                  <a:srgbClr val="000000"/>
                </a:solidFill>
                <a:effectLst/>
                <a:latin typeface="Twinkl" panose="02000000000000000000" pitchFamily="2" charset="77"/>
              </a:rPr>
              <a:t>?</a:t>
            </a:r>
            <a:endParaRPr lang="en-GB" b="0" dirty="0">
              <a:effectLst/>
              <a:latin typeface="Twinkl" panose="02000000000000000000" pitchFamily="2" charset="77"/>
            </a:endParaRPr>
          </a:p>
        </p:txBody>
      </p:sp>
      <p:graphicFrame>
        <p:nvGraphicFramePr>
          <p:cNvPr id="3" name="Table 2">
            <a:extLst>
              <a:ext uri="{FF2B5EF4-FFF2-40B4-BE49-F238E27FC236}">
                <a16:creationId xmlns:a16="http://schemas.microsoft.com/office/drawing/2014/main" id="{4517B5BD-3EC7-CDE4-A20A-F930247C1298}"/>
              </a:ext>
            </a:extLst>
          </p:cNvPr>
          <p:cNvGraphicFramePr>
            <a:graphicFrameLocks noGrp="1"/>
          </p:cNvGraphicFramePr>
          <p:nvPr>
            <p:extLst>
              <p:ext uri="{D42A27DB-BD31-4B8C-83A1-F6EECF244321}">
                <p14:modId xmlns:p14="http://schemas.microsoft.com/office/powerpoint/2010/main" val="2329852589"/>
              </p:ext>
            </p:extLst>
          </p:nvPr>
        </p:nvGraphicFramePr>
        <p:xfrm>
          <a:off x="859924" y="1629000"/>
          <a:ext cx="3600000" cy="3600000"/>
        </p:xfrm>
        <a:graphic>
          <a:graphicData uri="http://schemas.openxmlformats.org/drawingml/2006/table">
            <a:tbl>
              <a:tblPr/>
              <a:tblGrid>
                <a:gridCol w="360000">
                  <a:extLst>
                    <a:ext uri="{9D8B030D-6E8A-4147-A177-3AD203B41FA5}">
                      <a16:colId xmlns:a16="http://schemas.microsoft.com/office/drawing/2014/main" val="572867659"/>
                    </a:ext>
                  </a:extLst>
                </a:gridCol>
                <a:gridCol w="360000">
                  <a:extLst>
                    <a:ext uri="{9D8B030D-6E8A-4147-A177-3AD203B41FA5}">
                      <a16:colId xmlns:a16="http://schemas.microsoft.com/office/drawing/2014/main" val="2366956878"/>
                    </a:ext>
                  </a:extLst>
                </a:gridCol>
                <a:gridCol w="360000">
                  <a:extLst>
                    <a:ext uri="{9D8B030D-6E8A-4147-A177-3AD203B41FA5}">
                      <a16:colId xmlns:a16="http://schemas.microsoft.com/office/drawing/2014/main" val="2484655587"/>
                    </a:ext>
                  </a:extLst>
                </a:gridCol>
                <a:gridCol w="360000">
                  <a:extLst>
                    <a:ext uri="{9D8B030D-6E8A-4147-A177-3AD203B41FA5}">
                      <a16:colId xmlns:a16="http://schemas.microsoft.com/office/drawing/2014/main" val="3167737010"/>
                    </a:ext>
                  </a:extLst>
                </a:gridCol>
                <a:gridCol w="360000">
                  <a:extLst>
                    <a:ext uri="{9D8B030D-6E8A-4147-A177-3AD203B41FA5}">
                      <a16:colId xmlns:a16="http://schemas.microsoft.com/office/drawing/2014/main" val="563689847"/>
                    </a:ext>
                  </a:extLst>
                </a:gridCol>
                <a:gridCol w="360000">
                  <a:extLst>
                    <a:ext uri="{9D8B030D-6E8A-4147-A177-3AD203B41FA5}">
                      <a16:colId xmlns:a16="http://schemas.microsoft.com/office/drawing/2014/main" val="2992893548"/>
                    </a:ext>
                  </a:extLst>
                </a:gridCol>
                <a:gridCol w="360000">
                  <a:extLst>
                    <a:ext uri="{9D8B030D-6E8A-4147-A177-3AD203B41FA5}">
                      <a16:colId xmlns:a16="http://schemas.microsoft.com/office/drawing/2014/main" val="849333661"/>
                    </a:ext>
                  </a:extLst>
                </a:gridCol>
                <a:gridCol w="360000">
                  <a:extLst>
                    <a:ext uri="{9D8B030D-6E8A-4147-A177-3AD203B41FA5}">
                      <a16:colId xmlns:a16="http://schemas.microsoft.com/office/drawing/2014/main" val="1997093998"/>
                    </a:ext>
                  </a:extLst>
                </a:gridCol>
                <a:gridCol w="360000">
                  <a:extLst>
                    <a:ext uri="{9D8B030D-6E8A-4147-A177-3AD203B41FA5}">
                      <a16:colId xmlns:a16="http://schemas.microsoft.com/office/drawing/2014/main" val="4262308452"/>
                    </a:ext>
                  </a:extLst>
                </a:gridCol>
                <a:gridCol w="360000">
                  <a:extLst>
                    <a:ext uri="{9D8B030D-6E8A-4147-A177-3AD203B41FA5}">
                      <a16:colId xmlns:a16="http://schemas.microsoft.com/office/drawing/2014/main" val="1287248324"/>
                    </a:ext>
                  </a:extLst>
                </a:gridCol>
              </a:tblGrid>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9307960"/>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6215500"/>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458509"/>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9702945"/>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475546"/>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4311029"/>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9215718"/>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3711955"/>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4464789"/>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3306401"/>
                  </a:ext>
                </a:extLst>
              </a:tr>
            </a:tbl>
          </a:graphicData>
        </a:graphic>
      </p:graphicFrame>
      <p:sp>
        <p:nvSpPr>
          <p:cNvPr id="2" name="Text Box">
            <a:extLst>
              <a:ext uri="{FF2B5EF4-FFF2-40B4-BE49-F238E27FC236}">
                <a16:creationId xmlns:a16="http://schemas.microsoft.com/office/drawing/2014/main" id="{EB40B8C9-1458-DA95-610B-F9F9DD4DB1C8}"/>
              </a:ext>
            </a:extLst>
          </p:cNvPr>
          <p:cNvSpPr/>
          <p:nvPr/>
        </p:nvSpPr>
        <p:spPr>
          <a:xfrm>
            <a:off x="5581291" y="381903"/>
            <a:ext cx="2840046" cy="495108"/>
          </a:xfrm>
          <a:prstGeom prst="rect">
            <a:avLst/>
          </a:prstGeom>
          <a:solidFill>
            <a:srgbClr val="05A8E7"/>
          </a:solidFill>
          <a:ln w="285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r"/>
            <a:r>
              <a:rPr lang="en-GB" b="1" dirty="0">
                <a:solidFill>
                  <a:schemeClr val="bg1"/>
                </a:solidFill>
              </a:rPr>
              <a:t>What is a percentage</a:t>
            </a:r>
          </a:p>
        </p:txBody>
      </p:sp>
      <p:pic>
        <p:nvPicPr>
          <p:cNvPr id="4" name="Picture 3">
            <a:extLst>
              <a:ext uri="{FF2B5EF4-FFF2-40B4-BE49-F238E27FC236}">
                <a16:creationId xmlns:a16="http://schemas.microsoft.com/office/drawing/2014/main" id="{38C435BD-4E28-B052-C8F7-6FBB78215A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42962" y="44773"/>
            <a:ext cx="275875" cy="760521"/>
          </a:xfrm>
          <a:prstGeom prst="rect">
            <a:avLst/>
          </a:prstGeom>
        </p:spPr>
      </p:pic>
      <p:sp>
        <p:nvSpPr>
          <p:cNvPr id="7" name="Text">
            <a:extLst>
              <a:ext uri="{FF2B5EF4-FFF2-40B4-BE49-F238E27FC236}">
                <a16:creationId xmlns:a16="http://schemas.microsoft.com/office/drawing/2014/main" id="{B06505A3-F0A2-62FB-45AC-749424977750}"/>
              </a:ext>
            </a:extLst>
          </p:cNvPr>
          <p:cNvSpPr/>
          <p:nvPr/>
        </p:nvSpPr>
        <p:spPr>
          <a:xfrm>
            <a:off x="4848234" y="5308047"/>
            <a:ext cx="2421615"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What percentage of this shape is </a:t>
            </a:r>
            <a:r>
              <a:rPr lang="en-GB" sz="1800" b="1" i="0" u="none" strike="noStrike" dirty="0">
                <a:solidFill>
                  <a:srgbClr val="000000"/>
                </a:solidFill>
                <a:effectLst/>
                <a:latin typeface="Twinkl" panose="02000000000000000000" pitchFamily="2" charset="77"/>
              </a:rPr>
              <a:t>unshaded</a:t>
            </a:r>
            <a:r>
              <a:rPr lang="en-GB" sz="1800" b="0" i="0" u="none" strike="noStrike" dirty="0">
                <a:solidFill>
                  <a:srgbClr val="000000"/>
                </a:solidFill>
                <a:effectLst/>
                <a:latin typeface="Twinkl" panose="02000000000000000000" pitchFamily="2" charset="77"/>
              </a:rPr>
              <a:t>?</a:t>
            </a:r>
            <a:endParaRPr lang="en-GB" b="0" dirty="0">
              <a:effectLst/>
              <a:latin typeface="Twinkl" panose="02000000000000000000" pitchFamily="2" charset="77"/>
            </a:endParaRPr>
          </a:p>
        </p:txBody>
      </p:sp>
      <p:sp>
        <p:nvSpPr>
          <p:cNvPr id="9" name="Text">
            <a:extLst>
              <a:ext uri="{FF2B5EF4-FFF2-40B4-BE49-F238E27FC236}">
                <a16:creationId xmlns:a16="http://schemas.microsoft.com/office/drawing/2014/main" id="{8003B38F-CB6D-AA06-DD0A-E989E351963E}"/>
              </a:ext>
            </a:extLst>
          </p:cNvPr>
          <p:cNvSpPr/>
          <p:nvPr/>
        </p:nvSpPr>
        <p:spPr>
          <a:xfrm>
            <a:off x="4848234" y="4074099"/>
            <a:ext cx="2352687"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What fraction of this shape is </a:t>
            </a:r>
            <a:r>
              <a:rPr lang="en-GB" sz="1800" b="1" i="0" u="none" strike="noStrike" dirty="0">
                <a:solidFill>
                  <a:srgbClr val="000000"/>
                </a:solidFill>
                <a:effectLst/>
                <a:latin typeface="Twinkl" panose="02000000000000000000" pitchFamily="2" charset="77"/>
              </a:rPr>
              <a:t>unshaded</a:t>
            </a:r>
            <a:r>
              <a:rPr lang="en-GB" sz="1800" b="0" i="0" u="none" strike="noStrike" dirty="0">
                <a:solidFill>
                  <a:srgbClr val="000000"/>
                </a:solidFill>
                <a:effectLst/>
                <a:latin typeface="Twinkl" panose="02000000000000000000" pitchFamily="2" charset="77"/>
              </a:rPr>
              <a:t>?</a:t>
            </a:r>
            <a:endParaRPr lang="en-GB" b="0" dirty="0">
              <a:effectLst/>
              <a:latin typeface="Twinkl" panose="02000000000000000000" pitchFamily="2" charset="77"/>
            </a:endParaRPr>
          </a:p>
        </p:txBody>
      </p:sp>
      <p:sp>
        <p:nvSpPr>
          <p:cNvPr id="12" name="Text">
            <a:extLst>
              <a:ext uri="{FF2B5EF4-FFF2-40B4-BE49-F238E27FC236}">
                <a16:creationId xmlns:a16="http://schemas.microsoft.com/office/drawing/2014/main" id="{B428E35A-3F77-C3A5-E53D-1F0493544925}"/>
              </a:ext>
            </a:extLst>
          </p:cNvPr>
          <p:cNvSpPr/>
          <p:nvPr/>
        </p:nvSpPr>
        <p:spPr>
          <a:xfrm>
            <a:off x="4798326" y="2840151"/>
            <a:ext cx="2352687"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What percentage of this shape is </a:t>
            </a:r>
            <a:r>
              <a:rPr lang="en-GB" sz="1800" b="1" i="0" u="none" strike="noStrike" dirty="0">
                <a:solidFill>
                  <a:srgbClr val="000000"/>
                </a:solidFill>
                <a:effectLst/>
                <a:latin typeface="Twinkl" panose="02000000000000000000" pitchFamily="2" charset="77"/>
              </a:rPr>
              <a:t>shaded</a:t>
            </a:r>
            <a:r>
              <a:rPr lang="en-GB" sz="1800" b="0" i="0" u="none" strike="noStrike" dirty="0">
                <a:solidFill>
                  <a:srgbClr val="000000"/>
                </a:solidFill>
                <a:effectLst/>
                <a:latin typeface="Twinkl" panose="02000000000000000000" pitchFamily="2" charset="77"/>
              </a:rPr>
              <a:t>?</a:t>
            </a:r>
            <a:endParaRPr lang="en-GB" b="0" dirty="0">
              <a:effectLst/>
              <a:latin typeface="Twinkl" panose="02000000000000000000" pitchFamily="2" charset="77"/>
            </a:endParaRPr>
          </a:p>
        </p:txBody>
      </p:sp>
      <p:sp>
        <p:nvSpPr>
          <p:cNvPr id="15" name="Rectangle 14">
            <a:extLst>
              <a:ext uri="{FF2B5EF4-FFF2-40B4-BE49-F238E27FC236}">
                <a16:creationId xmlns:a16="http://schemas.microsoft.com/office/drawing/2014/main" id="{14D2E794-DE02-F83C-BA1A-DE91E82DBA16}"/>
              </a:ext>
            </a:extLst>
          </p:cNvPr>
          <p:cNvSpPr/>
          <p:nvPr/>
        </p:nvSpPr>
        <p:spPr>
          <a:xfrm>
            <a:off x="7472906" y="2727198"/>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winkl" panose="02000000000000000000" pitchFamily="2" charset="77"/>
              </a:rPr>
              <a:t>50%</a:t>
            </a:r>
          </a:p>
        </p:txBody>
      </p:sp>
      <p:sp>
        <p:nvSpPr>
          <p:cNvPr id="17" name="Rectangle 16">
            <a:extLst>
              <a:ext uri="{FF2B5EF4-FFF2-40B4-BE49-F238E27FC236}">
                <a16:creationId xmlns:a16="http://schemas.microsoft.com/office/drawing/2014/main" id="{3F7629B6-E671-FE23-2A72-C9ABE9BDA4A0}"/>
              </a:ext>
            </a:extLst>
          </p:cNvPr>
          <p:cNvSpPr/>
          <p:nvPr/>
        </p:nvSpPr>
        <p:spPr>
          <a:xfrm>
            <a:off x="7472904" y="5195094"/>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winkl" panose="02000000000000000000" pitchFamily="2" charset="77"/>
              </a:rPr>
              <a:t>50%</a:t>
            </a:r>
          </a:p>
        </p:txBody>
      </p:sp>
      <p:grpSp>
        <p:nvGrpSpPr>
          <p:cNvPr id="24" name="Group 23">
            <a:extLst>
              <a:ext uri="{FF2B5EF4-FFF2-40B4-BE49-F238E27FC236}">
                <a16:creationId xmlns:a16="http://schemas.microsoft.com/office/drawing/2014/main" id="{FDF20EC4-4B08-2FC3-C0D7-B84138EC292C}"/>
              </a:ext>
            </a:extLst>
          </p:cNvPr>
          <p:cNvGrpSpPr/>
          <p:nvPr/>
        </p:nvGrpSpPr>
        <p:grpSpPr>
          <a:xfrm>
            <a:off x="7472905" y="3961146"/>
            <a:ext cx="811169" cy="779903"/>
            <a:chOff x="7472905" y="3961146"/>
            <a:chExt cx="811169" cy="779903"/>
          </a:xfrm>
        </p:grpSpPr>
        <p:sp>
          <p:nvSpPr>
            <p:cNvPr id="16" name="Rectangle 15">
              <a:extLst>
                <a:ext uri="{FF2B5EF4-FFF2-40B4-BE49-F238E27FC236}">
                  <a16:creationId xmlns:a16="http://schemas.microsoft.com/office/drawing/2014/main" id="{6CB20F5C-FF92-935B-D63F-52761994B8B2}"/>
                </a:ext>
              </a:extLst>
            </p:cNvPr>
            <p:cNvSpPr/>
            <p:nvPr/>
          </p:nvSpPr>
          <p:spPr>
            <a:xfrm>
              <a:off x="7472905" y="3961146"/>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oup 18">
              <a:extLst>
                <a:ext uri="{FF2B5EF4-FFF2-40B4-BE49-F238E27FC236}">
                  <a16:creationId xmlns:a16="http://schemas.microsoft.com/office/drawing/2014/main" id="{EE25A983-9F5E-22E2-CE0F-5B7DD23CAE69}"/>
                </a:ext>
              </a:extLst>
            </p:cNvPr>
            <p:cNvGrpSpPr/>
            <p:nvPr/>
          </p:nvGrpSpPr>
          <p:grpSpPr>
            <a:xfrm>
              <a:off x="7551370" y="4030025"/>
              <a:ext cx="654236" cy="646331"/>
              <a:chOff x="7546218" y="1606203"/>
              <a:chExt cx="654236" cy="646331"/>
            </a:xfrm>
          </p:grpSpPr>
          <p:sp>
            <p:nvSpPr>
              <p:cNvPr id="20" name="TextBox 19">
                <a:extLst>
                  <a:ext uri="{FF2B5EF4-FFF2-40B4-BE49-F238E27FC236}">
                    <a16:creationId xmlns:a16="http://schemas.microsoft.com/office/drawing/2014/main" id="{C70F9E7D-3515-89A5-148A-EBD9A3041DAD}"/>
                  </a:ext>
                </a:extLst>
              </p:cNvPr>
              <p:cNvSpPr txBox="1"/>
              <p:nvPr/>
            </p:nvSpPr>
            <p:spPr>
              <a:xfrm>
                <a:off x="7546218" y="1606203"/>
                <a:ext cx="654236" cy="646331"/>
              </a:xfrm>
              <a:prstGeom prst="rect">
                <a:avLst/>
              </a:prstGeom>
              <a:noFill/>
            </p:spPr>
            <p:txBody>
              <a:bodyPr wrap="square" rtlCol="0">
                <a:spAutoFit/>
              </a:bodyPr>
              <a:lstStyle/>
              <a:p>
                <a:pPr algn="ctr"/>
                <a:r>
                  <a:rPr lang="en-US" b="1" dirty="0"/>
                  <a:t>50</a:t>
                </a:r>
                <a:br>
                  <a:rPr lang="en-US" b="1" dirty="0"/>
                </a:br>
                <a:r>
                  <a:rPr lang="en-US" b="1" dirty="0"/>
                  <a:t>100</a:t>
                </a:r>
              </a:p>
            </p:txBody>
          </p:sp>
          <p:cxnSp>
            <p:nvCxnSpPr>
              <p:cNvPr id="22" name="Straight Connector 21">
                <a:extLst>
                  <a:ext uri="{FF2B5EF4-FFF2-40B4-BE49-F238E27FC236}">
                    <a16:creationId xmlns:a16="http://schemas.microsoft.com/office/drawing/2014/main" id="{A430C82E-C617-70FE-49F8-BB9890A63F58}"/>
                  </a:ext>
                </a:extLst>
              </p:cNvPr>
              <p:cNvCxnSpPr>
                <a:cxnSpLocks/>
              </p:cNvCxnSpPr>
              <p:nvPr/>
            </p:nvCxnSpPr>
            <p:spPr>
              <a:xfrm>
                <a:off x="7675336" y="1924162"/>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8" name="Group 27">
            <a:extLst>
              <a:ext uri="{FF2B5EF4-FFF2-40B4-BE49-F238E27FC236}">
                <a16:creationId xmlns:a16="http://schemas.microsoft.com/office/drawing/2014/main" id="{96E52DAD-C41D-0F2C-74AA-61C0AA5D397B}"/>
              </a:ext>
            </a:extLst>
          </p:cNvPr>
          <p:cNvGrpSpPr/>
          <p:nvPr/>
        </p:nvGrpSpPr>
        <p:grpSpPr>
          <a:xfrm>
            <a:off x="7151013" y="1530677"/>
            <a:ext cx="1316182" cy="779903"/>
            <a:chOff x="7031183" y="1530677"/>
            <a:chExt cx="1316182" cy="779903"/>
          </a:xfrm>
        </p:grpSpPr>
        <p:sp>
          <p:nvSpPr>
            <p:cNvPr id="13" name="Rectangle 12">
              <a:extLst>
                <a:ext uri="{FF2B5EF4-FFF2-40B4-BE49-F238E27FC236}">
                  <a16:creationId xmlns:a16="http://schemas.microsoft.com/office/drawing/2014/main" id="{4EB30BA5-4499-6391-F004-7A1065EBD9A0}"/>
                </a:ext>
              </a:extLst>
            </p:cNvPr>
            <p:cNvSpPr/>
            <p:nvPr/>
          </p:nvSpPr>
          <p:spPr>
            <a:xfrm>
              <a:off x="7031183" y="1530677"/>
              <a:ext cx="1316182"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Twinkl" panose="02000000000000000000" pitchFamily="2" charset="77"/>
              </a:endParaRPr>
            </a:p>
          </p:txBody>
        </p:sp>
        <p:grpSp>
          <p:nvGrpSpPr>
            <p:cNvPr id="14" name="Group 13">
              <a:extLst>
                <a:ext uri="{FF2B5EF4-FFF2-40B4-BE49-F238E27FC236}">
                  <a16:creationId xmlns:a16="http://schemas.microsoft.com/office/drawing/2014/main" id="{49C33677-2915-45F5-1668-4DD502273F94}"/>
                </a:ext>
              </a:extLst>
            </p:cNvPr>
            <p:cNvGrpSpPr/>
            <p:nvPr/>
          </p:nvGrpSpPr>
          <p:grpSpPr>
            <a:xfrm>
              <a:off x="7031183" y="1605869"/>
              <a:ext cx="654236" cy="646331"/>
              <a:chOff x="7546218" y="1606203"/>
              <a:chExt cx="654236" cy="646331"/>
            </a:xfrm>
          </p:grpSpPr>
          <p:sp>
            <p:nvSpPr>
              <p:cNvPr id="8" name="TextBox 7">
                <a:extLst>
                  <a:ext uri="{FF2B5EF4-FFF2-40B4-BE49-F238E27FC236}">
                    <a16:creationId xmlns:a16="http://schemas.microsoft.com/office/drawing/2014/main" id="{7B994650-B670-D513-9ECC-2BFB64C6F81B}"/>
                  </a:ext>
                </a:extLst>
              </p:cNvPr>
              <p:cNvSpPr txBox="1"/>
              <p:nvPr/>
            </p:nvSpPr>
            <p:spPr>
              <a:xfrm>
                <a:off x="7546218" y="1606203"/>
                <a:ext cx="654236" cy="646331"/>
              </a:xfrm>
              <a:prstGeom prst="rect">
                <a:avLst/>
              </a:prstGeom>
              <a:noFill/>
            </p:spPr>
            <p:txBody>
              <a:bodyPr wrap="square" rtlCol="0">
                <a:spAutoFit/>
              </a:bodyPr>
              <a:lstStyle/>
              <a:p>
                <a:pPr algn="ctr"/>
                <a:r>
                  <a:rPr lang="en-US" b="1" dirty="0"/>
                  <a:t>50</a:t>
                </a:r>
                <a:br>
                  <a:rPr lang="en-US" b="1" dirty="0"/>
                </a:br>
                <a:r>
                  <a:rPr lang="en-US" b="1" dirty="0"/>
                  <a:t>100</a:t>
                </a:r>
              </a:p>
            </p:txBody>
          </p:sp>
          <p:cxnSp>
            <p:nvCxnSpPr>
              <p:cNvPr id="10" name="Straight Connector 9">
                <a:extLst>
                  <a:ext uri="{FF2B5EF4-FFF2-40B4-BE49-F238E27FC236}">
                    <a16:creationId xmlns:a16="http://schemas.microsoft.com/office/drawing/2014/main" id="{7D46C55F-0CE5-13AC-4B38-8228637CA3B2}"/>
                  </a:ext>
                </a:extLst>
              </p:cNvPr>
              <p:cNvCxnSpPr>
                <a:cxnSpLocks/>
              </p:cNvCxnSpPr>
              <p:nvPr/>
            </p:nvCxnSpPr>
            <p:spPr>
              <a:xfrm>
                <a:off x="7675336" y="1924162"/>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F07F71AA-842A-DD91-2A5B-6F8CC6B50F81}"/>
                </a:ext>
              </a:extLst>
            </p:cNvPr>
            <p:cNvGrpSpPr/>
            <p:nvPr/>
          </p:nvGrpSpPr>
          <p:grpSpPr>
            <a:xfrm>
              <a:off x="8013314" y="1594121"/>
              <a:ext cx="230524" cy="646331"/>
              <a:chOff x="8053549" y="1605869"/>
              <a:chExt cx="230524" cy="646331"/>
            </a:xfrm>
          </p:grpSpPr>
          <p:sp>
            <p:nvSpPr>
              <p:cNvPr id="18" name="TextBox 17">
                <a:extLst>
                  <a:ext uri="{FF2B5EF4-FFF2-40B4-BE49-F238E27FC236}">
                    <a16:creationId xmlns:a16="http://schemas.microsoft.com/office/drawing/2014/main" id="{3DE3F84A-CCE9-EBEA-413A-2416883A43E0}"/>
                  </a:ext>
                </a:extLst>
              </p:cNvPr>
              <p:cNvSpPr txBox="1"/>
              <p:nvPr/>
            </p:nvSpPr>
            <p:spPr>
              <a:xfrm>
                <a:off x="8053549" y="1605869"/>
                <a:ext cx="230524" cy="646331"/>
              </a:xfrm>
              <a:prstGeom prst="rect">
                <a:avLst/>
              </a:prstGeom>
              <a:noFill/>
            </p:spPr>
            <p:txBody>
              <a:bodyPr wrap="square" rtlCol="0">
                <a:spAutoFit/>
              </a:bodyPr>
              <a:lstStyle/>
              <a:p>
                <a:pPr algn="ctr"/>
                <a:r>
                  <a:rPr lang="en-US" b="1" dirty="0"/>
                  <a:t>1</a:t>
                </a:r>
                <a:br>
                  <a:rPr lang="en-US" b="1" dirty="0"/>
                </a:br>
                <a:r>
                  <a:rPr lang="en-US" b="1" dirty="0"/>
                  <a:t>2</a:t>
                </a:r>
              </a:p>
            </p:txBody>
          </p:sp>
          <p:cxnSp>
            <p:nvCxnSpPr>
              <p:cNvPr id="21" name="Straight Connector 20">
                <a:extLst>
                  <a:ext uri="{FF2B5EF4-FFF2-40B4-BE49-F238E27FC236}">
                    <a16:creationId xmlns:a16="http://schemas.microsoft.com/office/drawing/2014/main" id="{8579D504-4502-92AB-D7FD-1C8F11E99EA2}"/>
                  </a:ext>
                </a:extLst>
              </p:cNvPr>
              <p:cNvCxnSpPr>
                <a:cxnSpLocks/>
              </p:cNvCxnSpPr>
              <p:nvPr/>
            </p:nvCxnSpPr>
            <p:spPr>
              <a:xfrm>
                <a:off x="8076052" y="1923828"/>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TextBox 25">
              <a:extLst>
                <a:ext uri="{FF2B5EF4-FFF2-40B4-BE49-F238E27FC236}">
                  <a16:creationId xmlns:a16="http://schemas.microsoft.com/office/drawing/2014/main" id="{DA271AFC-99F8-F3D4-9C1D-DF75074BA203}"/>
                </a:ext>
              </a:extLst>
            </p:cNvPr>
            <p:cNvSpPr txBox="1"/>
            <p:nvPr/>
          </p:nvSpPr>
          <p:spPr>
            <a:xfrm>
              <a:off x="7564480" y="1735962"/>
              <a:ext cx="451061" cy="369332"/>
            </a:xfrm>
            <a:prstGeom prst="rect">
              <a:avLst/>
            </a:prstGeom>
            <a:noFill/>
          </p:spPr>
          <p:txBody>
            <a:bodyPr wrap="square">
              <a:spAutoFit/>
            </a:bodyPr>
            <a:lstStyle/>
            <a:p>
              <a:pPr algn="ctr"/>
              <a:r>
                <a:rPr lang="en-US" b="1" dirty="0">
                  <a:solidFill>
                    <a:schemeClr val="tx1"/>
                  </a:solidFill>
                  <a:latin typeface="Twinkl" panose="02000000000000000000" pitchFamily="2" charset="77"/>
                </a:rPr>
                <a:t>or</a:t>
              </a:r>
              <a:endParaRPr lang="en-US" dirty="0"/>
            </a:p>
          </p:txBody>
        </p:sp>
      </p:grpSp>
    </p:spTree>
    <p:extLst>
      <p:ext uri="{BB962C8B-B14F-4D97-AF65-F5344CB8AC3E}">
        <p14:creationId xmlns:p14="http://schemas.microsoft.com/office/powerpoint/2010/main" val="4038770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505F3-2682-A66E-AEB7-40308ABEAD16}"/>
            </a:ext>
          </a:extLst>
        </p:cNvPr>
        <p:cNvGrpSpPr/>
        <p:nvPr/>
      </p:nvGrpSpPr>
      <p:grpSpPr>
        <a:xfrm>
          <a:off x="0" y="0"/>
          <a:ext cx="0" cy="0"/>
          <a:chOff x="0" y="0"/>
          <a:chExt cx="0" cy="0"/>
        </a:xfrm>
      </p:grpSpPr>
      <p:sp>
        <p:nvSpPr>
          <p:cNvPr id="5" name="Text">
            <a:extLst>
              <a:ext uri="{FF2B5EF4-FFF2-40B4-BE49-F238E27FC236}">
                <a16:creationId xmlns:a16="http://schemas.microsoft.com/office/drawing/2014/main" id="{3746D1BC-24C0-D5C7-CB3E-7F1409EB81D3}"/>
              </a:ext>
            </a:extLst>
          </p:cNvPr>
          <p:cNvSpPr/>
          <p:nvPr/>
        </p:nvSpPr>
        <p:spPr>
          <a:xfrm>
            <a:off x="4848234" y="1606203"/>
            <a:ext cx="2352687"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What fraction of this shape is </a:t>
            </a:r>
            <a:r>
              <a:rPr lang="en-GB" sz="1800" b="1" i="0" u="none" strike="noStrike" dirty="0">
                <a:solidFill>
                  <a:srgbClr val="000000"/>
                </a:solidFill>
                <a:effectLst/>
                <a:latin typeface="Twinkl" panose="02000000000000000000" pitchFamily="2" charset="77"/>
              </a:rPr>
              <a:t>shaded</a:t>
            </a:r>
            <a:r>
              <a:rPr lang="en-GB" sz="1800" b="0" i="0" u="none" strike="noStrike" dirty="0">
                <a:solidFill>
                  <a:srgbClr val="000000"/>
                </a:solidFill>
                <a:effectLst/>
                <a:latin typeface="Twinkl" panose="02000000000000000000" pitchFamily="2" charset="77"/>
              </a:rPr>
              <a:t>?</a:t>
            </a:r>
            <a:endParaRPr lang="en-GB" b="0" dirty="0">
              <a:effectLst/>
              <a:latin typeface="Twinkl" panose="02000000000000000000" pitchFamily="2" charset="77"/>
            </a:endParaRPr>
          </a:p>
        </p:txBody>
      </p:sp>
      <p:graphicFrame>
        <p:nvGraphicFramePr>
          <p:cNvPr id="3" name="Table 2">
            <a:extLst>
              <a:ext uri="{FF2B5EF4-FFF2-40B4-BE49-F238E27FC236}">
                <a16:creationId xmlns:a16="http://schemas.microsoft.com/office/drawing/2014/main" id="{74E32BF6-3279-7ED7-2191-D752D44FCFE4}"/>
              </a:ext>
            </a:extLst>
          </p:cNvPr>
          <p:cNvGraphicFramePr>
            <a:graphicFrameLocks noGrp="1"/>
          </p:cNvGraphicFramePr>
          <p:nvPr>
            <p:extLst>
              <p:ext uri="{D42A27DB-BD31-4B8C-83A1-F6EECF244321}">
                <p14:modId xmlns:p14="http://schemas.microsoft.com/office/powerpoint/2010/main" val="225744139"/>
              </p:ext>
            </p:extLst>
          </p:nvPr>
        </p:nvGraphicFramePr>
        <p:xfrm>
          <a:off x="859924" y="1629000"/>
          <a:ext cx="3600000" cy="3600000"/>
        </p:xfrm>
        <a:graphic>
          <a:graphicData uri="http://schemas.openxmlformats.org/drawingml/2006/table">
            <a:tbl>
              <a:tblPr/>
              <a:tblGrid>
                <a:gridCol w="360000">
                  <a:extLst>
                    <a:ext uri="{9D8B030D-6E8A-4147-A177-3AD203B41FA5}">
                      <a16:colId xmlns:a16="http://schemas.microsoft.com/office/drawing/2014/main" val="572867659"/>
                    </a:ext>
                  </a:extLst>
                </a:gridCol>
                <a:gridCol w="360000">
                  <a:extLst>
                    <a:ext uri="{9D8B030D-6E8A-4147-A177-3AD203B41FA5}">
                      <a16:colId xmlns:a16="http://schemas.microsoft.com/office/drawing/2014/main" val="2366956878"/>
                    </a:ext>
                  </a:extLst>
                </a:gridCol>
                <a:gridCol w="360000">
                  <a:extLst>
                    <a:ext uri="{9D8B030D-6E8A-4147-A177-3AD203B41FA5}">
                      <a16:colId xmlns:a16="http://schemas.microsoft.com/office/drawing/2014/main" val="2484655587"/>
                    </a:ext>
                  </a:extLst>
                </a:gridCol>
                <a:gridCol w="360000">
                  <a:extLst>
                    <a:ext uri="{9D8B030D-6E8A-4147-A177-3AD203B41FA5}">
                      <a16:colId xmlns:a16="http://schemas.microsoft.com/office/drawing/2014/main" val="3167737010"/>
                    </a:ext>
                  </a:extLst>
                </a:gridCol>
                <a:gridCol w="360000">
                  <a:extLst>
                    <a:ext uri="{9D8B030D-6E8A-4147-A177-3AD203B41FA5}">
                      <a16:colId xmlns:a16="http://schemas.microsoft.com/office/drawing/2014/main" val="563689847"/>
                    </a:ext>
                  </a:extLst>
                </a:gridCol>
                <a:gridCol w="360000">
                  <a:extLst>
                    <a:ext uri="{9D8B030D-6E8A-4147-A177-3AD203B41FA5}">
                      <a16:colId xmlns:a16="http://schemas.microsoft.com/office/drawing/2014/main" val="2992893548"/>
                    </a:ext>
                  </a:extLst>
                </a:gridCol>
                <a:gridCol w="360000">
                  <a:extLst>
                    <a:ext uri="{9D8B030D-6E8A-4147-A177-3AD203B41FA5}">
                      <a16:colId xmlns:a16="http://schemas.microsoft.com/office/drawing/2014/main" val="849333661"/>
                    </a:ext>
                  </a:extLst>
                </a:gridCol>
                <a:gridCol w="360000">
                  <a:extLst>
                    <a:ext uri="{9D8B030D-6E8A-4147-A177-3AD203B41FA5}">
                      <a16:colId xmlns:a16="http://schemas.microsoft.com/office/drawing/2014/main" val="1997093998"/>
                    </a:ext>
                  </a:extLst>
                </a:gridCol>
                <a:gridCol w="360000">
                  <a:extLst>
                    <a:ext uri="{9D8B030D-6E8A-4147-A177-3AD203B41FA5}">
                      <a16:colId xmlns:a16="http://schemas.microsoft.com/office/drawing/2014/main" val="4262308452"/>
                    </a:ext>
                  </a:extLst>
                </a:gridCol>
                <a:gridCol w="360000">
                  <a:extLst>
                    <a:ext uri="{9D8B030D-6E8A-4147-A177-3AD203B41FA5}">
                      <a16:colId xmlns:a16="http://schemas.microsoft.com/office/drawing/2014/main" val="1287248324"/>
                    </a:ext>
                  </a:extLst>
                </a:gridCol>
              </a:tblGrid>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9307960"/>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6215500"/>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458509"/>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9702945"/>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475546"/>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4311029"/>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9215718"/>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3711955"/>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4464789"/>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3306401"/>
                  </a:ext>
                </a:extLst>
              </a:tr>
            </a:tbl>
          </a:graphicData>
        </a:graphic>
      </p:graphicFrame>
      <p:sp>
        <p:nvSpPr>
          <p:cNvPr id="2" name="Text Box">
            <a:extLst>
              <a:ext uri="{FF2B5EF4-FFF2-40B4-BE49-F238E27FC236}">
                <a16:creationId xmlns:a16="http://schemas.microsoft.com/office/drawing/2014/main" id="{16D0515E-51CD-53E2-F1A7-E2D0E87EF0F8}"/>
              </a:ext>
            </a:extLst>
          </p:cNvPr>
          <p:cNvSpPr/>
          <p:nvPr/>
        </p:nvSpPr>
        <p:spPr>
          <a:xfrm>
            <a:off x="5581291" y="381903"/>
            <a:ext cx="2840046" cy="495108"/>
          </a:xfrm>
          <a:prstGeom prst="rect">
            <a:avLst/>
          </a:prstGeom>
          <a:solidFill>
            <a:srgbClr val="05A8E7"/>
          </a:solidFill>
          <a:ln w="285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r"/>
            <a:r>
              <a:rPr lang="en-GB" b="1" dirty="0">
                <a:solidFill>
                  <a:schemeClr val="bg1"/>
                </a:solidFill>
              </a:rPr>
              <a:t>What is a percentage</a:t>
            </a:r>
          </a:p>
        </p:txBody>
      </p:sp>
      <p:pic>
        <p:nvPicPr>
          <p:cNvPr id="4" name="Picture 3">
            <a:extLst>
              <a:ext uri="{FF2B5EF4-FFF2-40B4-BE49-F238E27FC236}">
                <a16:creationId xmlns:a16="http://schemas.microsoft.com/office/drawing/2014/main" id="{1890E63B-AC76-D748-AF5A-6BDE5D6BCF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42962" y="44773"/>
            <a:ext cx="275875" cy="760521"/>
          </a:xfrm>
          <a:prstGeom prst="rect">
            <a:avLst/>
          </a:prstGeom>
        </p:spPr>
      </p:pic>
      <p:sp>
        <p:nvSpPr>
          <p:cNvPr id="7" name="Text">
            <a:extLst>
              <a:ext uri="{FF2B5EF4-FFF2-40B4-BE49-F238E27FC236}">
                <a16:creationId xmlns:a16="http://schemas.microsoft.com/office/drawing/2014/main" id="{B5B3C191-626C-41D0-EF56-FD42E65310D0}"/>
              </a:ext>
            </a:extLst>
          </p:cNvPr>
          <p:cNvSpPr/>
          <p:nvPr/>
        </p:nvSpPr>
        <p:spPr>
          <a:xfrm>
            <a:off x="4848234" y="5308047"/>
            <a:ext cx="2421615"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What percentage of this shape is </a:t>
            </a:r>
            <a:r>
              <a:rPr lang="en-GB" sz="1800" b="1" i="0" u="none" strike="noStrike" dirty="0">
                <a:solidFill>
                  <a:srgbClr val="000000"/>
                </a:solidFill>
                <a:effectLst/>
                <a:latin typeface="Twinkl" panose="02000000000000000000" pitchFamily="2" charset="77"/>
              </a:rPr>
              <a:t>unshaded</a:t>
            </a:r>
            <a:r>
              <a:rPr lang="en-GB" sz="1800" b="0" i="0" u="none" strike="noStrike" dirty="0">
                <a:solidFill>
                  <a:srgbClr val="000000"/>
                </a:solidFill>
                <a:effectLst/>
                <a:latin typeface="Twinkl" panose="02000000000000000000" pitchFamily="2" charset="77"/>
              </a:rPr>
              <a:t>?</a:t>
            </a:r>
            <a:endParaRPr lang="en-GB" b="0" dirty="0">
              <a:effectLst/>
              <a:latin typeface="Twinkl" panose="02000000000000000000" pitchFamily="2" charset="77"/>
            </a:endParaRPr>
          </a:p>
        </p:txBody>
      </p:sp>
      <p:sp>
        <p:nvSpPr>
          <p:cNvPr id="9" name="Text">
            <a:extLst>
              <a:ext uri="{FF2B5EF4-FFF2-40B4-BE49-F238E27FC236}">
                <a16:creationId xmlns:a16="http://schemas.microsoft.com/office/drawing/2014/main" id="{4DB6D43B-B5C4-E894-C551-03E4F53827E5}"/>
              </a:ext>
            </a:extLst>
          </p:cNvPr>
          <p:cNvSpPr/>
          <p:nvPr/>
        </p:nvSpPr>
        <p:spPr>
          <a:xfrm>
            <a:off x="4848234" y="4074099"/>
            <a:ext cx="2352687"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What fraction of this shape is </a:t>
            </a:r>
            <a:r>
              <a:rPr lang="en-GB" sz="1800" b="1" i="0" u="none" strike="noStrike" dirty="0">
                <a:solidFill>
                  <a:srgbClr val="000000"/>
                </a:solidFill>
                <a:effectLst/>
                <a:latin typeface="Twinkl" panose="02000000000000000000" pitchFamily="2" charset="77"/>
              </a:rPr>
              <a:t>unshaded</a:t>
            </a:r>
            <a:r>
              <a:rPr lang="en-GB" sz="1800" b="0" i="0" u="none" strike="noStrike" dirty="0">
                <a:solidFill>
                  <a:srgbClr val="000000"/>
                </a:solidFill>
                <a:effectLst/>
                <a:latin typeface="Twinkl" panose="02000000000000000000" pitchFamily="2" charset="77"/>
              </a:rPr>
              <a:t>?</a:t>
            </a:r>
            <a:endParaRPr lang="en-GB" b="0" dirty="0">
              <a:effectLst/>
              <a:latin typeface="Twinkl" panose="02000000000000000000" pitchFamily="2" charset="77"/>
            </a:endParaRPr>
          </a:p>
        </p:txBody>
      </p:sp>
      <p:sp>
        <p:nvSpPr>
          <p:cNvPr id="12" name="Text">
            <a:extLst>
              <a:ext uri="{FF2B5EF4-FFF2-40B4-BE49-F238E27FC236}">
                <a16:creationId xmlns:a16="http://schemas.microsoft.com/office/drawing/2014/main" id="{E3729F6F-77EF-F9E1-957C-210A9D6100B1}"/>
              </a:ext>
            </a:extLst>
          </p:cNvPr>
          <p:cNvSpPr/>
          <p:nvPr/>
        </p:nvSpPr>
        <p:spPr>
          <a:xfrm>
            <a:off x="4798326" y="2840151"/>
            <a:ext cx="2352687"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What percentage of this shape is </a:t>
            </a:r>
            <a:r>
              <a:rPr lang="en-GB" sz="1800" b="1" i="0" u="none" strike="noStrike" dirty="0">
                <a:solidFill>
                  <a:srgbClr val="000000"/>
                </a:solidFill>
                <a:effectLst/>
                <a:latin typeface="Twinkl" panose="02000000000000000000" pitchFamily="2" charset="77"/>
              </a:rPr>
              <a:t>shaded</a:t>
            </a:r>
            <a:r>
              <a:rPr lang="en-GB" sz="1800" b="0" i="0" u="none" strike="noStrike" dirty="0">
                <a:solidFill>
                  <a:srgbClr val="000000"/>
                </a:solidFill>
                <a:effectLst/>
                <a:latin typeface="Twinkl" panose="02000000000000000000" pitchFamily="2" charset="77"/>
              </a:rPr>
              <a:t>?</a:t>
            </a:r>
            <a:endParaRPr lang="en-GB" b="0" dirty="0">
              <a:effectLst/>
              <a:latin typeface="Twinkl" panose="02000000000000000000" pitchFamily="2" charset="77"/>
            </a:endParaRPr>
          </a:p>
        </p:txBody>
      </p:sp>
      <p:sp>
        <p:nvSpPr>
          <p:cNvPr id="15" name="Rectangle 14">
            <a:extLst>
              <a:ext uri="{FF2B5EF4-FFF2-40B4-BE49-F238E27FC236}">
                <a16:creationId xmlns:a16="http://schemas.microsoft.com/office/drawing/2014/main" id="{B53D60CD-FD07-EFA9-2BEE-4963DD6DDAF0}"/>
              </a:ext>
            </a:extLst>
          </p:cNvPr>
          <p:cNvSpPr/>
          <p:nvPr/>
        </p:nvSpPr>
        <p:spPr>
          <a:xfrm>
            <a:off x="7399664" y="2727198"/>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winkl" panose="02000000000000000000" pitchFamily="2" charset="77"/>
              </a:rPr>
              <a:t>25%</a:t>
            </a:r>
          </a:p>
        </p:txBody>
      </p:sp>
      <p:sp>
        <p:nvSpPr>
          <p:cNvPr id="17" name="Rectangle 16">
            <a:extLst>
              <a:ext uri="{FF2B5EF4-FFF2-40B4-BE49-F238E27FC236}">
                <a16:creationId xmlns:a16="http://schemas.microsoft.com/office/drawing/2014/main" id="{A3CC174C-8669-91D2-1E5C-0B6C4364D7B5}"/>
              </a:ext>
            </a:extLst>
          </p:cNvPr>
          <p:cNvSpPr/>
          <p:nvPr/>
        </p:nvSpPr>
        <p:spPr>
          <a:xfrm>
            <a:off x="7399663" y="5195094"/>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winkl" panose="02000000000000000000" pitchFamily="2" charset="77"/>
              </a:rPr>
              <a:t>75%</a:t>
            </a:r>
          </a:p>
        </p:txBody>
      </p:sp>
      <p:grpSp>
        <p:nvGrpSpPr>
          <p:cNvPr id="28" name="Group 27">
            <a:extLst>
              <a:ext uri="{FF2B5EF4-FFF2-40B4-BE49-F238E27FC236}">
                <a16:creationId xmlns:a16="http://schemas.microsoft.com/office/drawing/2014/main" id="{094E4BB1-903E-05EA-49DB-A56C50D6DE81}"/>
              </a:ext>
            </a:extLst>
          </p:cNvPr>
          <p:cNvGrpSpPr/>
          <p:nvPr/>
        </p:nvGrpSpPr>
        <p:grpSpPr>
          <a:xfrm>
            <a:off x="7151013" y="1530677"/>
            <a:ext cx="1316182" cy="779903"/>
            <a:chOff x="7031183" y="1530677"/>
            <a:chExt cx="1316182" cy="779903"/>
          </a:xfrm>
        </p:grpSpPr>
        <p:sp>
          <p:nvSpPr>
            <p:cNvPr id="13" name="Rectangle 12">
              <a:extLst>
                <a:ext uri="{FF2B5EF4-FFF2-40B4-BE49-F238E27FC236}">
                  <a16:creationId xmlns:a16="http://schemas.microsoft.com/office/drawing/2014/main" id="{936A19A4-068D-598A-E8BF-0067607362D8}"/>
                </a:ext>
              </a:extLst>
            </p:cNvPr>
            <p:cNvSpPr/>
            <p:nvPr/>
          </p:nvSpPr>
          <p:spPr>
            <a:xfrm>
              <a:off x="7031183" y="1530677"/>
              <a:ext cx="1316182"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Twinkl" panose="02000000000000000000" pitchFamily="2" charset="77"/>
              </a:endParaRPr>
            </a:p>
          </p:txBody>
        </p:sp>
        <p:grpSp>
          <p:nvGrpSpPr>
            <p:cNvPr id="14" name="Group 13">
              <a:extLst>
                <a:ext uri="{FF2B5EF4-FFF2-40B4-BE49-F238E27FC236}">
                  <a16:creationId xmlns:a16="http://schemas.microsoft.com/office/drawing/2014/main" id="{BF1C26FA-0113-4410-FCE8-E7F98400B8E8}"/>
                </a:ext>
              </a:extLst>
            </p:cNvPr>
            <p:cNvGrpSpPr/>
            <p:nvPr/>
          </p:nvGrpSpPr>
          <p:grpSpPr>
            <a:xfrm>
              <a:off x="7031183" y="1605869"/>
              <a:ext cx="654236" cy="646331"/>
              <a:chOff x="7546218" y="1606203"/>
              <a:chExt cx="654236" cy="646331"/>
            </a:xfrm>
          </p:grpSpPr>
          <p:sp>
            <p:nvSpPr>
              <p:cNvPr id="8" name="TextBox 7">
                <a:extLst>
                  <a:ext uri="{FF2B5EF4-FFF2-40B4-BE49-F238E27FC236}">
                    <a16:creationId xmlns:a16="http://schemas.microsoft.com/office/drawing/2014/main" id="{07249D90-63B7-81F2-DA07-33855495A660}"/>
                  </a:ext>
                </a:extLst>
              </p:cNvPr>
              <p:cNvSpPr txBox="1"/>
              <p:nvPr/>
            </p:nvSpPr>
            <p:spPr>
              <a:xfrm>
                <a:off x="7546218" y="1606203"/>
                <a:ext cx="654236" cy="646331"/>
              </a:xfrm>
              <a:prstGeom prst="rect">
                <a:avLst/>
              </a:prstGeom>
              <a:noFill/>
            </p:spPr>
            <p:txBody>
              <a:bodyPr wrap="square" rtlCol="0">
                <a:spAutoFit/>
              </a:bodyPr>
              <a:lstStyle/>
              <a:p>
                <a:pPr algn="ctr"/>
                <a:r>
                  <a:rPr lang="en-US" b="1" dirty="0"/>
                  <a:t>25</a:t>
                </a:r>
                <a:br>
                  <a:rPr lang="en-US" b="1" dirty="0"/>
                </a:br>
                <a:r>
                  <a:rPr lang="en-US" b="1" dirty="0"/>
                  <a:t>100</a:t>
                </a:r>
              </a:p>
            </p:txBody>
          </p:sp>
          <p:cxnSp>
            <p:nvCxnSpPr>
              <p:cNvPr id="10" name="Straight Connector 9">
                <a:extLst>
                  <a:ext uri="{FF2B5EF4-FFF2-40B4-BE49-F238E27FC236}">
                    <a16:creationId xmlns:a16="http://schemas.microsoft.com/office/drawing/2014/main" id="{FFA58F1B-0782-7968-A38E-8C2F8FA452B8}"/>
                  </a:ext>
                </a:extLst>
              </p:cNvPr>
              <p:cNvCxnSpPr>
                <a:cxnSpLocks/>
              </p:cNvCxnSpPr>
              <p:nvPr/>
            </p:nvCxnSpPr>
            <p:spPr>
              <a:xfrm>
                <a:off x="7675336" y="1924162"/>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F478697D-A370-0C89-A319-AC736A97704F}"/>
                </a:ext>
              </a:extLst>
            </p:cNvPr>
            <p:cNvGrpSpPr/>
            <p:nvPr/>
          </p:nvGrpSpPr>
          <p:grpSpPr>
            <a:xfrm>
              <a:off x="8013314" y="1594121"/>
              <a:ext cx="230524" cy="646331"/>
              <a:chOff x="8053549" y="1605869"/>
              <a:chExt cx="230524" cy="646331"/>
            </a:xfrm>
          </p:grpSpPr>
          <p:sp>
            <p:nvSpPr>
              <p:cNvPr id="18" name="TextBox 17">
                <a:extLst>
                  <a:ext uri="{FF2B5EF4-FFF2-40B4-BE49-F238E27FC236}">
                    <a16:creationId xmlns:a16="http://schemas.microsoft.com/office/drawing/2014/main" id="{A872B8D9-5C4A-963A-ADD5-9199258F4F37}"/>
                  </a:ext>
                </a:extLst>
              </p:cNvPr>
              <p:cNvSpPr txBox="1"/>
              <p:nvPr/>
            </p:nvSpPr>
            <p:spPr>
              <a:xfrm>
                <a:off x="8053549" y="1605869"/>
                <a:ext cx="230524" cy="646331"/>
              </a:xfrm>
              <a:prstGeom prst="rect">
                <a:avLst/>
              </a:prstGeom>
              <a:noFill/>
            </p:spPr>
            <p:txBody>
              <a:bodyPr wrap="square" rtlCol="0">
                <a:spAutoFit/>
              </a:bodyPr>
              <a:lstStyle/>
              <a:p>
                <a:pPr algn="ctr"/>
                <a:r>
                  <a:rPr lang="en-US" b="1" dirty="0"/>
                  <a:t>1</a:t>
                </a:r>
                <a:br>
                  <a:rPr lang="en-US" b="1" dirty="0"/>
                </a:br>
                <a:r>
                  <a:rPr lang="en-US" b="1" dirty="0"/>
                  <a:t>4</a:t>
                </a:r>
              </a:p>
            </p:txBody>
          </p:sp>
          <p:cxnSp>
            <p:nvCxnSpPr>
              <p:cNvPr id="21" name="Straight Connector 20">
                <a:extLst>
                  <a:ext uri="{FF2B5EF4-FFF2-40B4-BE49-F238E27FC236}">
                    <a16:creationId xmlns:a16="http://schemas.microsoft.com/office/drawing/2014/main" id="{F02A79FE-776F-D9A0-8178-224C79FFCA4D}"/>
                  </a:ext>
                </a:extLst>
              </p:cNvPr>
              <p:cNvCxnSpPr>
                <a:cxnSpLocks/>
              </p:cNvCxnSpPr>
              <p:nvPr/>
            </p:nvCxnSpPr>
            <p:spPr>
              <a:xfrm>
                <a:off x="8067888" y="1923828"/>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TextBox 25">
              <a:extLst>
                <a:ext uri="{FF2B5EF4-FFF2-40B4-BE49-F238E27FC236}">
                  <a16:creationId xmlns:a16="http://schemas.microsoft.com/office/drawing/2014/main" id="{E24D663B-1843-B47C-B81C-9CA487B08305}"/>
                </a:ext>
              </a:extLst>
            </p:cNvPr>
            <p:cNvSpPr txBox="1"/>
            <p:nvPr/>
          </p:nvSpPr>
          <p:spPr>
            <a:xfrm>
              <a:off x="7564480" y="1735962"/>
              <a:ext cx="451061" cy="369332"/>
            </a:xfrm>
            <a:prstGeom prst="rect">
              <a:avLst/>
            </a:prstGeom>
            <a:noFill/>
          </p:spPr>
          <p:txBody>
            <a:bodyPr wrap="square">
              <a:spAutoFit/>
            </a:bodyPr>
            <a:lstStyle/>
            <a:p>
              <a:pPr algn="ctr"/>
              <a:r>
                <a:rPr lang="en-US" b="1" dirty="0">
                  <a:solidFill>
                    <a:schemeClr val="tx1"/>
                  </a:solidFill>
                  <a:latin typeface="Twinkl" panose="02000000000000000000" pitchFamily="2" charset="77"/>
                </a:rPr>
                <a:t>or</a:t>
              </a:r>
              <a:endParaRPr lang="en-US" dirty="0"/>
            </a:p>
          </p:txBody>
        </p:sp>
      </p:grpSp>
      <p:grpSp>
        <p:nvGrpSpPr>
          <p:cNvPr id="11" name="Group 10">
            <a:extLst>
              <a:ext uri="{FF2B5EF4-FFF2-40B4-BE49-F238E27FC236}">
                <a16:creationId xmlns:a16="http://schemas.microsoft.com/office/drawing/2014/main" id="{6CB26C63-0CE9-BCE2-7B71-21D9649246C4}"/>
              </a:ext>
            </a:extLst>
          </p:cNvPr>
          <p:cNvGrpSpPr/>
          <p:nvPr/>
        </p:nvGrpSpPr>
        <p:grpSpPr>
          <a:xfrm>
            <a:off x="7151013" y="3940193"/>
            <a:ext cx="1316182" cy="779903"/>
            <a:chOff x="7031183" y="1530677"/>
            <a:chExt cx="1316182" cy="779903"/>
          </a:xfrm>
        </p:grpSpPr>
        <p:sp>
          <p:nvSpPr>
            <p:cNvPr id="23" name="Rectangle 22">
              <a:extLst>
                <a:ext uri="{FF2B5EF4-FFF2-40B4-BE49-F238E27FC236}">
                  <a16:creationId xmlns:a16="http://schemas.microsoft.com/office/drawing/2014/main" id="{15FB613C-7CBF-1FAB-F4B0-82C48C78CF7A}"/>
                </a:ext>
              </a:extLst>
            </p:cNvPr>
            <p:cNvSpPr/>
            <p:nvPr/>
          </p:nvSpPr>
          <p:spPr>
            <a:xfrm>
              <a:off x="7031183" y="1530677"/>
              <a:ext cx="1316182"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Twinkl" panose="02000000000000000000" pitchFamily="2" charset="77"/>
              </a:endParaRPr>
            </a:p>
          </p:txBody>
        </p:sp>
        <p:grpSp>
          <p:nvGrpSpPr>
            <p:cNvPr id="25" name="Group 24">
              <a:extLst>
                <a:ext uri="{FF2B5EF4-FFF2-40B4-BE49-F238E27FC236}">
                  <a16:creationId xmlns:a16="http://schemas.microsoft.com/office/drawing/2014/main" id="{E946826D-8C86-52B6-6C81-41C2FB5F5488}"/>
                </a:ext>
              </a:extLst>
            </p:cNvPr>
            <p:cNvGrpSpPr/>
            <p:nvPr/>
          </p:nvGrpSpPr>
          <p:grpSpPr>
            <a:xfrm>
              <a:off x="7031183" y="1605869"/>
              <a:ext cx="654236" cy="646331"/>
              <a:chOff x="7546218" y="1606203"/>
              <a:chExt cx="654236" cy="646331"/>
            </a:xfrm>
          </p:grpSpPr>
          <p:sp>
            <p:nvSpPr>
              <p:cNvPr id="33" name="TextBox 32">
                <a:extLst>
                  <a:ext uri="{FF2B5EF4-FFF2-40B4-BE49-F238E27FC236}">
                    <a16:creationId xmlns:a16="http://schemas.microsoft.com/office/drawing/2014/main" id="{21508957-FE97-A640-0F23-BE48B34F4FE8}"/>
                  </a:ext>
                </a:extLst>
              </p:cNvPr>
              <p:cNvSpPr txBox="1"/>
              <p:nvPr/>
            </p:nvSpPr>
            <p:spPr>
              <a:xfrm>
                <a:off x="7546218" y="1606203"/>
                <a:ext cx="654236" cy="646331"/>
              </a:xfrm>
              <a:prstGeom prst="rect">
                <a:avLst/>
              </a:prstGeom>
              <a:noFill/>
            </p:spPr>
            <p:txBody>
              <a:bodyPr wrap="square" rtlCol="0">
                <a:spAutoFit/>
              </a:bodyPr>
              <a:lstStyle/>
              <a:p>
                <a:pPr algn="ctr"/>
                <a:r>
                  <a:rPr lang="en-US" b="1" dirty="0"/>
                  <a:t>75</a:t>
                </a:r>
                <a:br>
                  <a:rPr lang="en-US" b="1" dirty="0"/>
                </a:br>
                <a:r>
                  <a:rPr lang="en-US" b="1" dirty="0"/>
                  <a:t>100</a:t>
                </a:r>
              </a:p>
            </p:txBody>
          </p:sp>
          <p:cxnSp>
            <p:nvCxnSpPr>
              <p:cNvPr id="34" name="Straight Connector 33">
                <a:extLst>
                  <a:ext uri="{FF2B5EF4-FFF2-40B4-BE49-F238E27FC236}">
                    <a16:creationId xmlns:a16="http://schemas.microsoft.com/office/drawing/2014/main" id="{1F00DA35-7178-8D41-2A78-09A08815672D}"/>
                  </a:ext>
                </a:extLst>
              </p:cNvPr>
              <p:cNvCxnSpPr>
                <a:cxnSpLocks/>
              </p:cNvCxnSpPr>
              <p:nvPr/>
            </p:nvCxnSpPr>
            <p:spPr>
              <a:xfrm>
                <a:off x="7675336" y="1924162"/>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196556BE-5605-DC11-105A-D6A93A843409}"/>
                </a:ext>
              </a:extLst>
            </p:cNvPr>
            <p:cNvGrpSpPr/>
            <p:nvPr/>
          </p:nvGrpSpPr>
          <p:grpSpPr>
            <a:xfrm>
              <a:off x="8013314" y="1594121"/>
              <a:ext cx="230524" cy="646331"/>
              <a:chOff x="8053549" y="1605869"/>
              <a:chExt cx="230524" cy="646331"/>
            </a:xfrm>
          </p:grpSpPr>
          <p:sp>
            <p:nvSpPr>
              <p:cNvPr id="31" name="TextBox 30">
                <a:extLst>
                  <a:ext uri="{FF2B5EF4-FFF2-40B4-BE49-F238E27FC236}">
                    <a16:creationId xmlns:a16="http://schemas.microsoft.com/office/drawing/2014/main" id="{5B2ABD6C-7B6E-19E3-BFF2-D70707AA4429}"/>
                  </a:ext>
                </a:extLst>
              </p:cNvPr>
              <p:cNvSpPr txBox="1"/>
              <p:nvPr/>
            </p:nvSpPr>
            <p:spPr>
              <a:xfrm>
                <a:off x="8053549" y="1605869"/>
                <a:ext cx="230524" cy="646331"/>
              </a:xfrm>
              <a:prstGeom prst="rect">
                <a:avLst/>
              </a:prstGeom>
              <a:noFill/>
            </p:spPr>
            <p:txBody>
              <a:bodyPr wrap="square" rtlCol="0">
                <a:spAutoFit/>
              </a:bodyPr>
              <a:lstStyle/>
              <a:p>
                <a:pPr algn="ctr"/>
                <a:r>
                  <a:rPr lang="en-US" b="1" dirty="0"/>
                  <a:t>3</a:t>
                </a:r>
                <a:br>
                  <a:rPr lang="en-US" b="1" dirty="0"/>
                </a:br>
                <a:r>
                  <a:rPr lang="en-US" b="1" dirty="0"/>
                  <a:t>4</a:t>
                </a:r>
              </a:p>
            </p:txBody>
          </p:sp>
          <p:cxnSp>
            <p:nvCxnSpPr>
              <p:cNvPr id="32" name="Straight Connector 31">
                <a:extLst>
                  <a:ext uri="{FF2B5EF4-FFF2-40B4-BE49-F238E27FC236}">
                    <a16:creationId xmlns:a16="http://schemas.microsoft.com/office/drawing/2014/main" id="{F7F3909F-B63D-FED5-7AEA-AF376640F66F}"/>
                  </a:ext>
                </a:extLst>
              </p:cNvPr>
              <p:cNvCxnSpPr>
                <a:cxnSpLocks/>
              </p:cNvCxnSpPr>
              <p:nvPr/>
            </p:nvCxnSpPr>
            <p:spPr>
              <a:xfrm>
                <a:off x="8067888" y="1923828"/>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 name="TextBox 29">
              <a:extLst>
                <a:ext uri="{FF2B5EF4-FFF2-40B4-BE49-F238E27FC236}">
                  <a16:creationId xmlns:a16="http://schemas.microsoft.com/office/drawing/2014/main" id="{0061EA92-F2BA-CB1B-9200-63FD6F77B24F}"/>
                </a:ext>
              </a:extLst>
            </p:cNvPr>
            <p:cNvSpPr txBox="1"/>
            <p:nvPr/>
          </p:nvSpPr>
          <p:spPr>
            <a:xfrm>
              <a:off x="7564480" y="1735962"/>
              <a:ext cx="451061" cy="369332"/>
            </a:xfrm>
            <a:prstGeom prst="rect">
              <a:avLst/>
            </a:prstGeom>
            <a:noFill/>
          </p:spPr>
          <p:txBody>
            <a:bodyPr wrap="square">
              <a:spAutoFit/>
            </a:bodyPr>
            <a:lstStyle/>
            <a:p>
              <a:pPr algn="ctr"/>
              <a:r>
                <a:rPr lang="en-US" b="1" dirty="0">
                  <a:solidFill>
                    <a:schemeClr val="tx1"/>
                  </a:solidFill>
                  <a:latin typeface="Twinkl" panose="02000000000000000000" pitchFamily="2" charset="77"/>
                </a:rPr>
                <a:t>or</a:t>
              </a:r>
              <a:endParaRPr lang="en-US" dirty="0"/>
            </a:p>
          </p:txBody>
        </p:sp>
      </p:grpSp>
    </p:spTree>
    <p:extLst>
      <p:ext uri="{BB962C8B-B14F-4D97-AF65-F5344CB8AC3E}">
        <p14:creationId xmlns:p14="http://schemas.microsoft.com/office/powerpoint/2010/main" val="4089290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A4B7C-6CFE-7DCC-AB21-95EF210B5576}"/>
            </a:ext>
          </a:extLst>
        </p:cNvPr>
        <p:cNvGrpSpPr/>
        <p:nvPr/>
      </p:nvGrpSpPr>
      <p:grpSpPr>
        <a:xfrm>
          <a:off x="0" y="0"/>
          <a:ext cx="0" cy="0"/>
          <a:chOff x="0" y="0"/>
          <a:chExt cx="0" cy="0"/>
        </a:xfrm>
      </p:grpSpPr>
      <p:sp>
        <p:nvSpPr>
          <p:cNvPr id="5" name="Text">
            <a:extLst>
              <a:ext uri="{FF2B5EF4-FFF2-40B4-BE49-F238E27FC236}">
                <a16:creationId xmlns:a16="http://schemas.microsoft.com/office/drawing/2014/main" id="{46031C3D-A86D-889F-EAC3-FCB0CA6D5F01}"/>
              </a:ext>
            </a:extLst>
          </p:cNvPr>
          <p:cNvSpPr/>
          <p:nvPr/>
        </p:nvSpPr>
        <p:spPr>
          <a:xfrm>
            <a:off x="4848234" y="1606203"/>
            <a:ext cx="2352687"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What fraction of this shape is </a:t>
            </a:r>
            <a:r>
              <a:rPr lang="en-GB" sz="1800" b="1" i="0" u="none" strike="noStrike" dirty="0">
                <a:solidFill>
                  <a:srgbClr val="000000"/>
                </a:solidFill>
                <a:effectLst/>
                <a:latin typeface="Twinkl" panose="02000000000000000000" pitchFamily="2" charset="77"/>
              </a:rPr>
              <a:t>shaded</a:t>
            </a:r>
            <a:r>
              <a:rPr lang="en-GB" sz="1800" b="0" i="0" u="none" strike="noStrike" dirty="0">
                <a:solidFill>
                  <a:srgbClr val="000000"/>
                </a:solidFill>
                <a:effectLst/>
                <a:latin typeface="Twinkl" panose="02000000000000000000" pitchFamily="2" charset="77"/>
              </a:rPr>
              <a:t>?</a:t>
            </a:r>
            <a:endParaRPr lang="en-GB" b="0" dirty="0">
              <a:effectLst/>
              <a:latin typeface="Twinkl" panose="02000000000000000000" pitchFamily="2" charset="77"/>
            </a:endParaRPr>
          </a:p>
        </p:txBody>
      </p:sp>
      <p:graphicFrame>
        <p:nvGraphicFramePr>
          <p:cNvPr id="3" name="Table 2">
            <a:extLst>
              <a:ext uri="{FF2B5EF4-FFF2-40B4-BE49-F238E27FC236}">
                <a16:creationId xmlns:a16="http://schemas.microsoft.com/office/drawing/2014/main" id="{A2A61AE9-784D-DF94-F66E-E62305673444}"/>
              </a:ext>
            </a:extLst>
          </p:cNvPr>
          <p:cNvGraphicFramePr>
            <a:graphicFrameLocks noGrp="1"/>
          </p:cNvGraphicFramePr>
          <p:nvPr>
            <p:extLst>
              <p:ext uri="{D42A27DB-BD31-4B8C-83A1-F6EECF244321}">
                <p14:modId xmlns:p14="http://schemas.microsoft.com/office/powerpoint/2010/main" val="3167156372"/>
              </p:ext>
            </p:extLst>
          </p:nvPr>
        </p:nvGraphicFramePr>
        <p:xfrm>
          <a:off x="859924" y="1629000"/>
          <a:ext cx="3600000" cy="3600000"/>
        </p:xfrm>
        <a:graphic>
          <a:graphicData uri="http://schemas.openxmlformats.org/drawingml/2006/table">
            <a:tbl>
              <a:tblPr/>
              <a:tblGrid>
                <a:gridCol w="360000">
                  <a:extLst>
                    <a:ext uri="{9D8B030D-6E8A-4147-A177-3AD203B41FA5}">
                      <a16:colId xmlns:a16="http://schemas.microsoft.com/office/drawing/2014/main" val="572867659"/>
                    </a:ext>
                  </a:extLst>
                </a:gridCol>
                <a:gridCol w="360000">
                  <a:extLst>
                    <a:ext uri="{9D8B030D-6E8A-4147-A177-3AD203B41FA5}">
                      <a16:colId xmlns:a16="http://schemas.microsoft.com/office/drawing/2014/main" val="2366956878"/>
                    </a:ext>
                  </a:extLst>
                </a:gridCol>
                <a:gridCol w="360000">
                  <a:extLst>
                    <a:ext uri="{9D8B030D-6E8A-4147-A177-3AD203B41FA5}">
                      <a16:colId xmlns:a16="http://schemas.microsoft.com/office/drawing/2014/main" val="2484655587"/>
                    </a:ext>
                  </a:extLst>
                </a:gridCol>
                <a:gridCol w="360000">
                  <a:extLst>
                    <a:ext uri="{9D8B030D-6E8A-4147-A177-3AD203B41FA5}">
                      <a16:colId xmlns:a16="http://schemas.microsoft.com/office/drawing/2014/main" val="3167737010"/>
                    </a:ext>
                  </a:extLst>
                </a:gridCol>
                <a:gridCol w="360000">
                  <a:extLst>
                    <a:ext uri="{9D8B030D-6E8A-4147-A177-3AD203B41FA5}">
                      <a16:colId xmlns:a16="http://schemas.microsoft.com/office/drawing/2014/main" val="563689847"/>
                    </a:ext>
                  </a:extLst>
                </a:gridCol>
                <a:gridCol w="360000">
                  <a:extLst>
                    <a:ext uri="{9D8B030D-6E8A-4147-A177-3AD203B41FA5}">
                      <a16:colId xmlns:a16="http://schemas.microsoft.com/office/drawing/2014/main" val="2992893548"/>
                    </a:ext>
                  </a:extLst>
                </a:gridCol>
                <a:gridCol w="360000">
                  <a:extLst>
                    <a:ext uri="{9D8B030D-6E8A-4147-A177-3AD203B41FA5}">
                      <a16:colId xmlns:a16="http://schemas.microsoft.com/office/drawing/2014/main" val="849333661"/>
                    </a:ext>
                  </a:extLst>
                </a:gridCol>
                <a:gridCol w="360000">
                  <a:extLst>
                    <a:ext uri="{9D8B030D-6E8A-4147-A177-3AD203B41FA5}">
                      <a16:colId xmlns:a16="http://schemas.microsoft.com/office/drawing/2014/main" val="1997093998"/>
                    </a:ext>
                  </a:extLst>
                </a:gridCol>
                <a:gridCol w="360000">
                  <a:extLst>
                    <a:ext uri="{9D8B030D-6E8A-4147-A177-3AD203B41FA5}">
                      <a16:colId xmlns:a16="http://schemas.microsoft.com/office/drawing/2014/main" val="4262308452"/>
                    </a:ext>
                  </a:extLst>
                </a:gridCol>
                <a:gridCol w="360000">
                  <a:extLst>
                    <a:ext uri="{9D8B030D-6E8A-4147-A177-3AD203B41FA5}">
                      <a16:colId xmlns:a16="http://schemas.microsoft.com/office/drawing/2014/main" val="1287248324"/>
                    </a:ext>
                  </a:extLst>
                </a:gridCol>
              </a:tblGrid>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9307960"/>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6215500"/>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458509"/>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9702945"/>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475546"/>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4311029"/>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9215718"/>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3711955"/>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4464789"/>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3306401"/>
                  </a:ext>
                </a:extLst>
              </a:tr>
            </a:tbl>
          </a:graphicData>
        </a:graphic>
      </p:graphicFrame>
      <p:sp>
        <p:nvSpPr>
          <p:cNvPr id="2" name="Text Box">
            <a:extLst>
              <a:ext uri="{FF2B5EF4-FFF2-40B4-BE49-F238E27FC236}">
                <a16:creationId xmlns:a16="http://schemas.microsoft.com/office/drawing/2014/main" id="{F229F8F5-0A75-7CCA-D866-7AB6C71532A1}"/>
              </a:ext>
            </a:extLst>
          </p:cNvPr>
          <p:cNvSpPr/>
          <p:nvPr/>
        </p:nvSpPr>
        <p:spPr>
          <a:xfrm>
            <a:off x="5581291" y="381903"/>
            <a:ext cx="2840046" cy="495108"/>
          </a:xfrm>
          <a:prstGeom prst="rect">
            <a:avLst/>
          </a:prstGeom>
          <a:solidFill>
            <a:srgbClr val="05A8E7"/>
          </a:solidFill>
          <a:ln w="285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r"/>
            <a:r>
              <a:rPr lang="en-GB" b="1" dirty="0">
                <a:solidFill>
                  <a:schemeClr val="bg1"/>
                </a:solidFill>
              </a:rPr>
              <a:t>What is a percentage</a:t>
            </a:r>
          </a:p>
        </p:txBody>
      </p:sp>
      <p:pic>
        <p:nvPicPr>
          <p:cNvPr id="4" name="Picture 3">
            <a:extLst>
              <a:ext uri="{FF2B5EF4-FFF2-40B4-BE49-F238E27FC236}">
                <a16:creationId xmlns:a16="http://schemas.microsoft.com/office/drawing/2014/main" id="{C0174E7D-CDCC-6B10-37C8-1F4A6F9D4F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42962" y="44773"/>
            <a:ext cx="275875" cy="760521"/>
          </a:xfrm>
          <a:prstGeom prst="rect">
            <a:avLst/>
          </a:prstGeom>
        </p:spPr>
      </p:pic>
      <p:sp>
        <p:nvSpPr>
          <p:cNvPr id="7" name="Text">
            <a:extLst>
              <a:ext uri="{FF2B5EF4-FFF2-40B4-BE49-F238E27FC236}">
                <a16:creationId xmlns:a16="http://schemas.microsoft.com/office/drawing/2014/main" id="{088F19FD-AB0E-7A5A-158D-D162A77B5C88}"/>
              </a:ext>
            </a:extLst>
          </p:cNvPr>
          <p:cNvSpPr/>
          <p:nvPr/>
        </p:nvSpPr>
        <p:spPr>
          <a:xfrm>
            <a:off x="4848234" y="5308047"/>
            <a:ext cx="2421615"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What percentage of this shape is </a:t>
            </a:r>
            <a:r>
              <a:rPr lang="en-GB" sz="1800" b="1" i="0" u="none" strike="noStrike" dirty="0">
                <a:solidFill>
                  <a:srgbClr val="000000"/>
                </a:solidFill>
                <a:effectLst/>
                <a:latin typeface="Twinkl" panose="02000000000000000000" pitchFamily="2" charset="77"/>
              </a:rPr>
              <a:t>unshaded</a:t>
            </a:r>
            <a:r>
              <a:rPr lang="en-GB" sz="1800" b="0" i="0" u="none" strike="noStrike" dirty="0">
                <a:solidFill>
                  <a:srgbClr val="000000"/>
                </a:solidFill>
                <a:effectLst/>
                <a:latin typeface="Twinkl" panose="02000000000000000000" pitchFamily="2" charset="77"/>
              </a:rPr>
              <a:t>?</a:t>
            </a:r>
            <a:endParaRPr lang="en-GB" b="0" dirty="0">
              <a:effectLst/>
              <a:latin typeface="Twinkl" panose="02000000000000000000" pitchFamily="2" charset="77"/>
            </a:endParaRPr>
          </a:p>
        </p:txBody>
      </p:sp>
      <p:sp>
        <p:nvSpPr>
          <p:cNvPr id="9" name="Text">
            <a:extLst>
              <a:ext uri="{FF2B5EF4-FFF2-40B4-BE49-F238E27FC236}">
                <a16:creationId xmlns:a16="http://schemas.microsoft.com/office/drawing/2014/main" id="{D46D94D8-19C0-32C8-D213-606E4105EDCD}"/>
              </a:ext>
            </a:extLst>
          </p:cNvPr>
          <p:cNvSpPr/>
          <p:nvPr/>
        </p:nvSpPr>
        <p:spPr>
          <a:xfrm>
            <a:off x="4848234" y="4074099"/>
            <a:ext cx="2352687"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What fraction of this shape is </a:t>
            </a:r>
            <a:r>
              <a:rPr lang="en-GB" sz="1800" b="1" i="0" u="none" strike="noStrike" dirty="0">
                <a:solidFill>
                  <a:srgbClr val="000000"/>
                </a:solidFill>
                <a:effectLst/>
                <a:latin typeface="Twinkl" panose="02000000000000000000" pitchFamily="2" charset="77"/>
              </a:rPr>
              <a:t>unshaded</a:t>
            </a:r>
            <a:r>
              <a:rPr lang="en-GB" sz="1800" b="0" i="0" u="none" strike="noStrike" dirty="0">
                <a:solidFill>
                  <a:srgbClr val="000000"/>
                </a:solidFill>
                <a:effectLst/>
                <a:latin typeface="Twinkl" panose="02000000000000000000" pitchFamily="2" charset="77"/>
              </a:rPr>
              <a:t>?</a:t>
            </a:r>
            <a:endParaRPr lang="en-GB" b="0" dirty="0">
              <a:effectLst/>
              <a:latin typeface="Twinkl" panose="02000000000000000000" pitchFamily="2" charset="77"/>
            </a:endParaRPr>
          </a:p>
        </p:txBody>
      </p:sp>
      <p:sp>
        <p:nvSpPr>
          <p:cNvPr id="12" name="Text">
            <a:extLst>
              <a:ext uri="{FF2B5EF4-FFF2-40B4-BE49-F238E27FC236}">
                <a16:creationId xmlns:a16="http://schemas.microsoft.com/office/drawing/2014/main" id="{26ED86E3-37C7-BD7A-6DA8-BA8C4E08E84C}"/>
              </a:ext>
            </a:extLst>
          </p:cNvPr>
          <p:cNvSpPr/>
          <p:nvPr/>
        </p:nvSpPr>
        <p:spPr>
          <a:xfrm>
            <a:off x="4798326" y="2840151"/>
            <a:ext cx="2352687"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What percentage of this shape is </a:t>
            </a:r>
            <a:r>
              <a:rPr lang="en-GB" sz="1800" b="1" i="0" u="none" strike="noStrike" dirty="0">
                <a:solidFill>
                  <a:srgbClr val="000000"/>
                </a:solidFill>
                <a:effectLst/>
                <a:latin typeface="Twinkl" panose="02000000000000000000" pitchFamily="2" charset="77"/>
              </a:rPr>
              <a:t>shaded</a:t>
            </a:r>
            <a:r>
              <a:rPr lang="en-GB" sz="1800" b="0" i="0" u="none" strike="noStrike" dirty="0">
                <a:solidFill>
                  <a:srgbClr val="000000"/>
                </a:solidFill>
                <a:effectLst/>
                <a:latin typeface="Twinkl" panose="02000000000000000000" pitchFamily="2" charset="77"/>
              </a:rPr>
              <a:t>?</a:t>
            </a:r>
            <a:endParaRPr lang="en-GB" b="0" dirty="0">
              <a:effectLst/>
              <a:latin typeface="Twinkl" panose="02000000000000000000" pitchFamily="2" charset="77"/>
            </a:endParaRPr>
          </a:p>
        </p:txBody>
      </p:sp>
      <p:sp>
        <p:nvSpPr>
          <p:cNvPr id="15" name="Rectangle 14">
            <a:extLst>
              <a:ext uri="{FF2B5EF4-FFF2-40B4-BE49-F238E27FC236}">
                <a16:creationId xmlns:a16="http://schemas.microsoft.com/office/drawing/2014/main" id="{2D8D1A6A-2BB6-AF5C-EFF5-BF0DCEA47A95}"/>
              </a:ext>
            </a:extLst>
          </p:cNvPr>
          <p:cNvSpPr/>
          <p:nvPr/>
        </p:nvSpPr>
        <p:spPr>
          <a:xfrm>
            <a:off x="7399664" y="2727198"/>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winkl" panose="02000000000000000000" pitchFamily="2" charset="77"/>
              </a:rPr>
              <a:t>10%</a:t>
            </a:r>
          </a:p>
        </p:txBody>
      </p:sp>
      <p:sp>
        <p:nvSpPr>
          <p:cNvPr id="17" name="Rectangle 16">
            <a:extLst>
              <a:ext uri="{FF2B5EF4-FFF2-40B4-BE49-F238E27FC236}">
                <a16:creationId xmlns:a16="http://schemas.microsoft.com/office/drawing/2014/main" id="{DF5B4EEB-FB23-BD8D-5E7A-BE2B756B073F}"/>
              </a:ext>
            </a:extLst>
          </p:cNvPr>
          <p:cNvSpPr/>
          <p:nvPr/>
        </p:nvSpPr>
        <p:spPr>
          <a:xfrm>
            <a:off x="7399663" y="5195094"/>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winkl" panose="02000000000000000000" pitchFamily="2" charset="77"/>
              </a:rPr>
              <a:t>90%</a:t>
            </a:r>
          </a:p>
        </p:txBody>
      </p:sp>
      <p:grpSp>
        <p:nvGrpSpPr>
          <p:cNvPr id="16" name="Group 15">
            <a:extLst>
              <a:ext uri="{FF2B5EF4-FFF2-40B4-BE49-F238E27FC236}">
                <a16:creationId xmlns:a16="http://schemas.microsoft.com/office/drawing/2014/main" id="{F1C5439B-0058-F035-83DB-F8EE82556BBA}"/>
              </a:ext>
            </a:extLst>
          </p:cNvPr>
          <p:cNvGrpSpPr/>
          <p:nvPr/>
        </p:nvGrpSpPr>
        <p:grpSpPr>
          <a:xfrm>
            <a:off x="7151013" y="1530677"/>
            <a:ext cx="1340201" cy="779903"/>
            <a:chOff x="7151013" y="1530677"/>
            <a:chExt cx="1340201" cy="779903"/>
          </a:xfrm>
        </p:grpSpPr>
        <p:sp>
          <p:nvSpPr>
            <p:cNvPr id="13" name="Rectangle 12">
              <a:extLst>
                <a:ext uri="{FF2B5EF4-FFF2-40B4-BE49-F238E27FC236}">
                  <a16:creationId xmlns:a16="http://schemas.microsoft.com/office/drawing/2014/main" id="{AD574705-7E1F-4AB0-B2AE-776AEA8A0D96}"/>
                </a:ext>
              </a:extLst>
            </p:cNvPr>
            <p:cNvSpPr/>
            <p:nvPr/>
          </p:nvSpPr>
          <p:spPr>
            <a:xfrm>
              <a:off x="7151013" y="1530677"/>
              <a:ext cx="1316182"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Twinkl" panose="02000000000000000000" pitchFamily="2" charset="77"/>
              </a:endParaRPr>
            </a:p>
          </p:txBody>
        </p:sp>
        <p:grpSp>
          <p:nvGrpSpPr>
            <p:cNvPr id="14" name="Group 13">
              <a:extLst>
                <a:ext uri="{FF2B5EF4-FFF2-40B4-BE49-F238E27FC236}">
                  <a16:creationId xmlns:a16="http://schemas.microsoft.com/office/drawing/2014/main" id="{6AF8F4B7-A4F3-BE88-B2EB-336C9C522AFE}"/>
                </a:ext>
              </a:extLst>
            </p:cNvPr>
            <p:cNvGrpSpPr/>
            <p:nvPr/>
          </p:nvGrpSpPr>
          <p:grpSpPr>
            <a:xfrm>
              <a:off x="7151013" y="1605869"/>
              <a:ext cx="654236" cy="646331"/>
              <a:chOff x="7546218" y="1606203"/>
              <a:chExt cx="654236" cy="646331"/>
            </a:xfrm>
          </p:grpSpPr>
          <p:sp>
            <p:nvSpPr>
              <p:cNvPr id="8" name="TextBox 7">
                <a:extLst>
                  <a:ext uri="{FF2B5EF4-FFF2-40B4-BE49-F238E27FC236}">
                    <a16:creationId xmlns:a16="http://schemas.microsoft.com/office/drawing/2014/main" id="{238276FB-9E54-4239-F2B9-E8183EE2101E}"/>
                  </a:ext>
                </a:extLst>
              </p:cNvPr>
              <p:cNvSpPr txBox="1"/>
              <p:nvPr/>
            </p:nvSpPr>
            <p:spPr>
              <a:xfrm>
                <a:off x="7546218" y="1606203"/>
                <a:ext cx="654236" cy="646331"/>
              </a:xfrm>
              <a:prstGeom prst="rect">
                <a:avLst/>
              </a:prstGeom>
              <a:noFill/>
            </p:spPr>
            <p:txBody>
              <a:bodyPr wrap="square" rtlCol="0">
                <a:spAutoFit/>
              </a:bodyPr>
              <a:lstStyle/>
              <a:p>
                <a:pPr algn="ctr"/>
                <a:r>
                  <a:rPr lang="en-US" b="1" dirty="0"/>
                  <a:t>10</a:t>
                </a:r>
                <a:br>
                  <a:rPr lang="en-US" b="1" dirty="0"/>
                </a:br>
                <a:r>
                  <a:rPr lang="en-US" b="1" dirty="0"/>
                  <a:t>100</a:t>
                </a:r>
              </a:p>
            </p:txBody>
          </p:sp>
          <p:cxnSp>
            <p:nvCxnSpPr>
              <p:cNvPr id="10" name="Straight Connector 9">
                <a:extLst>
                  <a:ext uri="{FF2B5EF4-FFF2-40B4-BE49-F238E27FC236}">
                    <a16:creationId xmlns:a16="http://schemas.microsoft.com/office/drawing/2014/main" id="{E5F6ACD4-B01D-89B4-EF71-2F2296DFD1D3}"/>
                  </a:ext>
                </a:extLst>
              </p:cNvPr>
              <p:cNvCxnSpPr>
                <a:cxnSpLocks/>
              </p:cNvCxnSpPr>
              <p:nvPr/>
            </p:nvCxnSpPr>
            <p:spPr>
              <a:xfrm>
                <a:off x="7675336" y="1924162"/>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618B53A2-3CC8-E740-7429-6B5D17C02B40}"/>
                </a:ext>
              </a:extLst>
            </p:cNvPr>
            <p:cNvGrpSpPr/>
            <p:nvPr/>
          </p:nvGrpSpPr>
          <p:grpSpPr>
            <a:xfrm>
              <a:off x="8005598" y="1589226"/>
              <a:ext cx="485616" cy="646331"/>
              <a:chOff x="8053549" y="1605869"/>
              <a:chExt cx="485616" cy="646331"/>
            </a:xfrm>
          </p:grpSpPr>
          <p:sp>
            <p:nvSpPr>
              <p:cNvPr id="18" name="TextBox 17">
                <a:extLst>
                  <a:ext uri="{FF2B5EF4-FFF2-40B4-BE49-F238E27FC236}">
                    <a16:creationId xmlns:a16="http://schemas.microsoft.com/office/drawing/2014/main" id="{CAF93F20-DD16-7B02-65F7-0E82C72EAC52}"/>
                  </a:ext>
                </a:extLst>
              </p:cNvPr>
              <p:cNvSpPr txBox="1"/>
              <p:nvPr/>
            </p:nvSpPr>
            <p:spPr>
              <a:xfrm>
                <a:off x="8053549" y="1605869"/>
                <a:ext cx="485616" cy="646331"/>
              </a:xfrm>
              <a:prstGeom prst="rect">
                <a:avLst/>
              </a:prstGeom>
              <a:noFill/>
            </p:spPr>
            <p:txBody>
              <a:bodyPr wrap="square" rtlCol="0">
                <a:spAutoFit/>
              </a:bodyPr>
              <a:lstStyle/>
              <a:p>
                <a:pPr algn="ctr"/>
                <a:r>
                  <a:rPr lang="en-US" b="1" dirty="0"/>
                  <a:t>1</a:t>
                </a:r>
                <a:br>
                  <a:rPr lang="en-US" b="1" dirty="0"/>
                </a:br>
                <a:r>
                  <a:rPr lang="en-US" b="1" dirty="0"/>
                  <a:t>10</a:t>
                </a:r>
              </a:p>
            </p:txBody>
          </p:sp>
          <p:cxnSp>
            <p:nvCxnSpPr>
              <p:cNvPr id="21" name="Straight Connector 20">
                <a:extLst>
                  <a:ext uri="{FF2B5EF4-FFF2-40B4-BE49-F238E27FC236}">
                    <a16:creationId xmlns:a16="http://schemas.microsoft.com/office/drawing/2014/main" id="{EAF6FF45-C005-AD20-9622-44DCC4E2271A}"/>
                  </a:ext>
                </a:extLst>
              </p:cNvPr>
              <p:cNvCxnSpPr>
                <a:cxnSpLocks/>
              </p:cNvCxnSpPr>
              <p:nvPr/>
            </p:nvCxnSpPr>
            <p:spPr>
              <a:xfrm>
                <a:off x="8160691" y="1923828"/>
                <a:ext cx="25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TextBox 25">
              <a:extLst>
                <a:ext uri="{FF2B5EF4-FFF2-40B4-BE49-F238E27FC236}">
                  <a16:creationId xmlns:a16="http://schemas.microsoft.com/office/drawing/2014/main" id="{D605F322-A46D-751E-60B8-98491E0AD382}"/>
                </a:ext>
              </a:extLst>
            </p:cNvPr>
            <p:cNvSpPr txBox="1"/>
            <p:nvPr/>
          </p:nvSpPr>
          <p:spPr>
            <a:xfrm>
              <a:off x="7669070" y="1735962"/>
              <a:ext cx="451061" cy="369332"/>
            </a:xfrm>
            <a:prstGeom prst="rect">
              <a:avLst/>
            </a:prstGeom>
            <a:noFill/>
          </p:spPr>
          <p:txBody>
            <a:bodyPr wrap="square">
              <a:spAutoFit/>
            </a:bodyPr>
            <a:lstStyle/>
            <a:p>
              <a:pPr algn="ctr"/>
              <a:r>
                <a:rPr lang="en-US" b="1" dirty="0">
                  <a:solidFill>
                    <a:schemeClr val="tx1"/>
                  </a:solidFill>
                  <a:latin typeface="Twinkl" panose="02000000000000000000" pitchFamily="2" charset="77"/>
                </a:rPr>
                <a:t>or</a:t>
              </a:r>
              <a:endParaRPr lang="en-US" dirty="0"/>
            </a:p>
          </p:txBody>
        </p:sp>
      </p:grpSp>
      <p:grpSp>
        <p:nvGrpSpPr>
          <p:cNvPr id="19" name="Group 18">
            <a:extLst>
              <a:ext uri="{FF2B5EF4-FFF2-40B4-BE49-F238E27FC236}">
                <a16:creationId xmlns:a16="http://schemas.microsoft.com/office/drawing/2014/main" id="{1D0DB707-6865-D625-5E35-789FCAC34129}"/>
              </a:ext>
            </a:extLst>
          </p:cNvPr>
          <p:cNvGrpSpPr/>
          <p:nvPr/>
        </p:nvGrpSpPr>
        <p:grpSpPr>
          <a:xfrm>
            <a:off x="7174117" y="3955037"/>
            <a:ext cx="1340201" cy="779903"/>
            <a:chOff x="7151013" y="1530677"/>
            <a:chExt cx="1340201" cy="779903"/>
          </a:xfrm>
        </p:grpSpPr>
        <p:sp>
          <p:nvSpPr>
            <p:cNvPr id="20" name="Rectangle 19">
              <a:extLst>
                <a:ext uri="{FF2B5EF4-FFF2-40B4-BE49-F238E27FC236}">
                  <a16:creationId xmlns:a16="http://schemas.microsoft.com/office/drawing/2014/main" id="{49D45AEA-DD49-0BDE-DCB6-5D88C1EAB8B8}"/>
                </a:ext>
              </a:extLst>
            </p:cNvPr>
            <p:cNvSpPr/>
            <p:nvPr/>
          </p:nvSpPr>
          <p:spPr>
            <a:xfrm>
              <a:off x="7151013" y="1530677"/>
              <a:ext cx="1316182"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Twinkl" panose="02000000000000000000" pitchFamily="2" charset="77"/>
              </a:endParaRPr>
            </a:p>
          </p:txBody>
        </p:sp>
        <p:grpSp>
          <p:nvGrpSpPr>
            <p:cNvPr id="22" name="Group 21">
              <a:extLst>
                <a:ext uri="{FF2B5EF4-FFF2-40B4-BE49-F238E27FC236}">
                  <a16:creationId xmlns:a16="http://schemas.microsoft.com/office/drawing/2014/main" id="{CDF76229-3579-DFF8-AC95-3F0AB624B35C}"/>
                </a:ext>
              </a:extLst>
            </p:cNvPr>
            <p:cNvGrpSpPr/>
            <p:nvPr/>
          </p:nvGrpSpPr>
          <p:grpSpPr>
            <a:xfrm>
              <a:off x="7151013" y="1605869"/>
              <a:ext cx="654236" cy="646331"/>
              <a:chOff x="7546218" y="1606203"/>
              <a:chExt cx="654236" cy="646331"/>
            </a:xfrm>
          </p:grpSpPr>
          <p:sp>
            <p:nvSpPr>
              <p:cNvPr id="38" name="TextBox 37">
                <a:extLst>
                  <a:ext uri="{FF2B5EF4-FFF2-40B4-BE49-F238E27FC236}">
                    <a16:creationId xmlns:a16="http://schemas.microsoft.com/office/drawing/2014/main" id="{43825E64-465A-D6DA-2141-0AC8D1ABE374}"/>
                  </a:ext>
                </a:extLst>
              </p:cNvPr>
              <p:cNvSpPr txBox="1"/>
              <p:nvPr/>
            </p:nvSpPr>
            <p:spPr>
              <a:xfrm>
                <a:off x="7546218" y="1606203"/>
                <a:ext cx="654236" cy="646331"/>
              </a:xfrm>
              <a:prstGeom prst="rect">
                <a:avLst/>
              </a:prstGeom>
              <a:noFill/>
            </p:spPr>
            <p:txBody>
              <a:bodyPr wrap="square" rtlCol="0">
                <a:spAutoFit/>
              </a:bodyPr>
              <a:lstStyle/>
              <a:p>
                <a:pPr algn="ctr"/>
                <a:r>
                  <a:rPr lang="en-US" b="1" dirty="0"/>
                  <a:t>90</a:t>
                </a:r>
                <a:br>
                  <a:rPr lang="en-US" b="1" dirty="0"/>
                </a:br>
                <a:r>
                  <a:rPr lang="en-US" b="1" dirty="0"/>
                  <a:t>100</a:t>
                </a:r>
              </a:p>
            </p:txBody>
          </p:sp>
          <p:cxnSp>
            <p:nvCxnSpPr>
              <p:cNvPr id="39" name="Straight Connector 38">
                <a:extLst>
                  <a:ext uri="{FF2B5EF4-FFF2-40B4-BE49-F238E27FC236}">
                    <a16:creationId xmlns:a16="http://schemas.microsoft.com/office/drawing/2014/main" id="{2F0406AE-3262-8CFD-D62D-484A3F338430}"/>
                  </a:ext>
                </a:extLst>
              </p:cNvPr>
              <p:cNvCxnSpPr>
                <a:cxnSpLocks/>
              </p:cNvCxnSpPr>
              <p:nvPr/>
            </p:nvCxnSpPr>
            <p:spPr>
              <a:xfrm>
                <a:off x="7675336" y="1924162"/>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821DA7DA-51FA-EB89-DD2C-CEE91970D40E}"/>
                </a:ext>
              </a:extLst>
            </p:cNvPr>
            <p:cNvGrpSpPr/>
            <p:nvPr/>
          </p:nvGrpSpPr>
          <p:grpSpPr>
            <a:xfrm>
              <a:off x="8005598" y="1589226"/>
              <a:ext cx="485616" cy="646331"/>
              <a:chOff x="8053549" y="1605869"/>
              <a:chExt cx="485616" cy="646331"/>
            </a:xfrm>
          </p:grpSpPr>
          <p:sp>
            <p:nvSpPr>
              <p:cNvPr id="36" name="TextBox 35">
                <a:extLst>
                  <a:ext uri="{FF2B5EF4-FFF2-40B4-BE49-F238E27FC236}">
                    <a16:creationId xmlns:a16="http://schemas.microsoft.com/office/drawing/2014/main" id="{BB4B9801-7700-3901-3230-E75198DBEE55}"/>
                  </a:ext>
                </a:extLst>
              </p:cNvPr>
              <p:cNvSpPr txBox="1"/>
              <p:nvPr/>
            </p:nvSpPr>
            <p:spPr>
              <a:xfrm>
                <a:off x="8053549" y="1605869"/>
                <a:ext cx="485616" cy="646331"/>
              </a:xfrm>
              <a:prstGeom prst="rect">
                <a:avLst/>
              </a:prstGeom>
              <a:noFill/>
            </p:spPr>
            <p:txBody>
              <a:bodyPr wrap="square" rtlCol="0">
                <a:spAutoFit/>
              </a:bodyPr>
              <a:lstStyle/>
              <a:p>
                <a:pPr algn="ctr"/>
                <a:r>
                  <a:rPr lang="en-US" b="1" dirty="0"/>
                  <a:t>9</a:t>
                </a:r>
                <a:br>
                  <a:rPr lang="en-US" b="1" dirty="0"/>
                </a:br>
                <a:r>
                  <a:rPr lang="en-US" b="1" dirty="0"/>
                  <a:t>10</a:t>
                </a:r>
              </a:p>
            </p:txBody>
          </p:sp>
          <p:cxnSp>
            <p:nvCxnSpPr>
              <p:cNvPr id="37" name="Straight Connector 36">
                <a:extLst>
                  <a:ext uri="{FF2B5EF4-FFF2-40B4-BE49-F238E27FC236}">
                    <a16:creationId xmlns:a16="http://schemas.microsoft.com/office/drawing/2014/main" id="{3D331293-D903-E13E-50E1-B68FCF677BC3}"/>
                  </a:ext>
                </a:extLst>
              </p:cNvPr>
              <p:cNvCxnSpPr>
                <a:cxnSpLocks/>
              </p:cNvCxnSpPr>
              <p:nvPr/>
            </p:nvCxnSpPr>
            <p:spPr>
              <a:xfrm>
                <a:off x="8160691" y="1923828"/>
                <a:ext cx="25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5" name="TextBox 34">
              <a:extLst>
                <a:ext uri="{FF2B5EF4-FFF2-40B4-BE49-F238E27FC236}">
                  <a16:creationId xmlns:a16="http://schemas.microsoft.com/office/drawing/2014/main" id="{825F48A4-A05B-AEC9-11FA-E7C9F2DD4079}"/>
                </a:ext>
              </a:extLst>
            </p:cNvPr>
            <p:cNvSpPr txBox="1"/>
            <p:nvPr/>
          </p:nvSpPr>
          <p:spPr>
            <a:xfrm>
              <a:off x="7669070" y="1735962"/>
              <a:ext cx="451061" cy="369332"/>
            </a:xfrm>
            <a:prstGeom prst="rect">
              <a:avLst/>
            </a:prstGeom>
            <a:noFill/>
          </p:spPr>
          <p:txBody>
            <a:bodyPr wrap="square">
              <a:spAutoFit/>
            </a:bodyPr>
            <a:lstStyle/>
            <a:p>
              <a:pPr algn="ctr"/>
              <a:r>
                <a:rPr lang="en-US" b="1" dirty="0">
                  <a:solidFill>
                    <a:schemeClr val="tx1"/>
                  </a:solidFill>
                  <a:latin typeface="Twinkl" panose="02000000000000000000" pitchFamily="2" charset="77"/>
                </a:rPr>
                <a:t>or</a:t>
              </a:r>
              <a:endParaRPr lang="en-US" dirty="0"/>
            </a:p>
          </p:txBody>
        </p:sp>
      </p:grpSp>
    </p:spTree>
    <p:extLst>
      <p:ext uri="{BB962C8B-B14F-4D97-AF65-F5344CB8AC3E}">
        <p14:creationId xmlns:p14="http://schemas.microsoft.com/office/powerpoint/2010/main" val="444454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12AC9-0F75-5192-A514-1A7E709A0570}"/>
            </a:ext>
          </a:extLst>
        </p:cNvPr>
        <p:cNvGrpSpPr/>
        <p:nvPr/>
      </p:nvGrpSpPr>
      <p:grpSpPr>
        <a:xfrm>
          <a:off x="0" y="0"/>
          <a:ext cx="0" cy="0"/>
          <a:chOff x="0" y="0"/>
          <a:chExt cx="0" cy="0"/>
        </a:xfrm>
      </p:grpSpPr>
      <p:sp>
        <p:nvSpPr>
          <p:cNvPr id="5" name="Text">
            <a:extLst>
              <a:ext uri="{FF2B5EF4-FFF2-40B4-BE49-F238E27FC236}">
                <a16:creationId xmlns:a16="http://schemas.microsoft.com/office/drawing/2014/main" id="{79F309DD-D16E-13F1-7423-B4A450948909}"/>
              </a:ext>
            </a:extLst>
          </p:cNvPr>
          <p:cNvSpPr/>
          <p:nvPr/>
        </p:nvSpPr>
        <p:spPr>
          <a:xfrm>
            <a:off x="4848234" y="1606203"/>
            <a:ext cx="2352687"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What fraction of this shape is </a:t>
            </a:r>
            <a:r>
              <a:rPr lang="en-GB" sz="1800" b="1" i="0" u="none" strike="noStrike" dirty="0">
                <a:solidFill>
                  <a:srgbClr val="000000"/>
                </a:solidFill>
                <a:effectLst/>
                <a:latin typeface="Twinkl" panose="02000000000000000000" pitchFamily="2" charset="77"/>
              </a:rPr>
              <a:t>shaded</a:t>
            </a:r>
            <a:r>
              <a:rPr lang="en-GB" sz="1800" b="0" i="0" u="none" strike="noStrike" dirty="0">
                <a:solidFill>
                  <a:srgbClr val="000000"/>
                </a:solidFill>
                <a:effectLst/>
                <a:latin typeface="Twinkl" panose="02000000000000000000" pitchFamily="2" charset="77"/>
              </a:rPr>
              <a:t>?</a:t>
            </a:r>
            <a:endParaRPr lang="en-GB" b="0" dirty="0">
              <a:effectLst/>
              <a:latin typeface="Twinkl" panose="02000000000000000000" pitchFamily="2" charset="77"/>
            </a:endParaRPr>
          </a:p>
        </p:txBody>
      </p:sp>
      <p:graphicFrame>
        <p:nvGraphicFramePr>
          <p:cNvPr id="3" name="Table 2">
            <a:extLst>
              <a:ext uri="{FF2B5EF4-FFF2-40B4-BE49-F238E27FC236}">
                <a16:creationId xmlns:a16="http://schemas.microsoft.com/office/drawing/2014/main" id="{E9B1CF13-3CAA-213F-8AE5-CA49B6A1BCFE}"/>
              </a:ext>
            </a:extLst>
          </p:cNvPr>
          <p:cNvGraphicFramePr>
            <a:graphicFrameLocks noGrp="1"/>
          </p:cNvGraphicFramePr>
          <p:nvPr>
            <p:extLst>
              <p:ext uri="{D42A27DB-BD31-4B8C-83A1-F6EECF244321}">
                <p14:modId xmlns:p14="http://schemas.microsoft.com/office/powerpoint/2010/main" val="780386020"/>
              </p:ext>
            </p:extLst>
          </p:nvPr>
        </p:nvGraphicFramePr>
        <p:xfrm>
          <a:off x="859924" y="1629000"/>
          <a:ext cx="3600000" cy="3600000"/>
        </p:xfrm>
        <a:graphic>
          <a:graphicData uri="http://schemas.openxmlformats.org/drawingml/2006/table">
            <a:tbl>
              <a:tblPr/>
              <a:tblGrid>
                <a:gridCol w="360000">
                  <a:extLst>
                    <a:ext uri="{9D8B030D-6E8A-4147-A177-3AD203B41FA5}">
                      <a16:colId xmlns:a16="http://schemas.microsoft.com/office/drawing/2014/main" val="572867659"/>
                    </a:ext>
                  </a:extLst>
                </a:gridCol>
                <a:gridCol w="360000">
                  <a:extLst>
                    <a:ext uri="{9D8B030D-6E8A-4147-A177-3AD203B41FA5}">
                      <a16:colId xmlns:a16="http://schemas.microsoft.com/office/drawing/2014/main" val="2366956878"/>
                    </a:ext>
                  </a:extLst>
                </a:gridCol>
                <a:gridCol w="360000">
                  <a:extLst>
                    <a:ext uri="{9D8B030D-6E8A-4147-A177-3AD203B41FA5}">
                      <a16:colId xmlns:a16="http://schemas.microsoft.com/office/drawing/2014/main" val="2484655587"/>
                    </a:ext>
                  </a:extLst>
                </a:gridCol>
                <a:gridCol w="360000">
                  <a:extLst>
                    <a:ext uri="{9D8B030D-6E8A-4147-A177-3AD203B41FA5}">
                      <a16:colId xmlns:a16="http://schemas.microsoft.com/office/drawing/2014/main" val="3167737010"/>
                    </a:ext>
                  </a:extLst>
                </a:gridCol>
                <a:gridCol w="360000">
                  <a:extLst>
                    <a:ext uri="{9D8B030D-6E8A-4147-A177-3AD203B41FA5}">
                      <a16:colId xmlns:a16="http://schemas.microsoft.com/office/drawing/2014/main" val="563689847"/>
                    </a:ext>
                  </a:extLst>
                </a:gridCol>
                <a:gridCol w="360000">
                  <a:extLst>
                    <a:ext uri="{9D8B030D-6E8A-4147-A177-3AD203B41FA5}">
                      <a16:colId xmlns:a16="http://schemas.microsoft.com/office/drawing/2014/main" val="2992893548"/>
                    </a:ext>
                  </a:extLst>
                </a:gridCol>
                <a:gridCol w="360000">
                  <a:extLst>
                    <a:ext uri="{9D8B030D-6E8A-4147-A177-3AD203B41FA5}">
                      <a16:colId xmlns:a16="http://schemas.microsoft.com/office/drawing/2014/main" val="849333661"/>
                    </a:ext>
                  </a:extLst>
                </a:gridCol>
                <a:gridCol w="360000">
                  <a:extLst>
                    <a:ext uri="{9D8B030D-6E8A-4147-A177-3AD203B41FA5}">
                      <a16:colId xmlns:a16="http://schemas.microsoft.com/office/drawing/2014/main" val="1997093998"/>
                    </a:ext>
                  </a:extLst>
                </a:gridCol>
                <a:gridCol w="360000">
                  <a:extLst>
                    <a:ext uri="{9D8B030D-6E8A-4147-A177-3AD203B41FA5}">
                      <a16:colId xmlns:a16="http://schemas.microsoft.com/office/drawing/2014/main" val="4262308452"/>
                    </a:ext>
                  </a:extLst>
                </a:gridCol>
                <a:gridCol w="360000">
                  <a:extLst>
                    <a:ext uri="{9D8B030D-6E8A-4147-A177-3AD203B41FA5}">
                      <a16:colId xmlns:a16="http://schemas.microsoft.com/office/drawing/2014/main" val="1287248324"/>
                    </a:ext>
                  </a:extLst>
                </a:gridCol>
              </a:tblGrid>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9307960"/>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6215500"/>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458509"/>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9702945"/>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475546"/>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4311029"/>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9215718"/>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3711955"/>
                  </a:ext>
                </a:extLst>
              </a:tr>
              <a:tr h="360000">
                <a:tc>
                  <a:txBody>
                    <a:bodyPr/>
                    <a:lstStyle/>
                    <a:p>
                      <a:pPr fontAlgn="t"/>
                      <a:r>
                        <a:rPr lang="en-GB" sz="90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4464789"/>
                  </a:ext>
                </a:extLst>
              </a:tr>
              <a:tr h="360000">
                <a:tc>
                  <a:txBody>
                    <a:bodyPr/>
                    <a:lstStyle/>
                    <a:p>
                      <a:pPr fontAlgn="t"/>
                      <a:r>
                        <a:rPr lang="en-GB" sz="900" dirty="0">
                          <a:effectLst/>
                        </a:rPr>
                        <a:t> </a:t>
                      </a:r>
                    </a:p>
                  </a:txBody>
                  <a:tcPr marL="89915" marR="89915" marT="89915" marB="89915">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5A8E7"/>
                    </a:solid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a:effectLst/>
                        </a:rPr>
                        <a:t> </a:t>
                      </a:r>
                    </a:p>
                  </a:txBody>
                  <a:tcPr marL="89915" marR="89915" marT="89915" marB="8991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t"/>
                      <a:r>
                        <a:rPr lang="en-GB" sz="900" dirty="0">
                          <a:effectLst/>
                        </a:rPr>
                        <a:t> </a:t>
                      </a:r>
                    </a:p>
                  </a:txBody>
                  <a:tcPr marL="89915" marR="89915" marT="89915" marB="89915">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3306401"/>
                  </a:ext>
                </a:extLst>
              </a:tr>
            </a:tbl>
          </a:graphicData>
        </a:graphic>
      </p:graphicFrame>
      <p:sp>
        <p:nvSpPr>
          <p:cNvPr id="2" name="Text Box">
            <a:extLst>
              <a:ext uri="{FF2B5EF4-FFF2-40B4-BE49-F238E27FC236}">
                <a16:creationId xmlns:a16="http://schemas.microsoft.com/office/drawing/2014/main" id="{0D3068AE-4058-6E2F-7A4F-4BFD0A39A95F}"/>
              </a:ext>
            </a:extLst>
          </p:cNvPr>
          <p:cNvSpPr/>
          <p:nvPr/>
        </p:nvSpPr>
        <p:spPr>
          <a:xfrm>
            <a:off x="5581291" y="381903"/>
            <a:ext cx="2840046" cy="495108"/>
          </a:xfrm>
          <a:prstGeom prst="rect">
            <a:avLst/>
          </a:prstGeom>
          <a:solidFill>
            <a:srgbClr val="05A8E7"/>
          </a:solidFill>
          <a:ln w="285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r"/>
            <a:r>
              <a:rPr lang="en-GB" b="1" dirty="0">
                <a:solidFill>
                  <a:schemeClr val="bg1"/>
                </a:solidFill>
              </a:rPr>
              <a:t>What is a percentage</a:t>
            </a:r>
          </a:p>
        </p:txBody>
      </p:sp>
      <p:pic>
        <p:nvPicPr>
          <p:cNvPr id="4" name="Picture 3">
            <a:extLst>
              <a:ext uri="{FF2B5EF4-FFF2-40B4-BE49-F238E27FC236}">
                <a16:creationId xmlns:a16="http://schemas.microsoft.com/office/drawing/2014/main" id="{6145B88B-581E-29A8-D140-3F24787368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42962" y="44773"/>
            <a:ext cx="275875" cy="760521"/>
          </a:xfrm>
          <a:prstGeom prst="rect">
            <a:avLst/>
          </a:prstGeom>
        </p:spPr>
      </p:pic>
      <p:sp>
        <p:nvSpPr>
          <p:cNvPr id="7" name="Text">
            <a:extLst>
              <a:ext uri="{FF2B5EF4-FFF2-40B4-BE49-F238E27FC236}">
                <a16:creationId xmlns:a16="http://schemas.microsoft.com/office/drawing/2014/main" id="{6A8D49F6-4775-80B5-848B-54A966CA0D80}"/>
              </a:ext>
            </a:extLst>
          </p:cNvPr>
          <p:cNvSpPr/>
          <p:nvPr/>
        </p:nvSpPr>
        <p:spPr>
          <a:xfrm>
            <a:off x="4848234" y="5308047"/>
            <a:ext cx="2421615"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What percentage of this shape is </a:t>
            </a:r>
            <a:r>
              <a:rPr lang="en-GB" sz="1800" b="1" i="0" u="none" strike="noStrike" dirty="0">
                <a:solidFill>
                  <a:srgbClr val="000000"/>
                </a:solidFill>
                <a:effectLst/>
                <a:latin typeface="Twinkl" panose="02000000000000000000" pitchFamily="2" charset="77"/>
              </a:rPr>
              <a:t>unshaded</a:t>
            </a:r>
            <a:r>
              <a:rPr lang="en-GB" sz="1800" b="0" i="0" u="none" strike="noStrike" dirty="0">
                <a:solidFill>
                  <a:srgbClr val="000000"/>
                </a:solidFill>
                <a:effectLst/>
                <a:latin typeface="Twinkl" panose="02000000000000000000" pitchFamily="2" charset="77"/>
              </a:rPr>
              <a:t>?</a:t>
            </a:r>
            <a:endParaRPr lang="en-GB" b="0" dirty="0">
              <a:effectLst/>
              <a:latin typeface="Twinkl" panose="02000000000000000000" pitchFamily="2" charset="77"/>
            </a:endParaRPr>
          </a:p>
        </p:txBody>
      </p:sp>
      <p:sp>
        <p:nvSpPr>
          <p:cNvPr id="9" name="Text">
            <a:extLst>
              <a:ext uri="{FF2B5EF4-FFF2-40B4-BE49-F238E27FC236}">
                <a16:creationId xmlns:a16="http://schemas.microsoft.com/office/drawing/2014/main" id="{CBFA5527-6C23-DDEE-750F-AAAB7AA6CE5E}"/>
              </a:ext>
            </a:extLst>
          </p:cNvPr>
          <p:cNvSpPr/>
          <p:nvPr/>
        </p:nvSpPr>
        <p:spPr>
          <a:xfrm>
            <a:off x="4848234" y="4074099"/>
            <a:ext cx="2352687"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What fraction of this shape is </a:t>
            </a:r>
            <a:r>
              <a:rPr lang="en-GB" sz="1800" b="1" i="0" u="none" strike="noStrike" dirty="0">
                <a:solidFill>
                  <a:srgbClr val="000000"/>
                </a:solidFill>
                <a:effectLst/>
                <a:latin typeface="Twinkl" panose="02000000000000000000" pitchFamily="2" charset="77"/>
              </a:rPr>
              <a:t>unshaded</a:t>
            </a:r>
            <a:r>
              <a:rPr lang="en-GB" sz="1800" b="0" i="0" u="none" strike="noStrike" dirty="0">
                <a:solidFill>
                  <a:srgbClr val="000000"/>
                </a:solidFill>
                <a:effectLst/>
                <a:latin typeface="Twinkl" panose="02000000000000000000" pitchFamily="2" charset="77"/>
              </a:rPr>
              <a:t>?</a:t>
            </a:r>
            <a:endParaRPr lang="en-GB" b="0" dirty="0">
              <a:effectLst/>
              <a:latin typeface="Twinkl" panose="02000000000000000000" pitchFamily="2" charset="77"/>
            </a:endParaRPr>
          </a:p>
        </p:txBody>
      </p:sp>
      <p:sp>
        <p:nvSpPr>
          <p:cNvPr id="12" name="Text">
            <a:extLst>
              <a:ext uri="{FF2B5EF4-FFF2-40B4-BE49-F238E27FC236}">
                <a16:creationId xmlns:a16="http://schemas.microsoft.com/office/drawing/2014/main" id="{5CA18610-3ADA-06A7-054D-28488DF111CF}"/>
              </a:ext>
            </a:extLst>
          </p:cNvPr>
          <p:cNvSpPr/>
          <p:nvPr/>
        </p:nvSpPr>
        <p:spPr>
          <a:xfrm>
            <a:off x="4798326" y="2840151"/>
            <a:ext cx="2352687"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What percentage of this shape is </a:t>
            </a:r>
            <a:r>
              <a:rPr lang="en-GB" sz="1800" b="1" i="0" u="none" strike="noStrike" dirty="0">
                <a:solidFill>
                  <a:srgbClr val="000000"/>
                </a:solidFill>
                <a:effectLst/>
                <a:latin typeface="Twinkl" panose="02000000000000000000" pitchFamily="2" charset="77"/>
              </a:rPr>
              <a:t>shaded</a:t>
            </a:r>
            <a:r>
              <a:rPr lang="en-GB" sz="1800" b="0" i="0" u="none" strike="noStrike" dirty="0">
                <a:solidFill>
                  <a:srgbClr val="000000"/>
                </a:solidFill>
                <a:effectLst/>
                <a:latin typeface="Twinkl" panose="02000000000000000000" pitchFamily="2" charset="77"/>
              </a:rPr>
              <a:t>?</a:t>
            </a:r>
            <a:endParaRPr lang="en-GB" b="0" dirty="0">
              <a:effectLst/>
              <a:latin typeface="Twinkl" panose="02000000000000000000" pitchFamily="2" charset="77"/>
            </a:endParaRPr>
          </a:p>
        </p:txBody>
      </p:sp>
      <p:sp>
        <p:nvSpPr>
          <p:cNvPr id="15" name="Rectangle 14">
            <a:extLst>
              <a:ext uri="{FF2B5EF4-FFF2-40B4-BE49-F238E27FC236}">
                <a16:creationId xmlns:a16="http://schemas.microsoft.com/office/drawing/2014/main" id="{1ECE775C-DC0F-6A6C-7BFC-729C8D79A2D3}"/>
              </a:ext>
            </a:extLst>
          </p:cNvPr>
          <p:cNvSpPr/>
          <p:nvPr/>
        </p:nvSpPr>
        <p:spPr>
          <a:xfrm>
            <a:off x="7399664" y="2727198"/>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winkl" panose="02000000000000000000" pitchFamily="2" charset="77"/>
              </a:rPr>
              <a:t>20%</a:t>
            </a:r>
          </a:p>
        </p:txBody>
      </p:sp>
      <p:sp>
        <p:nvSpPr>
          <p:cNvPr id="17" name="Rectangle 16">
            <a:extLst>
              <a:ext uri="{FF2B5EF4-FFF2-40B4-BE49-F238E27FC236}">
                <a16:creationId xmlns:a16="http://schemas.microsoft.com/office/drawing/2014/main" id="{45E193FE-ABE0-9977-B779-62CF87A4CDE3}"/>
              </a:ext>
            </a:extLst>
          </p:cNvPr>
          <p:cNvSpPr/>
          <p:nvPr/>
        </p:nvSpPr>
        <p:spPr>
          <a:xfrm>
            <a:off x="7399663" y="5195094"/>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winkl" panose="02000000000000000000" pitchFamily="2" charset="77"/>
              </a:rPr>
              <a:t>80%</a:t>
            </a:r>
          </a:p>
        </p:txBody>
      </p:sp>
      <p:grpSp>
        <p:nvGrpSpPr>
          <p:cNvPr id="28" name="Group 27">
            <a:extLst>
              <a:ext uri="{FF2B5EF4-FFF2-40B4-BE49-F238E27FC236}">
                <a16:creationId xmlns:a16="http://schemas.microsoft.com/office/drawing/2014/main" id="{D52D8763-D6B3-3C5E-54AD-9EE15DD8B442}"/>
              </a:ext>
            </a:extLst>
          </p:cNvPr>
          <p:cNvGrpSpPr/>
          <p:nvPr/>
        </p:nvGrpSpPr>
        <p:grpSpPr>
          <a:xfrm>
            <a:off x="7151013" y="1530677"/>
            <a:ext cx="1316182" cy="779903"/>
            <a:chOff x="7031183" y="1530677"/>
            <a:chExt cx="1316182" cy="779903"/>
          </a:xfrm>
        </p:grpSpPr>
        <p:sp>
          <p:nvSpPr>
            <p:cNvPr id="13" name="Rectangle 12">
              <a:extLst>
                <a:ext uri="{FF2B5EF4-FFF2-40B4-BE49-F238E27FC236}">
                  <a16:creationId xmlns:a16="http://schemas.microsoft.com/office/drawing/2014/main" id="{DBE21280-EA48-76F7-45EF-944241CFD8B0}"/>
                </a:ext>
              </a:extLst>
            </p:cNvPr>
            <p:cNvSpPr/>
            <p:nvPr/>
          </p:nvSpPr>
          <p:spPr>
            <a:xfrm>
              <a:off x="7031183" y="1530677"/>
              <a:ext cx="1316182"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Twinkl" panose="02000000000000000000" pitchFamily="2" charset="77"/>
              </a:endParaRPr>
            </a:p>
          </p:txBody>
        </p:sp>
        <p:grpSp>
          <p:nvGrpSpPr>
            <p:cNvPr id="14" name="Group 13">
              <a:extLst>
                <a:ext uri="{FF2B5EF4-FFF2-40B4-BE49-F238E27FC236}">
                  <a16:creationId xmlns:a16="http://schemas.microsoft.com/office/drawing/2014/main" id="{B7B95838-F43F-4CAB-22A8-E4D150E4869D}"/>
                </a:ext>
              </a:extLst>
            </p:cNvPr>
            <p:cNvGrpSpPr/>
            <p:nvPr/>
          </p:nvGrpSpPr>
          <p:grpSpPr>
            <a:xfrm>
              <a:off x="7031183" y="1605869"/>
              <a:ext cx="654236" cy="646331"/>
              <a:chOff x="7546218" y="1606203"/>
              <a:chExt cx="654236" cy="646331"/>
            </a:xfrm>
          </p:grpSpPr>
          <p:sp>
            <p:nvSpPr>
              <p:cNvPr id="8" name="TextBox 7">
                <a:extLst>
                  <a:ext uri="{FF2B5EF4-FFF2-40B4-BE49-F238E27FC236}">
                    <a16:creationId xmlns:a16="http://schemas.microsoft.com/office/drawing/2014/main" id="{A5A317EE-D8E7-951E-C457-0A5FDB598FF4}"/>
                  </a:ext>
                </a:extLst>
              </p:cNvPr>
              <p:cNvSpPr txBox="1"/>
              <p:nvPr/>
            </p:nvSpPr>
            <p:spPr>
              <a:xfrm>
                <a:off x="7546218" y="1606203"/>
                <a:ext cx="654236" cy="646331"/>
              </a:xfrm>
              <a:prstGeom prst="rect">
                <a:avLst/>
              </a:prstGeom>
              <a:noFill/>
            </p:spPr>
            <p:txBody>
              <a:bodyPr wrap="square" rtlCol="0">
                <a:spAutoFit/>
              </a:bodyPr>
              <a:lstStyle/>
              <a:p>
                <a:pPr algn="ctr"/>
                <a:r>
                  <a:rPr lang="en-US" b="1" dirty="0"/>
                  <a:t>20</a:t>
                </a:r>
                <a:br>
                  <a:rPr lang="en-US" b="1" dirty="0"/>
                </a:br>
                <a:r>
                  <a:rPr lang="en-US" b="1" dirty="0"/>
                  <a:t>100</a:t>
                </a:r>
              </a:p>
            </p:txBody>
          </p:sp>
          <p:cxnSp>
            <p:nvCxnSpPr>
              <p:cNvPr id="10" name="Straight Connector 9">
                <a:extLst>
                  <a:ext uri="{FF2B5EF4-FFF2-40B4-BE49-F238E27FC236}">
                    <a16:creationId xmlns:a16="http://schemas.microsoft.com/office/drawing/2014/main" id="{24561071-E127-0C68-30E0-1C0CA0255873}"/>
                  </a:ext>
                </a:extLst>
              </p:cNvPr>
              <p:cNvCxnSpPr>
                <a:cxnSpLocks/>
              </p:cNvCxnSpPr>
              <p:nvPr/>
            </p:nvCxnSpPr>
            <p:spPr>
              <a:xfrm>
                <a:off x="7675336" y="1924162"/>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5DBD8805-6C2D-1F1B-1D5E-D56D2363757F}"/>
                </a:ext>
              </a:extLst>
            </p:cNvPr>
            <p:cNvGrpSpPr/>
            <p:nvPr/>
          </p:nvGrpSpPr>
          <p:grpSpPr>
            <a:xfrm>
              <a:off x="8013314" y="1594121"/>
              <a:ext cx="230524" cy="646331"/>
              <a:chOff x="8053549" y="1605869"/>
              <a:chExt cx="230524" cy="646331"/>
            </a:xfrm>
          </p:grpSpPr>
          <p:sp>
            <p:nvSpPr>
              <p:cNvPr id="18" name="TextBox 17">
                <a:extLst>
                  <a:ext uri="{FF2B5EF4-FFF2-40B4-BE49-F238E27FC236}">
                    <a16:creationId xmlns:a16="http://schemas.microsoft.com/office/drawing/2014/main" id="{3ECB62BA-A487-D272-4823-4241AA438519}"/>
                  </a:ext>
                </a:extLst>
              </p:cNvPr>
              <p:cNvSpPr txBox="1"/>
              <p:nvPr/>
            </p:nvSpPr>
            <p:spPr>
              <a:xfrm>
                <a:off x="8053549" y="1605869"/>
                <a:ext cx="230524" cy="646331"/>
              </a:xfrm>
              <a:prstGeom prst="rect">
                <a:avLst/>
              </a:prstGeom>
              <a:noFill/>
            </p:spPr>
            <p:txBody>
              <a:bodyPr wrap="square" rtlCol="0">
                <a:spAutoFit/>
              </a:bodyPr>
              <a:lstStyle/>
              <a:p>
                <a:pPr algn="ctr"/>
                <a:r>
                  <a:rPr lang="en-US" b="1" dirty="0"/>
                  <a:t>1</a:t>
                </a:r>
                <a:br>
                  <a:rPr lang="en-US" b="1" dirty="0"/>
                </a:br>
                <a:r>
                  <a:rPr lang="en-US" b="1" dirty="0"/>
                  <a:t>5</a:t>
                </a:r>
              </a:p>
            </p:txBody>
          </p:sp>
          <p:cxnSp>
            <p:nvCxnSpPr>
              <p:cNvPr id="21" name="Straight Connector 20">
                <a:extLst>
                  <a:ext uri="{FF2B5EF4-FFF2-40B4-BE49-F238E27FC236}">
                    <a16:creationId xmlns:a16="http://schemas.microsoft.com/office/drawing/2014/main" id="{86254704-8304-A590-14E2-E385594B4567}"/>
                  </a:ext>
                </a:extLst>
              </p:cNvPr>
              <p:cNvCxnSpPr>
                <a:cxnSpLocks/>
              </p:cNvCxnSpPr>
              <p:nvPr/>
            </p:nvCxnSpPr>
            <p:spPr>
              <a:xfrm>
                <a:off x="8067888" y="1923828"/>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TextBox 25">
              <a:extLst>
                <a:ext uri="{FF2B5EF4-FFF2-40B4-BE49-F238E27FC236}">
                  <a16:creationId xmlns:a16="http://schemas.microsoft.com/office/drawing/2014/main" id="{760DC918-4AC7-08DD-8B65-D7A9C1485750}"/>
                </a:ext>
              </a:extLst>
            </p:cNvPr>
            <p:cNvSpPr txBox="1"/>
            <p:nvPr/>
          </p:nvSpPr>
          <p:spPr>
            <a:xfrm>
              <a:off x="7564480" y="1735962"/>
              <a:ext cx="451061" cy="369332"/>
            </a:xfrm>
            <a:prstGeom prst="rect">
              <a:avLst/>
            </a:prstGeom>
            <a:noFill/>
          </p:spPr>
          <p:txBody>
            <a:bodyPr wrap="square">
              <a:spAutoFit/>
            </a:bodyPr>
            <a:lstStyle/>
            <a:p>
              <a:pPr algn="ctr"/>
              <a:r>
                <a:rPr lang="en-US" b="1" dirty="0">
                  <a:solidFill>
                    <a:schemeClr val="tx1"/>
                  </a:solidFill>
                  <a:latin typeface="Twinkl" panose="02000000000000000000" pitchFamily="2" charset="77"/>
                </a:rPr>
                <a:t>or</a:t>
              </a:r>
              <a:endParaRPr lang="en-US" dirty="0"/>
            </a:p>
          </p:txBody>
        </p:sp>
      </p:grpSp>
      <p:grpSp>
        <p:nvGrpSpPr>
          <p:cNvPr id="11" name="Group 10">
            <a:extLst>
              <a:ext uri="{FF2B5EF4-FFF2-40B4-BE49-F238E27FC236}">
                <a16:creationId xmlns:a16="http://schemas.microsoft.com/office/drawing/2014/main" id="{107DC743-2383-9A09-76B6-51D927ECC9AD}"/>
              </a:ext>
            </a:extLst>
          </p:cNvPr>
          <p:cNvGrpSpPr/>
          <p:nvPr/>
        </p:nvGrpSpPr>
        <p:grpSpPr>
          <a:xfrm>
            <a:off x="7151013" y="3940193"/>
            <a:ext cx="1316182" cy="779903"/>
            <a:chOff x="7031183" y="1530677"/>
            <a:chExt cx="1316182" cy="779903"/>
          </a:xfrm>
        </p:grpSpPr>
        <p:sp>
          <p:nvSpPr>
            <p:cNvPr id="23" name="Rectangle 22">
              <a:extLst>
                <a:ext uri="{FF2B5EF4-FFF2-40B4-BE49-F238E27FC236}">
                  <a16:creationId xmlns:a16="http://schemas.microsoft.com/office/drawing/2014/main" id="{C4A188BD-ACE0-5478-A55F-692426EDB3CB}"/>
                </a:ext>
              </a:extLst>
            </p:cNvPr>
            <p:cNvSpPr/>
            <p:nvPr/>
          </p:nvSpPr>
          <p:spPr>
            <a:xfrm>
              <a:off x="7031183" y="1530677"/>
              <a:ext cx="1316182"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Twinkl" panose="02000000000000000000" pitchFamily="2" charset="77"/>
              </a:endParaRPr>
            </a:p>
          </p:txBody>
        </p:sp>
        <p:grpSp>
          <p:nvGrpSpPr>
            <p:cNvPr id="25" name="Group 24">
              <a:extLst>
                <a:ext uri="{FF2B5EF4-FFF2-40B4-BE49-F238E27FC236}">
                  <a16:creationId xmlns:a16="http://schemas.microsoft.com/office/drawing/2014/main" id="{2F633CE9-0473-242C-D046-57BAB0435A2F}"/>
                </a:ext>
              </a:extLst>
            </p:cNvPr>
            <p:cNvGrpSpPr/>
            <p:nvPr/>
          </p:nvGrpSpPr>
          <p:grpSpPr>
            <a:xfrm>
              <a:off x="7031183" y="1605869"/>
              <a:ext cx="654236" cy="646331"/>
              <a:chOff x="7546218" y="1606203"/>
              <a:chExt cx="654236" cy="646331"/>
            </a:xfrm>
          </p:grpSpPr>
          <p:sp>
            <p:nvSpPr>
              <p:cNvPr id="33" name="TextBox 32">
                <a:extLst>
                  <a:ext uri="{FF2B5EF4-FFF2-40B4-BE49-F238E27FC236}">
                    <a16:creationId xmlns:a16="http://schemas.microsoft.com/office/drawing/2014/main" id="{C9C76BA4-0D75-0C58-5E19-FA12144167C3}"/>
                  </a:ext>
                </a:extLst>
              </p:cNvPr>
              <p:cNvSpPr txBox="1"/>
              <p:nvPr/>
            </p:nvSpPr>
            <p:spPr>
              <a:xfrm>
                <a:off x="7546218" y="1606203"/>
                <a:ext cx="654236" cy="646331"/>
              </a:xfrm>
              <a:prstGeom prst="rect">
                <a:avLst/>
              </a:prstGeom>
              <a:noFill/>
            </p:spPr>
            <p:txBody>
              <a:bodyPr wrap="square" rtlCol="0">
                <a:spAutoFit/>
              </a:bodyPr>
              <a:lstStyle/>
              <a:p>
                <a:pPr algn="ctr"/>
                <a:r>
                  <a:rPr lang="en-US" b="1" dirty="0"/>
                  <a:t>80</a:t>
                </a:r>
                <a:br>
                  <a:rPr lang="en-US" b="1" dirty="0"/>
                </a:br>
                <a:r>
                  <a:rPr lang="en-US" b="1" dirty="0"/>
                  <a:t>100</a:t>
                </a:r>
              </a:p>
            </p:txBody>
          </p:sp>
          <p:cxnSp>
            <p:nvCxnSpPr>
              <p:cNvPr id="34" name="Straight Connector 33">
                <a:extLst>
                  <a:ext uri="{FF2B5EF4-FFF2-40B4-BE49-F238E27FC236}">
                    <a16:creationId xmlns:a16="http://schemas.microsoft.com/office/drawing/2014/main" id="{9B8F24D2-88FB-CBD1-158B-891DCD28B475}"/>
                  </a:ext>
                </a:extLst>
              </p:cNvPr>
              <p:cNvCxnSpPr>
                <a:cxnSpLocks/>
              </p:cNvCxnSpPr>
              <p:nvPr/>
            </p:nvCxnSpPr>
            <p:spPr>
              <a:xfrm>
                <a:off x="7675336" y="1924162"/>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88ECE36E-305A-B24E-89EC-742A9FBBBC3B}"/>
                </a:ext>
              </a:extLst>
            </p:cNvPr>
            <p:cNvGrpSpPr/>
            <p:nvPr/>
          </p:nvGrpSpPr>
          <p:grpSpPr>
            <a:xfrm>
              <a:off x="8013314" y="1594121"/>
              <a:ext cx="230524" cy="646331"/>
              <a:chOff x="8053549" y="1605869"/>
              <a:chExt cx="230524" cy="646331"/>
            </a:xfrm>
          </p:grpSpPr>
          <p:sp>
            <p:nvSpPr>
              <p:cNvPr id="31" name="TextBox 30">
                <a:extLst>
                  <a:ext uri="{FF2B5EF4-FFF2-40B4-BE49-F238E27FC236}">
                    <a16:creationId xmlns:a16="http://schemas.microsoft.com/office/drawing/2014/main" id="{F0D0479F-91A3-B2C8-A120-FEE27EB394F1}"/>
                  </a:ext>
                </a:extLst>
              </p:cNvPr>
              <p:cNvSpPr txBox="1"/>
              <p:nvPr/>
            </p:nvSpPr>
            <p:spPr>
              <a:xfrm>
                <a:off x="8053549" y="1605869"/>
                <a:ext cx="230524" cy="646331"/>
              </a:xfrm>
              <a:prstGeom prst="rect">
                <a:avLst/>
              </a:prstGeom>
              <a:noFill/>
            </p:spPr>
            <p:txBody>
              <a:bodyPr wrap="square" rtlCol="0">
                <a:spAutoFit/>
              </a:bodyPr>
              <a:lstStyle/>
              <a:p>
                <a:pPr algn="ctr"/>
                <a:r>
                  <a:rPr lang="en-US" b="1" dirty="0"/>
                  <a:t>4</a:t>
                </a:r>
                <a:br>
                  <a:rPr lang="en-US" b="1" dirty="0"/>
                </a:br>
                <a:r>
                  <a:rPr lang="en-US" b="1" dirty="0"/>
                  <a:t>5</a:t>
                </a:r>
              </a:p>
            </p:txBody>
          </p:sp>
          <p:cxnSp>
            <p:nvCxnSpPr>
              <p:cNvPr id="32" name="Straight Connector 31">
                <a:extLst>
                  <a:ext uri="{FF2B5EF4-FFF2-40B4-BE49-F238E27FC236}">
                    <a16:creationId xmlns:a16="http://schemas.microsoft.com/office/drawing/2014/main" id="{FD8C0A4E-8580-4180-EB4B-6E3EE14B08F9}"/>
                  </a:ext>
                </a:extLst>
              </p:cNvPr>
              <p:cNvCxnSpPr>
                <a:cxnSpLocks/>
              </p:cNvCxnSpPr>
              <p:nvPr/>
            </p:nvCxnSpPr>
            <p:spPr>
              <a:xfrm>
                <a:off x="8067888" y="1923828"/>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 name="TextBox 29">
              <a:extLst>
                <a:ext uri="{FF2B5EF4-FFF2-40B4-BE49-F238E27FC236}">
                  <a16:creationId xmlns:a16="http://schemas.microsoft.com/office/drawing/2014/main" id="{4E6B60BC-A60E-B1FC-81ED-02E366C45F99}"/>
                </a:ext>
              </a:extLst>
            </p:cNvPr>
            <p:cNvSpPr txBox="1"/>
            <p:nvPr/>
          </p:nvSpPr>
          <p:spPr>
            <a:xfrm>
              <a:off x="7564480" y="1735962"/>
              <a:ext cx="451061" cy="369332"/>
            </a:xfrm>
            <a:prstGeom prst="rect">
              <a:avLst/>
            </a:prstGeom>
            <a:noFill/>
          </p:spPr>
          <p:txBody>
            <a:bodyPr wrap="square">
              <a:spAutoFit/>
            </a:bodyPr>
            <a:lstStyle/>
            <a:p>
              <a:pPr algn="ctr"/>
              <a:r>
                <a:rPr lang="en-US" b="1" dirty="0">
                  <a:solidFill>
                    <a:schemeClr val="tx1"/>
                  </a:solidFill>
                  <a:latin typeface="Twinkl" panose="02000000000000000000" pitchFamily="2" charset="77"/>
                </a:rPr>
                <a:t>or</a:t>
              </a:r>
              <a:endParaRPr lang="en-US" dirty="0"/>
            </a:p>
          </p:txBody>
        </p:sp>
      </p:grpSp>
    </p:spTree>
    <p:extLst>
      <p:ext uri="{BB962C8B-B14F-4D97-AF65-F5344CB8AC3E}">
        <p14:creationId xmlns:p14="http://schemas.microsoft.com/office/powerpoint/2010/main" val="3957891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826DD-076B-A663-0F0F-FB330428C6FA}"/>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6004F4A6-BCC0-6E11-FF11-07FA4B555550}"/>
              </a:ext>
            </a:extLst>
          </p:cNvPr>
          <p:cNvGraphicFramePr>
            <a:graphicFrameLocks noGrp="1"/>
          </p:cNvGraphicFramePr>
          <p:nvPr>
            <p:extLst>
              <p:ext uri="{D42A27DB-BD31-4B8C-83A1-F6EECF244321}">
                <p14:modId xmlns:p14="http://schemas.microsoft.com/office/powerpoint/2010/main" val="3924607401"/>
              </p:ext>
            </p:extLst>
          </p:nvPr>
        </p:nvGraphicFramePr>
        <p:xfrm>
          <a:off x="1429660" y="1676935"/>
          <a:ext cx="6284680" cy="4387928"/>
        </p:xfrm>
        <a:graphic>
          <a:graphicData uri="http://schemas.openxmlformats.org/drawingml/2006/table">
            <a:tbl>
              <a:tblPr/>
              <a:tblGrid>
                <a:gridCol w="3142340">
                  <a:extLst>
                    <a:ext uri="{9D8B030D-6E8A-4147-A177-3AD203B41FA5}">
                      <a16:colId xmlns:a16="http://schemas.microsoft.com/office/drawing/2014/main" val="931588689"/>
                    </a:ext>
                  </a:extLst>
                </a:gridCol>
                <a:gridCol w="3142340">
                  <a:extLst>
                    <a:ext uri="{9D8B030D-6E8A-4147-A177-3AD203B41FA5}">
                      <a16:colId xmlns:a16="http://schemas.microsoft.com/office/drawing/2014/main" val="161999407"/>
                    </a:ext>
                  </a:extLst>
                </a:gridCol>
              </a:tblGrid>
              <a:tr h="464685">
                <a:tc>
                  <a:txBody>
                    <a:bodyPr/>
                    <a:lstStyle/>
                    <a:p>
                      <a:pPr algn="ctr" rtl="0" fontAlgn="t"/>
                      <a:r>
                        <a:rPr lang="en-GB" sz="1800" b="1" i="0" u="none" strike="noStrike" dirty="0">
                          <a:solidFill>
                            <a:schemeClr val="bg1"/>
                          </a:solidFill>
                          <a:effectLst/>
                          <a:latin typeface="Twinkl" panose="02000000000000000000" pitchFamily="2" charset="77"/>
                        </a:rPr>
                        <a:t>Fraction</a:t>
                      </a:r>
                      <a:endParaRPr lang="en-GB" sz="1800" b="1" dirty="0">
                        <a:solidFill>
                          <a:schemeClr val="bg1"/>
                        </a:solidFill>
                        <a:effectLst/>
                        <a:latin typeface="Twinkl" panose="02000000000000000000" pitchFamily="2" charset="77"/>
                      </a:endParaRPr>
                    </a:p>
                  </a:txBody>
                  <a:tcPr marL="95222" marR="95222" marT="95222" marB="9522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5A8E7"/>
                    </a:solidFill>
                  </a:tcPr>
                </a:tc>
                <a:tc>
                  <a:txBody>
                    <a:bodyPr/>
                    <a:lstStyle/>
                    <a:p>
                      <a:pPr algn="ctr" rtl="0" fontAlgn="t"/>
                      <a:r>
                        <a:rPr lang="en-GB" sz="1800" b="1" i="0" u="none" strike="noStrike" dirty="0">
                          <a:solidFill>
                            <a:schemeClr val="bg1"/>
                          </a:solidFill>
                          <a:effectLst/>
                          <a:latin typeface="Twinkl" panose="02000000000000000000" pitchFamily="2" charset="77"/>
                        </a:rPr>
                        <a:t>Percentage</a:t>
                      </a:r>
                      <a:endParaRPr lang="en-GB" sz="1800" b="1" dirty="0">
                        <a:solidFill>
                          <a:schemeClr val="bg1"/>
                        </a:solidFill>
                        <a:effectLst/>
                        <a:latin typeface="Twinkl" panose="02000000000000000000" pitchFamily="2" charset="77"/>
                      </a:endParaRPr>
                    </a:p>
                  </a:txBody>
                  <a:tcPr marL="95222" marR="95222" marT="95222" marB="9522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5A8E7"/>
                    </a:solidFill>
                  </a:tcPr>
                </a:tc>
                <a:extLst>
                  <a:ext uri="{0D108BD9-81ED-4DB2-BD59-A6C34878D82A}">
                    <a16:rowId xmlns:a16="http://schemas.microsoft.com/office/drawing/2014/main" val="3347561004"/>
                  </a:ext>
                </a:extLst>
              </a:tr>
              <a:tr h="980791">
                <a:tc>
                  <a:txBody>
                    <a:bodyPr/>
                    <a:lstStyle/>
                    <a:p>
                      <a:pPr fontAlgn="t"/>
                      <a:r>
                        <a:rPr lang="en-GB" sz="1800" dirty="0">
                          <a:effectLst/>
                          <a:latin typeface="Twinkl" panose="02000000000000000000" pitchFamily="2" charset="77"/>
                        </a:rPr>
                        <a:t> </a:t>
                      </a:r>
                    </a:p>
                  </a:txBody>
                  <a:tcPr marL="95222" marR="95222" marT="95222" marB="9522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r>
                        <a:rPr lang="en-GB" sz="1800" dirty="0">
                          <a:effectLst/>
                          <a:latin typeface="Twinkl" panose="02000000000000000000" pitchFamily="2" charset="77"/>
                        </a:rPr>
                        <a:t> </a:t>
                      </a:r>
                    </a:p>
                  </a:txBody>
                  <a:tcPr marL="95222" marR="95222" marT="95222" marB="9522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91866"/>
                  </a:ext>
                </a:extLst>
              </a:tr>
              <a:tr h="980791">
                <a:tc>
                  <a:txBody>
                    <a:bodyPr/>
                    <a:lstStyle/>
                    <a:p>
                      <a:pPr fontAlgn="t"/>
                      <a:r>
                        <a:rPr lang="en-GB" sz="1800">
                          <a:effectLst/>
                          <a:latin typeface="Twinkl" panose="02000000000000000000" pitchFamily="2" charset="77"/>
                        </a:rPr>
                        <a:t> </a:t>
                      </a:r>
                    </a:p>
                  </a:txBody>
                  <a:tcPr marL="95222" marR="95222" marT="95222" marB="9522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r>
                        <a:rPr lang="en-GB" sz="1800" dirty="0">
                          <a:effectLst/>
                          <a:latin typeface="Twinkl" panose="02000000000000000000" pitchFamily="2" charset="77"/>
                        </a:rPr>
                        <a:t> </a:t>
                      </a:r>
                    </a:p>
                  </a:txBody>
                  <a:tcPr marL="95222" marR="95222" marT="95222" marB="9522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3757200"/>
                  </a:ext>
                </a:extLst>
              </a:tr>
              <a:tr h="980791">
                <a:tc>
                  <a:txBody>
                    <a:bodyPr/>
                    <a:lstStyle/>
                    <a:p>
                      <a:pPr fontAlgn="t"/>
                      <a:r>
                        <a:rPr lang="en-GB" sz="1800">
                          <a:effectLst/>
                          <a:latin typeface="Twinkl" panose="02000000000000000000" pitchFamily="2" charset="77"/>
                        </a:rPr>
                        <a:t> </a:t>
                      </a:r>
                    </a:p>
                  </a:txBody>
                  <a:tcPr marL="95222" marR="95222" marT="95222" marB="9522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r>
                        <a:rPr lang="en-GB" sz="1400" b="0" i="0" u="none" strike="noStrike" dirty="0">
                          <a:solidFill>
                            <a:srgbClr val="000000"/>
                          </a:solidFill>
                          <a:effectLst/>
                          <a:latin typeface="Twinkl" panose="02000000000000000000" pitchFamily="2" charset="77"/>
                        </a:rPr>
                        <a:t> </a:t>
                      </a:r>
                      <a:endParaRPr lang="en-GB" sz="1800" dirty="0">
                        <a:effectLst/>
                        <a:latin typeface="Twinkl" panose="02000000000000000000" pitchFamily="2" charset="77"/>
                      </a:endParaRPr>
                    </a:p>
                    <a:p>
                      <a:pPr fontAlgn="t"/>
                      <a:br>
                        <a:rPr lang="en-GB" sz="1800" dirty="0">
                          <a:effectLst/>
                          <a:latin typeface="Twinkl" panose="02000000000000000000" pitchFamily="2" charset="77"/>
                        </a:rPr>
                      </a:br>
                      <a:endParaRPr lang="en-GB" sz="1800" dirty="0">
                        <a:effectLst/>
                        <a:latin typeface="Twinkl" panose="02000000000000000000" pitchFamily="2" charset="77"/>
                      </a:endParaRPr>
                    </a:p>
                  </a:txBody>
                  <a:tcPr marL="95222" marR="95222" marT="95222" marB="9522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9731595"/>
                  </a:ext>
                </a:extLst>
              </a:tr>
              <a:tr h="980791">
                <a:tc>
                  <a:txBody>
                    <a:bodyPr/>
                    <a:lstStyle/>
                    <a:p>
                      <a:pPr fontAlgn="t"/>
                      <a:r>
                        <a:rPr lang="en-GB" sz="1800">
                          <a:effectLst/>
                          <a:latin typeface="Twinkl" panose="02000000000000000000" pitchFamily="2" charset="77"/>
                        </a:rPr>
                        <a:t> </a:t>
                      </a:r>
                    </a:p>
                  </a:txBody>
                  <a:tcPr marL="95222" marR="95222" marT="95222" marB="9522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fontAlgn="t"/>
                      <a:r>
                        <a:rPr lang="en-GB" sz="1800" dirty="0">
                          <a:effectLst/>
                          <a:latin typeface="Twinkl" panose="02000000000000000000" pitchFamily="2" charset="77"/>
                        </a:rPr>
                        <a:t> </a:t>
                      </a:r>
                    </a:p>
                  </a:txBody>
                  <a:tcPr marL="95222" marR="95222" marT="95222" marB="9522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894613"/>
                  </a:ext>
                </a:extLst>
              </a:tr>
            </a:tbl>
          </a:graphicData>
        </a:graphic>
      </p:graphicFrame>
      <p:sp>
        <p:nvSpPr>
          <p:cNvPr id="2" name="Text Box">
            <a:extLst>
              <a:ext uri="{FF2B5EF4-FFF2-40B4-BE49-F238E27FC236}">
                <a16:creationId xmlns:a16="http://schemas.microsoft.com/office/drawing/2014/main" id="{33D606A2-1D34-FFC5-B44C-2196B246571B}"/>
              </a:ext>
            </a:extLst>
          </p:cNvPr>
          <p:cNvSpPr/>
          <p:nvPr/>
        </p:nvSpPr>
        <p:spPr>
          <a:xfrm>
            <a:off x="5581291" y="381903"/>
            <a:ext cx="2840046" cy="495108"/>
          </a:xfrm>
          <a:prstGeom prst="rect">
            <a:avLst/>
          </a:prstGeom>
          <a:solidFill>
            <a:srgbClr val="05A8E7"/>
          </a:solidFill>
          <a:ln w="285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r"/>
            <a:r>
              <a:rPr lang="en-GB" b="1" dirty="0">
                <a:solidFill>
                  <a:schemeClr val="bg1"/>
                </a:solidFill>
              </a:rPr>
              <a:t>What is a percentage</a:t>
            </a:r>
          </a:p>
        </p:txBody>
      </p:sp>
      <p:pic>
        <p:nvPicPr>
          <p:cNvPr id="4" name="Picture 3">
            <a:extLst>
              <a:ext uri="{FF2B5EF4-FFF2-40B4-BE49-F238E27FC236}">
                <a16:creationId xmlns:a16="http://schemas.microsoft.com/office/drawing/2014/main" id="{F002BE9B-2233-378D-E6DB-A0398AF3A86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42962" y="44773"/>
            <a:ext cx="275875" cy="760521"/>
          </a:xfrm>
          <a:prstGeom prst="rect">
            <a:avLst/>
          </a:prstGeom>
        </p:spPr>
      </p:pic>
      <p:sp>
        <p:nvSpPr>
          <p:cNvPr id="15" name="Rectangle 14">
            <a:extLst>
              <a:ext uri="{FF2B5EF4-FFF2-40B4-BE49-F238E27FC236}">
                <a16:creationId xmlns:a16="http://schemas.microsoft.com/office/drawing/2014/main" id="{C5EDBFAA-DE33-E67F-BB40-DDB9A7E3EE36}"/>
              </a:ext>
            </a:extLst>
          </p:cNvPr>
          <p:cNvSpPr/>
          <p:nvPr/>
        </p:nvSpPr>
        <p:spPr>
          <a:xfrm>
            <a:off x="5742962" y="2235768"/>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winkl" panose="02000000000000000000" pitchFamily="2" charset="77"/>
              </a:rPr>
              <a:t>52%</a:t>
            </a:r>
          </a:p>
        </p:txBody>
      </p:sp>
      <p:sp>
        <p:nvSpPr>
          <p:cNvPr id="3" name="Text">
            <a:extLst>
              <a:ext uri="{FF2B5EF4-FFF2-40B4-BE49-F238E27FC236}">
                <a16:creationId xmlns:a16="http://schemas.microsoft.com/office/drawing/2014/main" id="{28F1DC3E-8FCD-6957-7538-3D4C784A05E5}"/>
              </a:ext>
            </a:extLst>
          </p:cNvPr>
          <p:cNvSpPr/>
          <p:nvPr/>
        </p:nvSpPr>
        <p:spPr>
          <a:xfrm>
            <a:off x="953818" y="1209331"/>
            <a:ext cx="6642735" cy="276999"/>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Complete the table by converting each fraction to a percentage. </a:t>
            </a:r>
            <a:endParaRPr lang="en-GB" b="0" dirty="0">
              <a:effectLst/>
              <a:latin typeface="Twinkl" panose="02000000000000000000" pitchFamily="2" charset="77"/>
            </a:endParaRPr>
          </a:p>
        </p:txBody>
      </p:sp>
      <p:sp>
        <p:nvSpPr>
          <p:cNvPr id="19" name="Rectangle 18">
            <a:extLst>
              <a:ext uri="{FF2B5EF4-FFF2-40B4-BE49-F238E27FC236}">
                <a16:creationId xmlns:a16="http://schemas.microsoft.com/office/drawing/2014/main" id="{0B978956-E961-6239-EA6D-9EFB0D9D7DA8}"/>
              </a:ext>
            </a:extLst>
          </p:cNvPr>
          <p:cNvSpPr/>
          <p:nvPr/>
        </p:nvSpPr>
        <p:spPr>
          <a:xfrm>
            <a:off x="5742961" y="3222587"/>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winkl" panose="02000000000000000000" pitchFamily="2" charset="77"/>
              </a:rPr>
              <a:t>30%</a:t>
            </a:r>
          </a:p>
        </p:txBody>
      </p:sp>
      <p:sp>
        <p:nvSpPr>
          <p:cNvPr id="20" name="Rectangle 19">
            <a:extLst>
              <a:ext uri="{FF2B5EF4-FFF2-40B4-BE49-F238E27FC236}">
                <a16:creationId xmlns:a16="http://schemas.microsoft.com/office/drawing/2014/main" id="{ED96227E-B415-5F08-A731-932C9B04D04A}"/>
              </a:ext>
            </a:extLst>
          </p:cNvPr>
          <p:cNvSpPr/>
          <p:nvPr/>
        </p:nvSpPr>
        <p:spPr>
          <a:xfrm>
            <a:off x="5742960" y="4209406"/>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winkl" panose="02000000000000000000" pitchFamily="2" charset="77"/>
              </a:rPr>
              <a:t>50%</a:t>
            </a:r>
          </a:p>
        </p:txBody>
      </p:sp>
      <p:sp>
        <p:nvSpPr>
          <p:cNvPr id="22" name="Rectangle 21">
            <a:extLst>
              <a:ext uri="{FF2B5EF4-FFF2-40B4-BE49-F238E27FC236}">
                <a16:creationId xmlns:a16="http://schemas.microsoft.com/office/drawing/2014/main" id="{6405E836-9F1B-50A6-A5D4-AD5A0B483BCA}"/>
              </a:ext>
            </a:extLst>
          </p:cNvPr>
          <p:cNvSpPr/>
          <p:nvPr/>
        </p:nvSpPr>
        <p:spPr>
          <a:xfrm>
            <a:off x="5742959" y="5191567"/>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winkl" panose="02000000000000000000" pitchFamily="2" charset="77"/>
              </a:rPr>
              <a:t>10%</a:t>
            </a:r>
          </a:p>
        </p:txBody>
      </p:sp>
      <p:grpSp>
        <p:nvGrpSpPr>
          <p:cNvPr id="36" name="Group 35">
            <a:extLst>
              <a:ext uri="{FF2B5EF4-FFF2-40B4-BE49-F238E27FC236}">
                <a16:creationId xmlns:a16="http://schemas.microsoft.com/office/drawing/2014/main" id="{7B9AC665-F766-5A51-8C49-7C2964BBD93D}"/>
              </a:ext>
            </a:extLst>
          </p:cNvPr>
          <p:cNvGrpSpPr/>
          <p:nvPr/>
        </p:nvGrpSpPr>
        <p:grpSpPr>
          <a:xfrm>
            <a:off x="2706257" y="2302553"/>
            <a:ext cx="654236" cy="646331"/>
            <a:chOff x="7546218" y="1606203"/>
            <a:chExt cx="654236" cy="646331"/>
          </a:xfrm>
        </p:grpSpPr>
        <p:sp>
          <p:nvSpPr>
            <p:cNvPr id="37" name="TextBox 36">
              <a:extLst>
                <a:ext uri="{FF2B5EF4-FFF2-40B4-BE49-F238E27FC236}">
                  <a16:creationId xmlns:a16="http://schemas.microsoft.com/office/drawing/2014/main" id="{26E2ECFD-A756-FF5B-4310-85A64273BDDB}"/>
                </a:ext>
              </a:extLst>
            </p:cNvPr>
            <p:cNvSpPr txBox="1"/>
            <p:nvPr/>
          </p:nvSpPr>
          <p:spPr>
            <a:xfrm>
              <a:off x="7546218" y="1606203"/>
              <a:ext cx="654236" cy="646331"/>
            </a:xfrm>
            <a:prstGeom prst="rect">
              <a:avLst/>
            </a:prstGeom>
            <a:noFill/>
          </p:spPr>
          <p:txBody>
            <a:bodyPr wrap="square" rtlCol="0">
              <a:spAutoFit/>
            </a:bodyPr>
            <a:lstStyle/>
            <a:p>
              <a:pPr algn="ctr"/>
              <a:r>
                <a:rPr lang="en-US" b="1" dirty="0"/>
                <a:t>52</a:t>
              </a:r>
              <a:br>
                <a:rPr lang="en-US" b="1" dirty="0"/>
              </a:br>
              <a:r>
                <a:rPr lang="en-US" b="1" dirty="0"/>
                <a:t>100</a:t>
              </a:r>
            </a:p>
          </p:txBody>
        </p:sp>
        <p:cxnSp>
          <p:nvCxnSpPr>
            <p:cNvPr id="38" name="Straight Connector 37">
              <a:extLst>
                <a:ext uri="{FF2B5EF4-FFF2-40B4-BE49-F238E27FC236}">
                  <a16:creationId xmlns:a16="http://schemas.microsoft.com/office/drawing/2014/main" id="{CE869EF1-7BAD-5476-0D16-D2551C9F43ED}"/>
                </a:ext>
              </a:extLst>
            </p:cNvPr>
            <p:cNvCxnSpPr>
              <a:cxnSpLocks/>
            </p:cNvCxnSpPr>
            <p:nvPr/>
          </p:nvCxnSpPr>
          <p:spPr>
            <a:xfrm>
              <a:off x="7675336" y="1924162"/>
              <a:ext cx="396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12B0BD3B-1BED-643A-5BC3-E0575E019AFA}"/>
              </a:ext>
            </a:extLst>
          </p:cNvPr>
          <p:cNvGrpSpPr/>
          <p:nvPr/>
        </p:nvGrpSpPr>
        <p:grpSpPr>
          <a:xfrm>
            <a:off x="2706257" y="3289372"/>
            <a:ext cx="654236" cy="646331"/>
            <a:chOff x="7546218" y="1606203"/>
            <a:chExt cx="654236" cy="646331"/>
          </a:xfrm>
        </p:grpSpPr>
        <p:sp>
          <p:nvSpPr>
            <p:cNvPr id="40" name="TextBox 39">
              <a:extLst>
                <a:ext uri="{FF2B5EF4-FFF2-40B4-BE49-F238E27FC236}">
                  <a16:creationId xmlns:a16="http://schemas.microsoft.com/office/drawing/2014/main" id="{99EBEB83-2757-108E-9EE5-9D0206C297E9}"/>
                </a:ext>
              </a:extLst>
            </p:cNvPr>
            <p:cNvSpPr txBox="1"/>
            <p:nvPr/>
          </p:nvSpPr>
          <p:spPr>
            <a:xfrm>
              <a:off x="7546218" y="1606203"/>
              <a:ext cx="654236" cy="646331"/>
            </a:xfrm>
            <a:prstGeom prst="rect">
              <a:avLst/>
            </a:prstGeom>
            <a:noFill/>
          </p:spPr>
          <p:txBody>
            <a:bodyPr wrap="square" rtlCol="0">
              <a:spAutoFit/>
            </a:bodyPr>
            <a:lstStyle/>
            <a:p>
              <a:pPr algn="ctr"/>
              <a:r>
                <a:rPr lang="en-US" b="1" dirty="0"/>
                <a:t>3</a:t>
              </a:r>
              <a:br>
                <a:rPr lang="en-US" b="1" dirty="0"/>
              </a:br>
              <a:r>
                <a:rPr lang="en-US" b="1" dirty="0"/>
                <a:t>10</a:t>
              </a:r>
            </a:p>
          </p:txBody>
        </p:sp>
        <p:cxnSp>
          <p:nvCxnSpPr>
            <p:cNvPr id="41" name="Straight Connector 40">
              <a:extLst>
                <a:ext uri="{FF2B5EF4-FFF2-40B4-BE49-F238E27FC236}">
                  <a16:creationId xmlns:a16="http://schemas.microsoft.com/office/drawing/2014/main" id="{DA8D7B7B-6767-3383-5255-F83CEC8DD406}"/>
                </a:ext>
              </a:extLst>
            </p:cNvPr>
            <p:cNvCxnSpPr>
              <a:cxnSpLocks/>
            </p:cNvCxnSpPr>
            <p:nvPr/>
          </p:nvCxnSpPr>
          <p:spPr>
            <a:xfrm>
              <a:off x="7727752" y="1924162"/>
              <a:ext cx="28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EE66D3E2-75A2-9DC1-0782-CCFAF5A11281}"/>
              </a:ext>
            </a:extLst>
          </p:cNvPr>
          <p:cNvGrpSpPr/>
          <p:nvPr/>
        </p:nvGrpSpPr>
        <p:grpSpPr>
          <a:xfrm>
            <a:off x="2706257" y="4245949"/>
            <a:ext cx="654236" cy="646331"/>
            <a:chOff x="7546218" y="1606203"/>
            <a:chExt cx="654236" cy="646331"/>
          </a:xfrm>
        </p:grpSpPr>
        <p:sp>
          <p:nvSpPr>
            <p:cNvPr id="43" name="TextBox 42">
              <a:extLst>
                <a:ext uri="{FF2B5EF4-FFF2-40B4-BE49-F238E27FC236}">
                  <a16:creationId xmlns:a16="http://schemas.microsoft.com/office/drawing/2014/main" id="{314AF7FC-F4D7-6F42-CA84-752CECEB15A0}"/>
                </a:ext>
              </a:extLst>
            </p:cNvPr>
            <p:cNvSpPr txBox="1"/>
            <p:nvPr/>
          </p:nvSpPr>
          <p:spPr>
            <a:xfrm>
              <a:off x="7546218" y="1606203"/>
              <a:ext cx="654236" cy="646331"/>
            </a:xfrm>
            <a:prstGeom prst="rect">
              <a:avLst/>
            </a:prstGeom>
            <a:noFill/>
          </p:spPr>
          <p:txBody>
            <a:bodyPr wrap="square" rtlCol="0">
              <a:spAutoFit/>
            </a:bodyPr>
            <a:lstStyle/>
            <a:p>
              <a:pPr algn="ctr"/>
              <a:r>
                <a:rPr lang="en-US" b="1" dirty="0"/>
                <a:t>2</a:t>
              </a:r>
              <a:br>
                <a:rPr lang="en-US" b="1" dirty="0"/>
              </a:br>
              <a:r>
                <a:rPr lang="en-US" b="1" dirty="0"/>
                <a:t>4</a:t>
              </a:r>
            </a:p>
          </p:txBody>
        </p:sp>
        <p:cxnSp>
          <p:nvCxnSpPr>
            <p:cNvPr id="44" name="Straight Connector 43">
              <a:extLst>
                <a:ext uri="{FF2B5EF4-FFF2-40B4-BE49-F238E27FC236}">
                  <a16:creationId xmlns:a16="http://schemas.microsoft.com/office/drawing/2014/main" id="{CDE4091C-03B4-C09D-3FC5-E9E7C525C525}"/>
                </a:ext>
              </a:extLst>
            </p:cNvPr>
            <p:cNvCxnSpPr>
              <a:cxnSpLocks/>
            </p:cNvCxnSpPr>
            <p:nvPr/>
          </p:nvCxnSpPr>
          <p:spPr>
            <a:xfrm>
              <a:off x="7774346" y="1924162"/>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441BA806-7D1C-19F8-57AC-79FFFE393D3B}"/>
              </a:ext>
            </a:extLst>
          </p:cNvPr>
          <p:cNvGrpSpPr/>
          <p:nvPr/>
        </p:nvGrpSpPr>
        <p:grpSpPr>
          <a:xfrm>
            <a:off x="2706257" y="5232768"/>
            <a:ext cx="654236" cy="646331"/>
            <a:chOff x="7546218" y="1606203"/>
            <a:chExt cx="654236" cy="646331"/>
          </a:xfrm>
        </p:grpSpPr>
        <p:sp>
          <p:nvSpPr>
            <p:cNvPr id="46" name="TextBox 45">
              <a:extLst>
                <a:ext uri="{FF2B5EF4-FFF2-40B4-BE49-F238E27FC236}">
                  <a16:creationId xmlns:a16="http://schemas.microsoft.com/office/drawing/2014/main" id="{BD7990A8-897F-49E6-A932-B658DA327E88}"/>
                </a:ext>
              </a:extLst>
            </p:cNvPr>
            <p:cNvSpPr txBox="1"/>
            <p:nvPr/>
          </p:nvSpPr>
          <p:spPr>
            <a:xfrm>
              <a:off x="7546218" y="1606203"/>
              <a:ext cx="654236" cy="646331"/>
            </a:xfrm>
            <a:prstGeom prst="rect">
              <a:avLst/>
            </a:prstGeom>
            <a:noFill/>
          </p:spPr>
          <p:txBody>
            <a:bodyPr wrap="square" rtlCol="0">
              <a:spAutoFit/>
            </a:bodyPr>
            <a:lstStyle/>
            <a:p>
              <a:pPr algn="ctr"/>
              <a:r>
                <a:rPr lang="en-US" b="1" dirty="0"/>
                <a:t>2</a:t>
              </a:r>
              <a:br>
                <a:rPr lang="en-US" b="1" dirty="0"/>
              </a:br>
              <a:r>
                <a:rPr lang="en-US" b="1" dirty="0"/>
                <a:t>20</a:t>
              </a:r>
            </a:p>
          </p:txBody>
        </p:sp>
        <p:cxnSp>
          <p:nvCxnSpPr>
            <p:cNvPr id="47" name="Straight Connector 46">
              <a:extLst>
                <a:ext uri="{FF2B5EF4-FFF2-40B4-BE49-F238E27FC236}">
                  <a16:creationId xmlns:a16="http://schemas.microsoft.com/office/drawing/2014/main" id="{291CDD56-FF62-3FE7-E95C-B75F20E9755B}"/>
                </a:ext>
              </a:extLst>
            </p:cNvPr>
            <p:cNvCxnSpPr>
              <a:cxnSpLocks/>
            </p:cNvCxnSpPr>
            <p:nvPr/>
          </p:nvCxnSpPr>
          <p:spPr>
            <a:xfrm>
              <a:off x="7721928" y="1924162"/>
              <a:ext cx="28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2688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9" grpId="0" animBg="1"/>
      <p:bldP spid="20" grpId="0" animBg="1"/>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D5207-D6A9-DFBB-E59A-D4A9C3551F4A}"/>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A48162BC-C75D-600C-252A-63864E8522AF}"/>
              </a:ext>
            </a:extLst>
          </p:cNvPr>
          <p:cNvGraphicFramePr>
            <a:graphicFrameLocks noGrp="1"/>
          </p:cNvGraphicFramePr>
          <p:nvPr>
            <p:extLst>
              <p:ext uri="{D42A27DB-BD31-4B8C-83A1-F6EECF244321}">
                <p14:modId xmlns:p14="http://schemas.microsoft.com/office/powerpoint/2010/main" val="790199442"/>
              </p:ext>
            </p:extLst>
          </p:nvPr>
        </p:nvGraphicFramePr>
        <p:xfrm>
          <a:off x="1429660" y="1676935"/>
          <a:ext cx="6284680" cy="4387928"/>
        </p:xfrm>
        <a:graphic>
          <a:graphicData uri="http://schemas.openxmlformats.org/drawingml/2006/table">
            <a:tbl>
              <a:tblPr/>
              <a:tblGrid>
                <a:gridCol w="3142340">
                  <a:extLst>
                    <a:ext uri="{9D8B030D-6E8A-4147-A177-3AD203B41FA5}">
                      <a16:colId xmlns:a16="http://schemas.microsoft.com/office/drawing/2014/main" val="931588689"/>
                    </a:ext>
                  </a:extLst>
                </a:gridCol>
                <a:gridCol w="3142340">
                  <a:extLst>
                    <a:ext uri="{9D8B030D-6E8A-4147-A177-3AD203B41FA5}">
                      <a16:colId xmlns:a16="http://schemas.microsoft.com/office/drawing/2014/main" val="161999407"/>
                    </a:ext>
                  </a:extLst>
                </a:gridCol>
              </a:tblGrid>
              <a:tr h="464685">
                <a:tc>
                  <a:txBody>
                    <a:bodyPr/>
                    <a:lstStyle/>
                    <a:p>
                      <a:pPr algn="ctr" rtl="0" fontAlgn="t"/>
                      <a:r>
                        <a:rPr lang="en-GB" sz="1800" b="1" i="0" u="none" strike="noStrike" dirty="0">
                          <a:solidFill>
                            <a:schemeClr val="bg1"/>
                          </a:solidFill>
                          <a:effectLst/>
                          <a:latin typeface="Twinkl" panose="02000000000000000000" pitchFamily="2" charset="77"/>
                        </a:rPr>
                        <a:t>Fraction</a:t>
                      </a:r>
                      <a:endParaRPr lang="en-GB" sz="1800" b="1" dirty="0">
                        <a:solidFill>
                          <a:schemeClr val="bg1"/>
                        </a:solidFill>
                        <a:effectLst/>
                        <a:latin typeface="Twinkl" panose="02000000000000000000" pitchFamily="2" charset="77"/>
                      </a:endParaRPr>
                    </a:p>
                  </a:txBody>
                  <a:tcPr marL="95222" marR="95222" marT="95222" marB="9522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5A8E7"/>
                    </a:solidFill>
                  </a:tcPr>
                </a:tc>
                <a:tc>
                  <a:txBody>
                    <a:bodyPr/>
                    <a:lstStyle/>
                    <a:p>
                      <a:pPr algn="ctr" rtl="0" fontAlgn="t"/>
                      <a:r>
                        <a:rPr lang="en-GB" sz="1800" b="1" i="0" u="none" strike="noStrike" dirty="0">
                          <a:solidFill>
                            <a:schemeClr val="bg1"/>
                          </a:solidFill>
                          <a:effectLst/>
                          <a:latin typeface="Twinkl" panose="02000000000000000000" pitchFamily="2" charset="77"/>
                        </a:rPr>
                        <a:t>Percentage</a:t>
                      </a:r>
                      <a:endParaRPr lang="en-GB" sz="1800" b="1" dirty="0">
                        <a:solidFill>
                          <a:schemeClr val="bg1"/>
                        </a:solidFill>
                        <a:effectLst/>
                        <a:latin typeface="Twinkl" panose="02000000000000000000" pitchFamily="2" charset="77"/>
                      </a:endParaRPr>
                    </a:p>
                  </a:txBody>
                  <a:tcPr marL="95222" marR="95222" marT="95222" marB="9522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5A8E7"/>
                    </a:solidFill>
                  </a:tcPr>
                </a:tc>
                <a:extLst>
                  <a:ext uri="{0D108BD9-81ED-4DB2-BD59-A6C34878D82A}">
                    <a16:rowId xmlns:a16="http://schemas.microsoft.com/office/drawing/2014/main" val="3347561004"/>
                  </a:ext>
                </a:extLst>
              </a:tr>
              <a:tr h="980791">
                <a:tc>
                  <a:txBody>
                    <a:bodyPr/>
                    <a:lstStyle/>
                    <a:p>
                      <a:pPr fontAlgn="t"/>
                      <a:r>
                        <a:rPr lang="en-GB" sz="1800" dirty="0">
                          <a:effectLst/>
                          <a:latin typeface="Twinkl" panose="02000000000000000000" pitchFamily="2" charset="77"/>
                        </a:rPr>
                        <a:t> </a:t>
                      </a:r>
                    </a:p>
                  </a:txBody>
                  <a:tcPr marL="95222" marR="95222" marT="95222" marB="9522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en-GB" sz="1800" b="0" i="0" dirty="0">
                          <a:effectLst/>
                          <a:latin typeface="Twinkl" panose="02000000000000000000" pitchFamily="2" charset="77"/>
                        </a:rPr>
                        <a:t> 75%</a:t>
                      </a:r>
                    </a:p>
                  </a:txBody>
                  <a:tcPr marL="95222" marR="95222" marT="95222" marB="95222"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591866"/>
                  </a:ext>
                </a:extLst>
              </a:tr>
              <a:tr h="980791">
                <a:tc>
                  <a:txBody>
                    <a:bodyPr/>
                    <a:lstStyle/>
                    <a:p>
                      <a:pPr fontAlgn="t"/>
                      <a:r>
                        <a:rPr lang="en-GB" sz="1800" dirty="0">
                          <a:effectLst/>
                          <a:latin typeface="Twinkl" panose="02000000000000000000" pitchFamily="2" charset="77"/>
                        </a:rPr>
                        <a:t> </a:t>
                      </a:r>
                    </a:p>
                  </a:txBody>
                  <a:tcPr marL="95222" marR="95222" marT="95222" marB="9522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t"/>
                      <a:r>
                        <a:rPr lang="en-GB" sz="1800" b="0" i="0" dirty="0">
                          <a:effectLst/>
                          <a:latin typeface="Twinkl" panose="02000000000000000000" pitchFamily="2" charset="77"/>
                        </a:rPr>
                        <a:t>20%</a:t>
                      </a:r>
                    </a:p>
                  </a:txBody>
                  <a:tcPr marL="95222" marR="95222" marT="95222" marB="95222"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3757200"/>
                  </a:ext>
                </a:extLst>
              </a:tr>
              <a:tr h="980791">
                <a:tc>
                  <a:txBody>
                    <a:bodyPr/>
                    <a:lstStyle/>
                    <a:p>
                      <a:pPr fontAlgn="t"/>
                      <a:r>
                        <a:rPr lang="en-GB" sz="1800" dirty="0">
                          <a:effectLst/>
                          <a:latin typeface="Twinkl" panose="02000000000000000000" pitchFamily="2" charset="77"/>
                        </a:rPr>
                        <a:t> </a:t>
                      </a:r>
                    </a:p>
                  </a:txBody>
                  <a:tcPr marL="95222" marR="95222" marT="95222" marB="9522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r>
                        <a:rPr lang="en-GB" sz="1800" b="0" i="0" u="none" strike="noStrike" dirty="0">
                          <a:solidFill>
                            <a:srgbClr val="000000"/>
                          </a:solidFill>
                          <a:effectLst/>
                          <a:latin typeface="Twinkl" panose="02000000000000000000" pitchFamily="2" charset="77"/>
                        </a:rPr>
                        <a:t>60%</a:t>
                      </a:r>
                      <a:endParaRPr lang="en-GB" sz="1800" b="0" i="0" dirty="0">
                        <a:effectLst/>
                        <a:latin typeface="Twinkl" panose="02000000000000000000" pitchFamily="2" charset="77"/>
                      </a:endParaRPr>
                    </a:p>
                  </a:txBody>
                  <a:tcPr marL="95222" marR="95222" marT="95222" marB="95222"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9731595"/>
                  </a:ext>
                </a:extLst>
              </a:tr>
              <a:tr h="980791">
                <a:tc>
                  <a:txBody>
                    <a:bodyPr/>
                    <a:lstStyle/>
                    <a:p>
                      <a:pPr fontAlgn="t"/>
                      <a:r>
                        <a:rPr lang="en-GB" sz="1800" dirty="0">
                          <a:effectLst/>
                          <a:latin typeface="Twinkl" panose="02000000000000000000" pitchFamily="2" charset="77"/>
                        </a:rPr>
                        <a:t> </a:t>
                      </a:r>
                    </a:p>
                  </a:txBody>
                  <a:tcPr marL="95222" marR="95222" marT="95222" marB="9522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fontAlgn="t"/>
                      <a:r>
                        <a:rPr lang="en-GB" sz="1800" b="0" i="0" dirty="0">
                          <a:effectLst/>
                          <a:latin typeface="Twinkl" panose="02000000000000000000" pitchFamily="2" charset="77"/>
                        </a:rPr>
                        <a:t>50%</a:t>
                      </a:r>
                    </a:p>
                  </a:txBody>
                  <a:tcPr marL="95222" marR="95222" marT="95222" marB="95222"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894613"/>
                  </a:ext>
                </a:extLst>
              </a:tr>
            </a:tbl>
          </a:graphicData>
        </a:graphic>
      </p:graphicFrame>
      <p:sp>
        <p:nvSpPr>
          <p:cNvPr id="2" name="Text Box">
            <a:extLst>
              <a:ext uri="{FF2B5EF4-FFF2-40B4-BE49-F238E27FC236}">
                <a16:creationId xmlns:a16="http://schemas.microsoft.com/office/drawing/2014/main" id="{DB078D60-80EA-1E6B-69A4-1033483BBA16}"/>
              </a:ext>
            </a:extLst>
          </p:cNvPr>
          <p:cNvSpPr/>
          <p:nvPr/>
        </p:nvSpPr>
        <p:spPr>
          <a:xfrm>
            <a:off x="5581291" y="381903"/>
            <a:ext cx="2840046" cy="495108"/>
          </a:xfrm>
          <a:prstGeom prst="rect">
            <a:avLst/>
          </a:prstGeom>
          <a:solidFill>
            <a:srgbClr val="05A8E7"/>
          </a:solidFill>
          <a:ln w="285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r"/>
            <a:r>
              <a:rPr lang="en-GB" b="1" dirty="0">
                <a:solidFill>
                  <a:schemeClr val="bg1"/>
                </a:solidFill>
              </a:rPr>
              <a:t>What is a percentage</a:t>
            </a:r>
          </a:p>
        </p:txBody>
      </p:sp>
      <p:pic>
        <p:nvPicPr>
          <p:cNvPr id="4" name="Picture 3">
            <a:extLst>
              <a:ext uri="{FF2B5EF4-FFF2-40B4-BE49-F238E27FC236}">
                <a16:creationId xmlns:a16="http://schemas.microsoft.com/office/drawing/2014/main" id="{D5FF1E4D-0FBA-0608-63FD-6E0E12876F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42962" y="44773"/>
            <a:ext cx="275875" cy="760521"/>
          </a:xfrm>
          <a:prstGeom prst="rect">
            <a:avLst/>
          </a:prstGeom>
        </p:spPr>
      </p:pic>
      <p:sp>
        <p:nvSpPr>
          <p:cNvPr id="3" name="Text">
            <a:extLst>
              <a:ext uri="{FF2B5EF4-FFF2-40B4-BE49-F238E27FC236}">
                <a16:creationId xmlns:a16="http://schemas.microsoft.com/office/drawing/2014/main" id="{8AD36F07-41BB-97F3-64D7-0D6C163088AE}"/>
              </a:ext>
            </a:extLst>
          </p:cNvPr>
          <p:cNvSpPr/>
          <p:nvPr/>
        </p:nvSpPr>
        <p:spPr>
          <a:xfrm>
            <a:off x="953818" y="1030273"/>
            <a:ext cx="6642735" cy="553998"/>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Complete the table by converting each percentage to a fraction in its simplest form.</a:t>
            </a:r>
            <a:endParaRPr lang="en-GB" b="0" dirty="0">
              <a:effectLst/>
              <a:latin typeface="Twinkl" panose="02000000000000000000" pitchFamily="2" charset="77"/>
            </a:endParaRPr>
          </a:p>
        </p:txBody>
      </p:sp>
      <p:grpSp>
        <p:nvGrpSpPr>
          <p:cNvPr id="18" name="Group 17">
            <a:extLst>
              <a:ext uri="{FF2B5EF4-FFF2-40B4-BE49-F238E27FC236}">
                <a16:creationId xmlns:a16="http://schemas.microsoft.com/office/drawing/2014/main" id="{5C0783BD-7BA1-910B-209E-2ACD262A24CE}"/>
              </a:ext>
            </a:extLst>
          </p:cNvPr>
          <p:cNvGrpSpPr/>
          <p:nvPr/>
        </p:nvGrpSpPr>
        <p:grpSpPr>
          <a:xfrm>
            <a:off x="2631897" y="4189672"/>
            <a:ext cx="811169" cy="779903"/>
            <a:chOff x="2631897" y="4189672"/>
            <a:chExt cx="811169" cy="779903"/>
          </a:xfrm>
        </p:grpSpPr>
        <p:sp>
          <p:nvSpPr>
            <p:cNvPr id="20" name="Rectangle 19">
              <a:extLst>
                <a:ext uri="{FF2B5EF4-FFF2-40B4-BE49-F238E27FC236}">
                  <a16:creationId xmlns:a16="http://schemas.microsoft.com/office/drawing/2014/main" id="{488844B3-4B8F-D197-D4DB-C9B685425238}"/>
                </a:ext>
              </a:extLst>
            </p:cNvPr>
            <p:cNvSpPr/>
            <p:nvPr/>
          </p:nvSpPr>
          <p:spPr>
            <a:xfrm>
              <a:off x="2631897" y="4189672"/>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Twinkl" panose="02000000000000000000" pitchFamily="2" charset="77"/>
              </a:endParaRPr>
            </a:p>
          </p:txBody>
        </p:sp>
        <p:grpSp>
          <p:nvGrpSpPr>
            <p:cNvPr id="42" name="Group 41">
              <a:extLst>
                <a:ext uri="{FF2B5EF4-FFF2-40B4-BE49-F238E27FC236}">
                  <a16:creationId xmlns:a16="http://schemas.microsoft.com/office/drawing/2014/main" id="{8A4121F2-3506-954B-8B10-EBBA1F5331AF}"/>
                </a:ext>
              </a:extLst>
            </p:cNvPr>
            <p:cNvGrpSpPr/>
            <p:nvPr/>
          </p:nvGrpSpPr>
          <p:grpSpPr>
            <a:xfrm>
              <a:off x="2706257" y="4245949"/>
              <a:ext cx="654236" cy="646331"/>
              <a:chOff x="7546218" y="1606203"/>
              <a:chExt cx="654236" cy="646331"/>
            </a:xfrm>
          </p:grpSpPr>
          <p:sp>
            <p:nvSpPr>
              <p:cNvPr id="43" name="TextBox 42">
                <a:extLst>
                  <a:ext uri="{FF2B5EF4-FFF2-40B4-BE49-F238E27FC236}">
                    <a16:creationId xmlns:a16="http://schemas.microsoft.com/office/drawing/2014/main" id="{3823561C-D8E9-8932-17F2-7957A343CAD4}"/>
                  </a:ext>
                </a:extLst>
              </p:cNvPr>
              <p:cNvSpPr txBox="1"/>
              <p:nvPr/>
            </p:nvSpPr>
            <p:spPr>
              <a:xfrm>
                <a:off x="7546218" y="1606203"/>
                <a:ext cx="654236" cy="646331"/>
              </a:xfrm>
              <a:prstGeom prst="rect">
                <a:avLst/>
              </a:prstGeom>
              <a:noFill/>
            </p:spPr>
            <p:txBody>
              <a:bodyPr wrap="square" rtlCol="0">
                <a:spAutoFit/>
              </a:bodyPr>
              <a:lstStyle/>
              <a:p>
                <a:pPr algn="ctr"/>
                <a:r>
                  <a:rPr lang="en-US" b="1" dirty="0"/>
                  <a:t>3</a:t>
                </a:r>
                <a:br>
                  <a:rPr lang="en-US" b="1" dirty="0"/>
                </a:br>
                <a:r>
                  <a:rPr lang="en-US" b="1" dirty="0"/>
                  <a:t>5</a:t>
                </a:r>
              </a:p>
            </p:txBody>
          </p:sp>
          <p:cxnSp>
            <p:nvCxnSpPr>
              <p:cNvPr id="44" name="Straight Connector 43">
                <a:extLst>
                  <a:ext uri="{FF2B5EF4-FFF2-40B4-BE49-F238E27FC236}">
                    <a16:creationId xmlns:a16="http://schemas.microsoft.com/office/drawing/2014/main" id="{916AF9B4-AF45-FDC7-5060-206D1FE92797}"/>
                  </a:ext>
                </a:extLst>
              </p:cNvPr>
              <p:cNvCxnSpPr>
                <a:cxnSpLocks/>
              </p:cNvCxnSpPr>
              <p:nvPr/>
            </p:nvCxnSpPr>
            <p:spPr>
              <a:xfrm>
                <a:off x="7774346" y="1924162"/>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6" name="Group 15">
            <a:extLst>
              <a:ext uri="{FF2B5EF4-FFF2-40B4-BE49-F238E27FC236}">
                <a16:creationId xmlns:a16="http://schemas.microsoft.com/office/drawing/2014/main" id="{FE83CB60-D95B-603F-27ED-54CD4F41D70A}"/>
              </a:ext>
            </a:extLst>
          </p:cNvPr>
          <p:cNvGrpSpPr/>
          <p:nvPr/>
        </p:nvGrpSpPr>
        <p:grpSpPr>
          <a:xfrm>
            <a:off x="2631900" y="2235768"/>
            <a:ext cx="811169" cy="779903"/>
            <a:chOff x="2631900" y="2235768"/>
            <a:chExt cx="811169" cy="779903"/>
          </a:xfrm>
        </p:grpSpPr>
        <p:sp>
          <p:nvSpPr>
            <p:cNvPr id="15" name="Rectangle 14">
              <a:extLst>
                <a:ext uri="{FF2B5EF4-FFF2-40B4-BE49-F238E27FC236}">
                  <a16:creationId xmlns:a16="http://schemas.microsoft.com/office/drawing/2014/main" id="{2C6BA85B-6F7B-54B6-65B8-DE62DB9032BB}"/>
                </a:ext>
              </a:extLst>
            </p:cNvPr>
            <p:cNvSpPr/>
            <p:nvPr/>
          </p:nvSpPr>
          <p:spPr>
            <a:xfrm>
              <a:off x="2631900" y="2235768"/>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Twinkl" panose="02000000000000000000" pitchFamily="2" charset="77"/>
              </a:endParaRPr>
            </a:p>
          </p:txBody>
        </p:sp>
        <p:grpSp>
          <p:nvGrpSpPr>
            <p:cNvPr id="5" name="Group 4">
              <a:extLst>
                <a:ext uri="{FF2B5EF4-FFF2-40B4-BE49-F238E27FC236}">
                  <a16:creationId xmlns:a16="http://schemas.microsoft.com/office/drawing/2014/main" id="{1B349574-DFF5-D9DF-D019-2B80BEE7349E}"/>
                </a:ext>
              </a:extLst>
            </p:cNvPr>
            <p:cNvGrpSpPr/>
            <p:nvPr/>
          </p:nvGrpSpPr>
          <p:grpSpPr>
            <a:xfrm>
              <a:off x="2707777" y="2307772"/>
              <a:ext cx="654236" cy="646331"/>
              <a:chOff x="7546218" y="1606203"/>
              <a:chExt cx="654236" cy="646331"/>
            </a:xfrm>
          </p:grpSpPr>
          <p:sp>
            <p:nvSpPr>
              <p:cNvPr id="7" name="TextBox 6">
                <a:extLst>
                  <a:ext uri="{FF2B5EF4-FFF2-40B4-BE49-F238E27FC236}">
                    <a16:creationId xmlns:a16="http://schemas.microsoft.com/office/drawing/2014/main" id="{853C40BD-1D93-45F8-26E3-D7C7B3AACF60}"/>
                  </a:ext>
                </a:extLst>
              </p:cNvPr>
              <p:cNvSpPr txBox="1"/>
              <p:nvPr/>
            </p:nvSpPr>
            <p:spPr>
              <a:xfrm>
                <a:off x="7546218" y="1606203"/>
                <a:ext cx="654236" cy="646331"/>
              </a:xfrm>
              <a:prstGeom prst="rect">
                <a:avLst/>
              </a:prstGeom>
              <a:noFill/>
            </p:spPr>
            <p:txBody>
              <a:bodyPr wrap="square" rtlCol="0">
                <a:spAutoFit/>
              </a:bodyPr>
              <a:lstStyle/>
              <a:p>
                <a:pPr algn="ctr"/>
                <a:r>
                  <a:rPr lang="en-US" b="1" dirty="0"/>
                  <a:t>3</a:t>
                </a:r>
                <a:br>
                  <a:rPr lang="en-US" b="1" dirty="0"/>
                </a:br>
                <a:r>
                  <a:rPr lang="en-US" b="1" dirty="0"/>
                  <a:t>4</a:t>
                </a:r>
              </a:p>
            </p:txBody>
          </p:sp>
          <p:cxnSp>
            <p:nvCxnSpPr>
              <p:cNvPr id="8" name="Straight Connector 7">
                <a:extLst>
                  <a:ext uri="{FF2B5EF4-FFF2-40B4-BE49-F238E27FC236}">
                    <a16:creationId xmlns:a16="http://schemas.microsoft.com/office/drawing/2014/main" id="{52D1E057-555B-4268-B2C6-A43E3B11FAF5}"/>
                  </a:ext>
                </a:extLst>
              </p:cNvPr>
              <p:cNvCxnSpPr>
                <a:cxnSpLocks/>
              </p:cNvCxnSpPr>
              <p:nvPr/>
            </p:nvCxnSpPr>
            <p:spPr>
              <a:xfrm>
                <a:off x="7774346" y="1924162"/>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7" name="Group 16">
            <a:extLst>
              <a:ext uri="{FF2B5EF4-FFF2-40B4-BE49-F238E27FC236}">
                <a16:creationId xmlns:a16="http://schemas.microsoft.com/office/drawing/2014/main" id="{B1192437-DF23-82F6-8E7F-CCAD937DF657}"/>
              </a:ext>
            </a:extLst>
          </p:cNvPr>
          <p:cNvGrpSpPr/>
          <p:nvPr/>
        </p:nvGrpSpPr>
        <p:grpSpPr>
          <a:xfrm>
            <a:off x="2631899" y="3222587"/>
            <a:ext cx="811169" cy="779903"/>
            <a:chOff x="2631899" y="3222587"/>
            <a:chExt cx="811169" cy="779903"/>
          </a:xfrm>
        </p:grpSpPr>
        <p:sp>
          <p:nvSpPr>
            <p:cNvPr id="19" name="Rectangle 18">
              <a:extLst>
                <a:ext uri="{FF2B5EF4-FFF2-40B4-BE49-F238E27FC236}">
                  <a16:creationId xmlns:a16="http://schemas.microsoft.com/office/drawing/2014/main" id="{F0901F16-A251-0A8D-A833-9E166632D6C8}"/>
                </a:ext>
              </a:extLst>
            </p:cNvPr>
            <p:cNvSpPr/>
            <p:nvPr/>
          </p:nvSpPr>
          <p:spPr>
            <a:xfrm>
              <a:off x="2631899" y="3222587"/>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Twinkl" panose="02000000000000000000" pitchFamily="2" charset="77"/>
              </a:endParaRPr>
            </a:p>
          </p:txBody>
        </p:sp>
        <p:grpSp>
          <p:nvGrpSpPr>
            <p:cNvPr id="9" name="Group 8">
              <a:extLst>
                <a:ext uri="{FF2B5EF4-FFF2-40B4-BE49-F238E27FC236}">
                  <a16:creationId xmlns:a16="http://schemas.microsoft.com/office/drawing/2014/main" id="{C2B02064-4A2A-C600-422F-FFBEE54D6086}"/>
                </a:ext>
              </a:extLst>
            </p:cNvPr>
            <p:cNvGrpSpPr/>
            <p:nvPr/>
          </p:nvGrpSpPr>
          <p:grpSpPr>
            <a:xfrm>
              <a:off x="2706257" y="3291778"/>
              <a:ext cx="654236" cy="646331"/>
              <a:chOff x="7546218" y="1606203"/>
              <a:chExt cx="654236" cy="646331"/>
            </a:xfrm>
          </p:grpSpPr>
          <p:sp>
            <p:nvSpPr>
              <p:cNvPr id="10" name="TextBox 9">
                <a:extLst>
                  <a:ext uri="{FF2B5EF4-FFF2-40B4-BE49-F238E27FC236}">
                    <a16:creationId xmlns:a16="http://schemas.microsoft.com/office/drawing/2014/main" id="{605EE3BF-B09E-0C04-538C-2A89AF3F25C0}"/>
                  </a:ext>
                </a:extLst>
              </p:cNvPr>
              <p:cNvSpPr txBox="1"/>
              <p:nvPr/>
            </p:nvSpPr>
            <p:spPr>
              <a:xfrm>
                <a:off x="7546218" y="1606203"/>
                <a:ext cx="654236" cy="646331"/>
              </a:xfrm>
              <a:prstGeom prst="rect">
                <a:avLst/>
              </a:prstGeom>
              <a:noFill/>
            </p:spPr>
            <p:txBody>
              <a:bodyPr wrap="square" rtlCol="0">
                <a:spAutoFit/>
              </a:bodyPr>
              <a:lstStyle/>
              <a:p>
                <a:pPr algn="ctr"/>
                <a:r>
                  <a:rPr lang="en-US" b="1" dirty="0"/>
                  <a:t>1</a:t>
                </a:r>
                <a:br>
                  <a:rPr lang="en-US" b="1" dirty="0"/>
                </a:br>
                <a:r>
                  <a:rPr lang="en-US" b="1" dirty="0"/>
                  <a:t>5</a:t>
                </a:r>
              </a:p>
            </p:txBody>
          </p:sp>
          <p:cxnSp>
            <p:nvCxnSpPr>
              <p:cNvPr id="11" name="Straight Connector 10">
                <a:extLst>
                  <a:ext uri="{FF2B5EF4-FFF2-40B4-BE49-F238E27FC236}">
                    <a16:creationId xmlns:a16="http://schemas.microsoft.com/office/drawing/2014/main" id="{ED6AE312-E788-8885-28C1-95C289DC1276}"/>
                  </a:ext>
                </a:extLst>
              </p:cNvPr>
              <p:cNvCxnSpPr>
                <a:cxnSpLocks/>
              </p:cNvCxnSpPr>
              <p:nvPr/>
            </p:nvCxnSpPr>
            <p:spPr>
              <a:xfrm>
                <a:off x="7774346" y="1924162"/>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1" name="Group 20">
            <a:extLst>
              <a:ext uri="{FF2B5EF4-FFF2-40B4-BE49-F238E27FC236}">
                <a16:creationId xmlns:a16="http://schemas.microsoft.com/office/drawing/2014/main" id="{87E806B7-73DB-41C2-D9C6-B98A2A782DEB}"/>
              </a:ext>
            </a:extLst>
          </p:cNvPr>
          <p:cNvGrpSpPr/>
          <p:nvPr/>
        </p:nvGrpSpPr>
        <p:grpSpPr>
          <a:xfrm>
            <a:off x="2631897" y="5191567"/>
            <a:ext cx="811169" cy="779903"/>
            <a:chOff x="2631897" y="5191567"/>
            <a:chExt cx="811169" cy="779903"/>
          </a:xfrm>
        </p:grpSpPr>
        <p:sp>
          <p:nvSpPr>
            <p:cNvPr id="22" name="Rectangle 21">
              <a:extLst>
                <a:ext uri="{FF2B5EF4-FFF2-40B4-BE49-F238E27FC236}">
                  <a16:creationId xmlns:a16="http://schemas.microsoft.com/office/drawing/2014/main" id="{6C4F0AFB-8B76-C7F4-D90F-2206AC59718C}"/>
                </a:ext>
              </a:extLst>
            </p:cNvPr>
            <p:cNvSpPr/>
            <p:nvPr/>
          </p:nvSpPr>
          <p:spPr>
            <a:xfrm>
              <a:off x="2631897" y="5191567"/>
              <a:ext cx="811169" cy="779903"/>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Twinkl" panose="02000000000000000000" pitchFamily="2" charset="77"/>
              </a:endParaRPr>
            </a:p>
          </p:txBody>
        </p:sp>
        <p:grpSp>
          <p:nvGrpSpPr>
            <p:cNvPr id="12" name="Group 11">
              <a:extLst>
                <a:ext uri="{FF2B5EF4-FFF2-40B4-BE49-F238E27FC236}">
                  <a16:creationId xmlns:a16="http://schemas.microsoft.com/office/drawing/2014/main" id="{BCB28567-3028-5CA4-C0F9-9B627DEB15D9}"/>
                </a:ext>
              </a:extLst>
            </p:cNvPr>
            <p:cNvGrpSpPr/>
            <p:nvPr/>
          </p:nvGrpSpPr>
          <p:grpSpPr>
            <a:xfrm>
              <a:off x="2706257" y="5259552"/>
              <a:ext cx="654236" cy="646331"/>
              <a:chOff x="7546218" y="1606203"/>
              <a:chExt cx="654236" cy="646331"/>
            </a:xfrm>
          </p:grpSpPr>
          <p:sp>
            <p:nvSpPr>
              <p:cNvPr id="13" name="TextBox 12">
                <a:extLst>
                  <a:ext uri="{FF2B5EF4-FFF2-40B4-BE49-F238E27FC236}">
                    <a16:creationId xmlns:a16="http://schemas.microsoft.com/office/drawing/2014/main" id="{19067214-DF58-F342-E5D3-62503948312C}"/>
                  </a:ext>
                </a:extLst>
              </p:cNvPr>
              <p:cNvSpPr txBox="1"/>
              <p:nvPr/>
            </p:nvSpPr>
            <p:spPr>
              <a:xfrm>
                <a:off x="7546218" y="1606203"/>
                <a:ext cx="654236" cy="646331"/>
              </a:xfrm>
              <a:prstGeom prst="rect">
                <a:avLst/>
              </a:prstGeom>
              <a:noFill/>
            </p:spPr>
            <p:txBody>
              <a:bodyPr wrap="square" rtlCol="0">
                <a:spAutoFit/>
              </a:bodyPr>
              <a:lstStyle/>
              <a:p>
                <a:pPr algn="ctr"/>
                <a:r>
                  <a:rPr lang="en-US" b="1" dirty="0"/>
                  <a:t>2</a:t>
                </a:r>
                <a:br>
                  <a:rPr lang="en-US" b="1" dirty="0"/>
                </a:br>
                <a:r>
                  <a:rPr lang="en-US" b="1" dirty="0"/>
                  <a:t>2</a:t>
                </a:r>
              </a:p>
            </p:txBody>
          </p:sp>
          <p:cxnSp>
            <p:nvCxnSpPr>
              <p:cNvPr id="14" name="Straight Connector 13">
                <a:extLst>
                  <a:ext uri="{FF2B5EF4-FFF2-40B4-BE49-F238E27FC236}">
                    <a16:creationId xmlns:a16="http://schemas.microsoft.com/office/drawing/2014/main" id="{54AF8E4E-C909-9063-670F-574B1488EB8C}"/>
                  </a:ext>
                </a:extLst>
              </p:cNvPr>
              <p:cNvCxnSpPr>
                <a:cxnSpLocks/>
              </p:cNvCxnSpPr>
              <p:nvPr/>
            </p:nvCxnSpPr>
            <p:spPr>
              <a:xfrm>
                <a:off x="7774346" y="1924162"/>
                <a:ext cx="18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523850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9F4D1DE-0DC1-7BA8-4635-069C6FC910D6}"/>
              </a:ext>
            </a:extLst>
          </p:cNvPr>
          <p:cNvPicPr>
            <a:picLocks noChangeAspect="1"/>
          </p:cNvPicPr>
          <p:nvPr/>
        </p:nvPicPr>
        <p:blipFill>
          <a:blip r:embed="rId2">
            <a:extLst>
              <a:ext uri="{28A0092B-C50C-407E-A947-70E740481C1C}">
                <a14:useLocalDpi xmlns:a14="http://schemas.microsoft.com/office/drawing/2010/main" val="0"/>
              </a:ext>
            </a:extLst>
          </a:blip>
          <a:srcRect t="-2798" b="18969"/>
          <a:stretch/>
        </p:blipFill>
        <p:spPr>
          <a:xfrm>
            <a:off x="6132925" y="1702676"/>
            <a:ext cx="2471325" cy="5155324"/>
          </a:xfrm>
          <a:prstGeom prst="rect">
            <a:avLst/>
          </a:prstGeom>
        </p:spPr>
      </p:pic>
      <p:sp>
        <p:nvSpPr>
          <p:cNvPr id="9" name="Text Box">
            <a:extLst>
              <a:ext uri="{FF2B5EF4-FFF2-40B4-BE49-F238E27FC236}">
                <a16:creationId xmlns:a16="http://schemas.microsoft.com/office/drawing/2014/main" id="{287BB25D-6765-5F00-E2B0-C15877204CBF}"/>
              </a:ext>
            </a:extLst>
          </p:cNvPr>
          <p:cNvSpPr/>
          <p:nvPr/>
        </p:nvSpPr>
        <p:spPr>
          <a:xfrm>
            <a:off x="5581291" y="381903"/>
            <a:ext cx="2840046" cy="495108"/>
          </a:xfrm>
          <a:prstGeom prst="rect">
            <a:avLst/>
          </a:prstGeom>
          <a:solidFill>
            <a:srgbClr val="05A8E7"/>
          </a:solidFill>
          <a:ln w="285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ctr">
            <a:spAutoFit/>
          </a:bodyPr>
          <a:lstStyle/>
          <a:p>
            <a:pPr algn="r"/>
            <a:r>
              <a:rPr lang="en-GB" b="1" dirty="0">
                <a:solidFill>
                  <a:schemeClr val="bg1"/>
                </a:solidFill>
              </a:rPr>
              <a:t>What is a percentage</a:t>
            </a:r>
          </a:p>
        </p:txBody>
      </p:sp>
      <p:pic>
        <p:nvPicPr>
          <p:cNvPr id="10" name="Picture 9">
            <a:extLst>
              <a:ext uri="{FF2B5EF4-FFF2-40B4-BE49-F238E27FC236}">
                <a16:creationId xmlns:a16="http://schemas.microsoft.com/office/drawing/2014/main" id="{311AE3C2-5C62-6E6F-602B-83EAA4B265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42962" y="44773"/>
            <a:ext cx="275875" cy="760521"/>
          </a:xfrm>
          <a:prstGeom prst="rect">
            <a:avLst/>
          </a:prstGeom>
        </p:spPr>
      </p:pic>
      <p:sp>
        <p:nvSpPr>
          <p:cNvPr id="11" name="Text">
            <a:extLst>
              <a:ext uri="{FF2B5EF4-FFF2-40B4-BE49-F238E27FC236}">
                <a16:creationId xmlns:a16="http://schemas.microsoft.com/office/drawing/2014/main" id="{D7644C25-CE86-C58E-47B0-7529C86E8490}"/>
              </a:ext>
            </a:extLst>
          </p:cNvPr>
          <p:cNvSpPr/>
          <p:nvPr/>
        </p:nvSpPr>
        <p:spPr>
          <a:xfrm>
            <a:off x="953818" y="1570088"/>
            <a:ext cx="6642735" cy="830997"/>
          </a:xfrm>
          <a:prstGeom prst="rect">
            <a:avLst/>
          </a:prstGeom>
        </p:spPr>
        <p:txBody>
          <a:bodyPr wrap="square" lIns="0" tIns="0" rIns="0" bIns="0">
            <a:spAutoFit/>
          </a:bodyPr>
          <a:lstStyle/>
          <a:p>
            <a:pPr rtl="0"/>
            <a:r>
              <a:rPr lang="en-GB" sz="1800" b="0" i="0" u="none" strike="noStrike" dirty="0">
                <a:solidFill>
                  <a:srgbClr val="000000"/>
                </a:solidFill>
                <a:effectLst/>
                <a:latin typeface="Twinkl" panose="02000000000000000000" pitchFamily="2" charset="77"/>
              </a:rPr>
              <a:t>Luna scored 25 out of 50 on her maths test.</a:t>
            </a:r>
            <a:endParaRPr lang="en-GB" b="0" dirty="0">
              <a:effectLst/>
              <a:latin typeface="Twinkl" panose="02000000000000000000" pitchFamily="2" charset="77"/>
            </a:endParaRPr>
          </a:p>
          <a:p>
            <a:pPr rtl="0"/>
            <a:br>
              <a:rPr lang="en-GB" b="0" dirty="0">
                <a:effectLst/>
                <a:latin typeface="Twinkl" panose="02000000000000000000" pitchFamily="2" charset="77"/>
              </a:rPr>
            </a:br>
            <a:r>
              <a:rPr lang="en-GB" sz="1800" b="0" i="0" u="none" strike="noStrike" dirty="0">
                <a:solidFill>
                  <a:srgbClr val="000000"/>
                </a:solidFill>
                <a:effectLst/>
                <a:latin typeface="Twinkl" panose="02000000000000000000" pitchFamily="2" charset="77"/>
              </a:rPr>
              <a:t>What was her score as a percentage?</a:t>
            </a:r>
            <a:endParaRPr lang="en-GB" b="0" dirty="0">
              <a:effectLst/>
              <a:latin typeface="Twinkl" panose="02000000000000000000" pitchFamily="2" charset="77"/>
            </a:endParaRPr>
          </a:p>
        </p:txBody>
      </p:sp>
      <p:grpSp>
        <p:nvGrpSpPr>
          <p:cNvPr id="32" name="Group 31">
            <a:extLst>
              <a:ext uri="{FF2B5EF4-FFF2-40B4-BE49-F238E27FC236}">
                <a16:creationId xmlns:a16="http://schemas.microsoft.com/office/drawing/2014/main" id="{E7EFC9E0-420B-969E-EC75-C8D404F4339D}"/>
              </a:ext>
            </a:extLst>
          </p:cNvPr>
          <p:cNvGrpSpPr/>
          <p:nvPr/>
        </p:nvGrpSpPr>
        <p:grpSpPr>
          <a:xfrm>
            <a:off x="953818" y="3185332"/>
            <a:ext cx="4789144" cy="2527664"/>
            <a:chOff x="953818" y="2893423"/>
            <a:chExt cx="4789144" cy="2527664"/>
          </a:xfrm>
        </p:grpSpPr>
        <p:sp>
          <p:nvSpPr>
            <p:cNvPr id="12" name="Rectangle 11">
              <a:extLst>
                <a:ext uri="{FF2B5EF4-FFF2-40B4-BE49-F238E27FC236}">
                  <a16:creationId xmlns:a16="http://schemas.microsoft.com/office/drawing/2014/main" id="{CD0EDFBB-5D65-F47D-0CE9-CB79DEBC188C}"/>
                </a:ext>
              </a:extLst>
            </p:cNvPr>
            <p:cNvSpPr/>
            <p:nvPr/>
          </p:nvSpPr>
          <p:spPr>
            <a:xfrm>
              <a:off x="953818" y="2893423"/>
              <a:ext cx="4789144" cy="2527664"/>
            </a:xfrm>
            <a:prstGeom prst="rect">
              <a:avLst/>
            </a:prstGeom>
            <a:solidFill>
              <a:schemeClr val="bg1"/>
            </a:solidFill>
            <a:ln w="28575">
              <a:solidFill>
                <a:srgbClr val="6794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GB" b="1" dirty="0">
                  <a:solidFill>
                    <a:schemeClr val="tx1"/>
                  </a:solidFill>
                  <a:latin typeface="Twinkl" panose="02000000000000000000" pitchFamily="2" charset="77"/>
                </a:rPr>
                <a:t>Luna’s score as a fraction is      .</a:t>
              </a:r>
            </a:p>
            <a:p>
              <a:pPr>
                <a:lnSpc>
                  <a:spcPct val="150000"/>
                </a:lnSpc>
              </a:pPr>
              <a:br>
                <a:rPr lang="en-GB" b="1" dirty="0">
                  <a:solidFill>
                    <a:schemeClr val="tx1"/>
                  </a:solidFill>
                  <a:latin typeface="Twinkl" panose="02000000000000000000" pitchFamily="2" charset="77"/>
                </a:rPr>
              </a:br>
              <a:r>
                <a:rPr lang="en-GB" b="1" dirty="0">
                  <a:solidFill>
                    <a:schemeClr val="tx1"/>
                  </a:solidFill>
                  <a:latin typeface="Twinkl" panose="02000000000000000000" pitchFamily="2" charset="77"/>
                </a:rPr>
                <a:t>This is equivalent to       or    .</a:t>
              </a:r>
            </a:p>
            <a:p>
              <a:pPr>
                <a:lnSpc>
                  <a:spcPct val="150000"/>
                </a:lnSpc>
              </a:pPr>
              <a:br>
                <a:rPr lang="en-GB" b="1" dirty="0">
                  <a:solidFill>
                    <a:schemeClr val="tx1"/>
                  </a:solidFill>
                  <a:latin typeface="Twinkl" panose="02000000000000000000" pitchFamily="2" charset="77"/>
                </a:rPr>
              </a:br>
              <a:r>
                <a:rPr lang="en-GB" b="1" dirty="0">
                  <a:solidFill>
                    <a:schemeClr val="tx1"/>
                  </a:solidFill>
                  <a:latin typeface="Twinkl" panose="02000000000000000000" pitchFamily="2" charset="77"/>
                </a:rPr>
                <a:t>      or     are both equivalent to 50% so Luna’s score as a percentage is 50%.</a:t>
              </a:r>
            </a:p>
          </p:txBody>
        </p:sp>
        <p:grpSp>
          <p:nvGrpSpPr>
            <p:cNvPr id="16" name="Group 15">
              <a:extLst>
                <a:ext uri="{FF2B5EF4-FFF2-40B4-BE49-F238E27FC236}">
                  <a16:creationId xmlns:a16="http://schemas.microsoft.com/office/drawing/2014/main" id="{7F96BB43-9627-1456-45F6-12AB5B6D7593}"/>
                </a:ext>
              </a:extLst>
            </p:cNvPr>
            <p:cNvGrpSpPr/>
            <p:nvPr/>
          </p:nvGrpSpPr>
          <p:grpSpPr>
            <a:xfrm>
              <a:off x="3961415" y="2950079"/>
              <a:ext cx="497305" cy="523220"/>
              <a:chOff x="4732421" y="1652337"/>
              <a:chExt cx="497305" cy="523220"/>
            </a:xfrm>
          </p:grpSpPr>
          <p:sp>
            <p:nvSpPr>
              <p:cNvPr id="17" name="TextBox 16">
                <a:extLst>
                  <a:ext uri="{FF2B5EF4-FFF2-40B4-BE49-F238E27FC236}">
                    <a16:creationId xmlns:a16="http://schemas.microsoft.com/office/drawing/2014/main" id="{D5640B8F-2961-8EB6-6323-AA25D25B72AB}"/>
                  </a:ext>
                </a:extLst>
              </p:cNvPr>
              <p:cNvSpPr txBox="1"/>
              <p:nvPr/>
            </p:nvSpPr>
            <p:spPr>
              <a:xfrm>
                <a:off x="4732421" y="1652337"/>
                <a:ext cx="497305" cy="523220"/>
              </a:xfrm>
              <a:prstGeom prst="rect">
                <a:avLst/>
              </a:prstGeom>
              <a:noFill/>
            </p:spPr>
            <p:txBody>
              <a:bodyPr wrap="square" rtlCol="0">
                <a:spAutoFit/>
              </a:bodyPr>
              <a:lstStyle/>
              <a:p>
                <a:pPr algn="ctr"/>
                <a:r>
                  <a:rPr lang="en-US" sz="1400" b="1" dirty="0"/>
                  <a:t>25</a:t>
                </a:r>
                <a:br>
                  <a:rPr lang="en-US" sz="1400" b="1" dirty="0"/>
                </a:br>
                <a:r>
                  <a:rPr lang="en-US" sz="1400" b="1" dirty="0"/>
                  <a:t>50</a:t>
                </a:r>
              </a:p>
            </p:txBody>
          </p:sp>
          <p:cxnSp>
            <p:nvCxnSpPr>
              <p:cNvPr id="18" name="Straight Connector 17">
                <a:extLst>
                  <a:ext uri="{FF2B5EF4-FFF2-40B4-BE49-F238E27FC236}">
                    <a16:creationId xmlns:a16="http://schemas.microsoft.com/office/drawing/2014/main" id="{5A9BBA7A-474E-58A3-D6A6-76368B390E20}"/>
                  </a:ext>
                </a:extLst>
              </p:cNvPr>
              <p:cNvCxnSpPr>
                <a:cxnSpLocks/>
              </p:cNvCxnSpPr>
              <p:nvPr/>
            </p:nvCxnSpPr>
            <p:spPr>
              <a:xfrm>
                <a:off x="4851214" y="1907321"/>
                <a:ext cx="25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ED72EFC3-26B6-09D9-3477-F04FEA93EFAE}"/>
                </a:ext>
              </a:extLst>
            </p:cNvPr>
            <p:cNvGrpSpPr/>
            <p:nvPr/>
          </p:nvGrpSpPr>
          <p:grpSpPr>
            <a:xfrm>
              <a:off x="3145454" y="3757363"/>
              <a:ext cx="497305" cy="523220"/>
              <a:chOff x="4732421" y="1652337"/>
              <a:chExt cx="497305" cy="523220"/>
            </a:xfrm>
          </p:grpSpPr>
          <p:sp>
            <p:nvSpPr>
              <p:cNvPr id="20" name="TextBox 19">
                <a:extLst>
                  <a:ext uri="{FF2B5EF4-FFF2-40B4-BE49-F238E27FC236}">
                    <a16:creationId xmlns:a16="http://schemas.microsoft.com/office/drawing/2014/main" id="{0976D722-F866-7E34-443C-DAF1624DDEEE}"/>
                  </a:ext>
                </a:extLst>
              </p:cNvPr>
              <p:cNvSpPr txBox="1"/>
              <p:nvPr/>
            </p:nvSpPr>
            <p:spPr>
              <a:xfrm>
                <a:off x="4732421" y="1652337"/>
                <a:ext cx="497305" cy="523220"/>
              </a:xfrm>
              <a:prstGeom prst="rect">
                <a:avLst/>
              </a:prstGeom>
              <a:noFill/>
            </p:spPr>
            <p:txBody>
              <a:bodyPr wrap="square" rtlCol="0">
                <a:spAutoFit/>
              </a:bodyPr>
              <a:lstStyle/>
              <a:p>
                <a:pPr algn="ctr"/>
                <a:r>
                  <a:rPr lang="en-US" sz="1400" b="1" dirty="0"/>
                  <a:t>50</a:t>
                </a:r>
                <a:br>
                  <a:rPr lang="en-US" sz="1400" b="1" dirty="0"/>
                </a:br>
                <a:r>
                  <a:rPr lang="en-US" sz="1400" b="1" dirty="0"/>
                  <a:t>100</a:t>
                </a:r>
              </a:p>
            </p:txBody>
          </p:sp>
          <p:cxnSp>
            <p:nvCxnSpPr>
              <p:cNvPr id="22" name="Straight Connector 21">
                <a:extLst>
                  <a:ext uri="{FF2B5EF4-FFF2-40B4-BE49-F238E27FC236}">
                    <a16:creationId xmlns:a16="http://schemas.microsoft.com/office/drawing/2014/main" id="{344086FB-9DE9-1DEB-4328-938E0BFC6212}"/>
                  </a:ext>
                </a:extLst>
              </p:cNvPr>
              <p:cNvCxnSpPr>
                <a:cxnSpLocks/>
              </p:cNvCxnSpPr>
              <p:nvPr/>
            </p:nvCxnSpPr>
            <p:spPr>
              <a:xfrm>
                <a:off x="4818559" y="1907321"/>
                <a:ext cx="32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4AFB94A8-69AB-2AF8-8F40-593C85286BD3}"/>
                </a:ext>
              </a:extLst>
            </p:cNvPr>
            <p:cNvGrpSpPr/>
            <p:nvPr/>
          </p:nvGrpSpPr>
          <p:grpSpPr>
            <a:xfrm>
              <a:off x="3757945" y="3757363"/>
              <a:ext cx="497305" cy="523220"/>
              <a:chOff x="4732421" y="1652337"/>
              <a:chExt cx="497305" cy="523220"/>
            </a:xfrm>
          </p:grpSpPr>
          <p:sp>
            <p:nvSpPr>
              <p:cNvPr id="24" name="TextBox 23">
                <a:extLst>
                  <a:ext uri="{FF2B5EF4-FFF2-40B4-BE49-F238E27FC236}">
                    <a16:creationId xmlns:a16="http://schemas.microsoft.com/office/drawing/2014/main" id="{E5D76F81-8AAD-040C-2FBC-432AFF610A1E}"/>
                  </a:ext>
                </a:extLst>
              </p:cNvPr>
              <p:cNvSpPr txBox="1"/>
              <p:nvPr/>
            </p:nvSpPr>
            <p:spPr>
              <a:xfrm>
                <a:off x="4732421" y="1652337"/>
                <a:ext cx="497305" cy="523220"/>
              </a:xfrm>
              <a:prstGeom prst="rect">
                <a:avLst/>
              </a:prstGeom>
              <a:noFill/>
            </p:spPr>
            <p:txBody>
              <a:bodyPr wrap="square" rtlCol="0">
                <a:spAutoFit/>
              </a:bodyPr>
              <a:lstStyle/>
              <a:p>
                <a:pPr algn="ctr"/>
                <a:r>
                  <a:rPr lang="en-US" sz="1400" b="1" dirty="0"/>
                  <a:t>1</a:t>
                </a:r>
                <a:br>
                  <a:rPr lang="en-US" sz="1400" b="1" dirty="0"/>
                </a:br>
                <a:r>
                  <a:rPr lang="en-US" sz="1400" b="1" dirty="0"/>
                  <a:t>2</a:t>
                </a:r>
              </a:p>
            </p:txBody>
          </p:sp>
          <p:cxnSp>
            <p:nvCxnSpPr>
              <p:cNvPr id="25" name="Straight Connector 24">
                <a:extLst>
                  <a:ext uri="{FF2B5EF4-FFF2-40B4-BE49-F238E27FC236}">
                    <a16:creationId xmlns:a16="http://schemas.microsoft.com/office/drawing/2014/main" id="{930AD8E8-A6D3-7B65-05B5-6481CE28E880}"/>
                  </a:ext>
                </a:extLst>
              </p:cNvPr>
              <p:cNvCxnSpPr>
                <a:cxnSpLocks/>
              </p:cNvCxnSpPr>
              <p:nvPr/>
            </p:nvCxnSpPr>
            <p:spPr>
              <a:xfrm>
                <a:off x="4890400" y="1907321"/>
                <a:ext cx="18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50E7E335-169B-1A69-BEA6-E8B96DAE99F7}"/>
                </a:ext>
              </a:extLst>
            </p:cNvPr>
            <p:cNvGrpSpPr/>
            <p:nvPr/>
          </p:nvGrpSpPr>
          <p:grpSpPr>
            <a:xfrm>
              <a:off x="953818" y="4577998"/>
              <a:ext cx="497305" cy="523220"/>
              <a:chOff x="4732421" y="1652337"/>
              <a:chExt cx="497305" cy="523220"/>
            </a:xfrm>
          </p:grpSpPr>
          <p:sp>
            <p:nvSpPr>
              <p:cNvPr id="27" name="TextBox 26">
                <a:extLst>
                  <a:ext uri="{FF2B5EF4-FFF2-40B4-BE49-F238E27FC236}">
                    <a16:creationId xmlns:a16="http://schemas.microsoft.com/office/drawing/2014/main" id="{2525262C-C14F-4941-1A59-44F6C9820F33}"/>
                  </a:ext>
                </a:extLst>
              </p:cNvPr>
              <p:cNvSpPr txBox="1"/>
              <p:nvPr/>
            </p:nvSpPr>
            <p:spPr>
              <a:xfrm>
                <a:off x="4732421" y="1652337"/>
                <a:ext cx="497305" cy="523220"/>
              </a:xfrm>
              <a:prstGeom prst="rect">
                <a:avLst/>
              </a:prstGeom>
              <a:noFill/>
            </p:spPr>
            <p:txBody>
              <a:bodyPr wrap="square" rtlCol="0">
                <a:spAutoFit/>
              </a:bodyPr>
              <a:lstStyle/>
              <a:p>
                <a:pPr algn="ctr"/>
                <a:r>
                  <a:rPr lang="en-US" sz="1400" b="1" dirty="0"/>
                  <a:t>50</a:t>
                </a:r>
                <a:br>
                  <a:rPr lang="en-US" sz="1400" b="1" dirty="0"/>
                </a:br>
                <a:r>
                  <a:rPr lang="en-US" sz="1400" b="1" dirty="0"/>
                  <a:t>100</a:t>
                </a:r>
              </a:p>
            </p:txBody>
          </p:sp>
          <p:cxnSp>
            <p:nvCxnSpPr>
              <p:cNvPr id="28" name="Straight Connector 27">
                <a:extLst>
                  <a:ext uri="{FF2B5EF4-FFF2-40B4-BE49-F238E27FC236}">
                    <a16:creationId xmlns:a16="http://schemas.microsoft.com/office/drawing/2014/main" id="{CAB9023A-EA59-9F7A-248F-B596DA14DF45}"/>
                  </a:ext>
                </a:extLst>
              </p:cNvPr>
              <p:cNvCxnSpPr>
                <a:cxnSpLocks/>
              </p:cNvCxnSpPr>
              <p:nvPr/>
            </p:nvCxnSpPr>
            <p:spPr>
              <a:xfrm>
                <a:off x="4818559" y="1907321"/>
                <a:ext cx="324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811B568C-3860-10FC-2C9D-C1A5DEDBD00B}"/>
                </a:ext>
              </a:extLst>
            </p:cNvPr>
            <p:cNvGrpSpPr/>
            <p:nvPr/>
          </p:nvGrpSpPr>
          <p:grpSpPr>
            <a:xfrm>
              <a:off x="1597444" y="4577998"/>
              <a:ext cx="497305" cy="523220"/>
              <a:chOff x="4732421" y="1652337"/>
              <a:chExt cx="497305" cy="523220"/>
            </a:xfrm>
          </p:grpSpPr>
          <p:sp>
            <p:nvSpPr>
              <p:cNvPr id="30" name="TextBox 29">
                <a:extLst>
                  <a:ext uri="{FF2B5EF4-FFF2-40B4-BE49-F238E27FC236}">
                    <a16:creationId xmlns:a16="http://schemas.microsoft.com/office/drawing/2014/main" id="{79741C09-A82C-A7B6-DCBB-CD641FC8F8AB}"/>
                  </a:ext>
                </a:extLst>
              </p:cNvPr>
              <p:cNvSpPr txBox="1"/>
              <p:nvPr/>
            </p:nvSpPr>
            <p:spPr>
              <a:xfrm>
                <a:off x="4732421" y="1652337"/>
                <a:ext cx="497305" cy="523220"/>
              </a:xfrm>
              <a:prstGeom prst="rect">
                <a:avLst/>
              </a:prstGeom>
              <a:noFill/>
            </p:spPr>
            <p:txBody>
              <a:bodyPr wrap="square" rtlCol="0">
                <a:spAutoFit/>
              </a:bodyPr>
              <a:lstStyle/>
              <a:p>
                <a:pPr algn="ctr"/>
                <a:r>
                  <a:rPr lang="en-US" sz="1400" b="1" dirty="0"/>
                  <a:t>1</a:t>
                </a:r>
                <a:br>
                  <a:rPr lang="en-US" sz="1400" b="1" dirty="0"/>
                </a:br>
                <a:r>
                  <a:rPr lang="en-US" sz="1400" b="1" dirty="0"/>
                  <a:t>2</a:t>
                </a:r>
              </a:p>
            </p:txBody>
          </p:sp>
          <p:cxnSp>
            <p:nvCxnSpPr>
              <p:cNvPr id="31" name="Straight Connector 30">
                <a:extLst>
                  <a:ext uri="{FF2B5EF4-FFF2-40B4-BE49-F238E27FC236}">
                    <a16:creationId xmlns:a16="http://schemas.microsoft.com/office/drawing/2014/main" id="{D5EA33CE-1ED4-AEF4-29A0-568B728F91BF}"/>
                  </a:ext>
                </a:extLst>
              </p:cNvPr>
              <p:cNvCxnSpPr>
                <a:cxnSpLocks/>
              </p:cNvCxnSpPr>
              <p:nvPr/>
            </p:nvCxnSpPr>
            <p:spPr>
              <a:xfrm>
                <a:off x="4890400" y="1907321"/>
                <a:ext cx="18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979983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hlinkClick r:id="rId3"/>
            <a:extLst>
              <a:ext uri="{FF2B5EF4-FFF2-40B4-BE49-F238E27FC236}">
                <a16:creationId xmlns:a16="http://schemas.microsoft.com/office/drawing/2014/main" id="{947D4341-F793-D39C-E39F-50FA0FA5D326}"/>
              </a:ext>
            </a:extLst>
          </p:cNvPr>
          <p:cNvSpPr/>
          <p:nvPr/>
        </p:nvSpPr>
        <p:spPr>
          <a:xfrm>
            <a:off x="0" y="5852160"/>
            <a:ext cx="1595120" cy="10058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hlinkClick r:id="rId3"/>
            <a:extLst>
              <a:ext uri="{FF2B5EF4-FFF2-40B4-BE49-F238E27FC236}">
                <a16:creationId xmlns:a16="http://schemas.microsoft.com/office/drawing/2014/main" id="{01358CF7-C918-A399-3138-54BE9D66EB0E}"/>
              </a:ext>
            </a:extLst>
          </p:cNvPr>
          <p:cNvSpPr/>
          <p:nvPr/>
        </p:nvSpPr>
        <p:spPr>
          <a:xfrm>
            <a:off x="8219440" y="5963920"/>
            <a:ext cx="924560" cy="894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8893146"/>
      </p:ext>
    </p:extLst>
  </p:cSld>
  <p:clrMapOvr>
    <a:masterClrMapping/>
  </p:clrMapOvr>
</p:sld>
</file>

<file path=ppt/theme/theme1.xml><?xml version="1.0" encoding="utf-8"?>
<a:theme xmlns:a="http://schemas.openxmlformats.org/drawingml/2006/main" name="Slide Layouts">
  <a:themeElements>
    <a:clrScheme name="Twinkl Template">
      <a:dk1>
        <a:srgbClr val="1C1C1C"/>
      </a:dk1>
      <a:lt1>
        <a:sysClr val="window" lastClr="FFFFFF"/>
      </a:lt1>
      <a:dk2>
        <a:srgbClr val="4A4A4A"/>
      </a:dk2>
      <a:lt2>
        <a:srgbClr val="F4F2F2"/>
      </a:lt2>
      <a:accent1>
        <a:srgbClr val="E34192"/>
      </a:accent1>
      <a:accent2>
        <a:srgbClr val="EB8634"/>
      </a:accent2>
      <a:accent3>
        <a:srgbClr val="E6C734"/>
      </a:accent3>
      <a:accent4>
        <a:srgbClr val="79AD42"/>
      </a:accent4>
      <a:accent5>
        <a:srgbClr val="23A7F9"/>
      </a:accent5>
      <a:accent6>
        <a:srgbClr val="954EBE"/>
      </a:accent6>
      <a:hlink>
        <a:srgbClr val="23A7F9"/>
      </a:hlink>
      <a:folHlink>
        <a:srgbClr val="757070"/>
      </a:folHlink>
    </a:clrScheme>
    <a:fontScheme name="Custom 1">
      <a:majorFont>
        <a:latin typeface="Twinkl Bold"/>
        <a:ea typeface=""/>
        <a:cs typeface=""/>
      </a:majorFont>
      <a:minorFont>
        <a:latin typeface="Twink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8A0D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AE8D4458-4957-42D2-8EB3-510D8F0DAD20}" vid="{7D957715-47C5-49DE-8381-9F08584E9BE3}"/>
    </a:ext>
  </a:extLst>
</a:theme>
</file>

<file path=ppt/theme/theme2.xml><?xml version="1.0" encoding="utf-8"?>
<a:theme xmlns:a="http://schemas.openxmlformats.org/drawingml/2006/main" name="Disclaimers/Guidan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AE8D4458-4957-42D2-8EB3-510D8F0DAD20}" vid="{05BD7450-2CDB-464E-AC8B-C0D6B277331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Slide Layouts</Template>
  <TotalTime>74</TotalTime>
  <Words>1072</Words>
  <Application>Microsoft Macintosh PowerPoint</Application>
  <PresentationFormat>On-screen Show (4:3)</PresentationFormat>
  <Paragraphs>714</Paragraphs>
  <Slides>11</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Twinkl</vt:lpstr>
      <vt:lpstr>Arial</vt:lpstr>
      <vt:lpstr>Roboto</vt:lpstr>
      <vt:lpstr>Calibri</vt:lpstr>
      <vt:lpstr>Slide Layouts</vt:lpstr>
      <vt:lpstr>Disclaimers/Guidance</vt:lpstr>
      <vt:lpstr>PowerPoint Presentation</vt:lpstr>
      <vt:lpstr>What is a percentage?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twinkl twinkl</dc:creator>
  <cp:lastModifiedBy>twinkl twinkl</cp:lastModifiedBy>
  <cp:revision>3</cp:revision>
  <dcterms:created xsi:type="dcterms:W3CDTF">2025-01-09T10:53:34Z</dcterms:created>
  <dcterms:modified xsi:type="dcterms:W3CDTF">2025-01-09T12:16:46Z</dcterms:modified>
</cp:coreProperties>
</file>